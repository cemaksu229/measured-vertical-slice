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names]. Our app is Measured, an honest adult height predictor. The promise is on the screen: your adult height range in 60 seconds, with the result shown before any paywall. In the next eight minutes we show what we copied, what we changed, and then a classmate runs the app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GoTall is the app we are up against. TrustMRR, verified through Superwall, shows about $57.8 thousand a month. We read 150 recent App Store reviews and three problems dominate. The result is locked behind a paywall after a 31-step quiz, the quiz is long and personal, and the billing is a surprise: a $0.67 a week price becomes a charge of $35 to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that every screen has to serve. Who: 13 to 17-year-olds curious about their height. Pain: quizzes that end in a paywall. Promise: an honest range in 60 seconds, shown free before any paywall, which is the difference from GoTall.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style is Bold Measure: warm paper, near-black ink, a tangerine brand colour and a lime accent used for the result range. Headings are Clash Display and body is General Sans. Every screen has a real visual, a ruler, silhouettes or a big number, never a text-only screen. On the right is our style sheet with tokens and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slice, thirteen screens from promise to home. Four questions lead to the free result, then a plan, then a paywall. If you close the paywall with the X you land on home in free mode and keep your result and week one. Now for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 phone to a classmate who has never seen the app. Say nothing; let them tap through while we narrate: four questions, the free result, the plan and the paywall. Point out the range on the result and the price box. If the phone fails, play the screen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you answer is wasted. Goal changes the wording, for example 'your child' instead of 'you'. Parents' heights drive the silhouettes and the range. If a parent is unknown, we do not block you: the range gets wider and the screen says why. Sleep, activity and diet decide which habits come first in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paywall. The yearly price is the biggest text, the free trial end date is written out, and the cancel path is spelled out. The X is visible, there is no countdown, and the one review is labelled as a placeholder. On the right is what GoTall does instead: a weekly price for a yearly plan, a fake timer, and a paywall before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side-by-side. GoTall shows 33 screens before its paywall and the result is still locked; we show the result on screen 7 after 4 questions, free. Screen and tap counts for GoTall come from ScreensDesign's public recording of its onboarding. The seconds marked est. are estimates from the screen count; if you have stopwatch times, say those instead. The clarity score comes from showing only the first screen of each app to five classmates. Our internal QA audit also found no dead ends in the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for any funder is: will people understand it, feel the value and pay? Our answer is yes, because the promise fits in one sentence, the value appears in under a minute before any paywall, and paying is a clear, honest choice.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Text 0"/>
          <p:cNvSpPr txBox="1"/>
          <p:nvPr/>
        </p:nvSpPr>
        <p:spPr>
          <a:xfrm>
            <a:off x="640080" y="731520"/>
            <a:ext cx="6400800" cy="365760"/>
          </a:xfrm>
          <a:prstGeom prst="rect">
            <a:avLst/>
          </a:prstGeom>
          <a:noFill/>
          <a:ln/>
        </p:spPr>
        <p:txBody>
          <a:bodyPr wrap="square" lIns="0" tIns="0" rIns="0" bIns="0" rtlCol="0" anchor="t"/>
          <a:lstStyle/>
          <a:p>
            <a:pPr indent="0" marL="0">
              <a:buNone/>
            </a:pPr>
            <a:r>
              <a:rPr lang="en-US" sz="1600" b="1" spc="600" kern="0" dirty="0">
                <a:solidFill>
                  <a:srgbClr val="FF5A1F"/>
                </a:solidFill>
                <a:latin typeface="Arial" pitchFamily="34" charset="0"/>
                <a:ea typeface="Arial" pitchFamily="34" charset="-122"/>
                <a:cs typeface="Arial" pitchFamily="34" charset="-120"/>
              </a:rPr>
              <a:t>MEASURED</a:t>
            </a:r>
            <a:endParaRPr lang="en-US" sz="1600" dirty="0"/>
          </a:p>
        </p:txBody>
      </p:sp>
      <p:sp>
        <p:nvSpPr>
          <p:cNvPr id="3" name="Text 1"/>
          <p:cNvSpPr txBox="1"/>
          <p:nvPr/>
        </p:nvSpPr>
        <p:spPr>
          <a:xfrm>
            <a:off x="640080" y="1463040"/>
            <a:ext cx="6400800" cy="2743200"/>
          </a:xfrm>
          <a:prstGeom prst="rect">
            <a:avLst/>
          </a:prstGeom>
          <a:noFill/>
          <a:ln/>
        </p:spPr>
        <p:txBody>
          <a:bodyPr wrap="square" lIns="0" tIns="0" rIns="0" bIns="0" rtlCol="0" anchor="t"/>
          <a:lstStyle/>
          <a:p>
            <a:pPr indent="0" marL="0">
              <a:buNone/>
            </a:pPr>
            <a:r>
              <a:rPr lang="en-US" sz="5000" b="1" dirty="0">
                <a:solidFill>
                  <a:srgbClr val="F6F4EF"/>
                </a:solidFill>
                <a:latin typeface="Arial" pitchFamily="34" charset="0"/>
                <a:ea typeface="Arial" pitchFamily="34" charset="-122"/>
                <a:cs typeface="Arial" pitchFamily="34" charset="-120"/>
              </a:rPr>
              <a:t>Your honest adult height range in 60 seconds</a:t>
            </a:r>
            <a:endParaRPr lang="en-US" sz="5000" dirty="0"/>
          </a:p>
        </p:txBody>
      </p:sp>
      <p:sp>
        <p:nvSpPr>
          <p:cNvPr id="4" name="Text 2"/>
          <p:cNvSpPr txBox="1"/>
          <p:nvPr/>
        </p:nvSpPr>
        <p:spPr>
          <a:xfrm>
            <a:off x="640080" y="4480560"/>
            <a:ext cx="6400800" cy="457200"/>
          </a:xfrm>
          <a:prstGeom prst="rect">
            <a:avLst/>
          </a:prstGeom>
          <a:noFill/>
          <a:ln/>
        </p:spPr>
        <p:txBody>
          <a:bodyPr wrap="square" lIns="0" tIns="0" rIns="0" bIns="0" rtlCol="0" anchor="t"/>
          <a:lstStyle/>
          <a:p>
            <a:pPr indent="0" marL="0">
              <a:buNone/>
            </a:pPr>
            <a:r>
              <a:rPr lang="en-US" sz="2000" dirty="0">
                <a:solidFill>
                  <a:srgbClr val="C6F25B"/>
                </a:solidFill>
                <a:latin typeface="Arial" pitchFamily="34" charset="0"/>
                <a:ea typeface="Arial" pitchFamily="34" charset="-122"/>
                <a:cs typeface="Arial" pitchFamily="34" charset="-120"/>
              </a:rPr>
              <a:t>4 questions. A free result before any paywall.</a:t>
            </a:r>
            <a:endParaRPr lang="en-US" sz="2000" dirty="0"/>
          </a:p>
        </p:txBody>
      </p:sp>
      <p:sp>
        <p:nvSpPr>
          <p:cNvPr id="5" name="Text 3"/>
          <p:cNvSpPr txBox="1"/>
          <p:nvPr/>
        </p:nvSpPr>
        <p:spPr>
          <a:xfrm>
            <a:off x="640080" y="5760720"/>
            <a:ext cx="5486400" cy="365760"/>
          </a:xfrm>
          <a:prstGeom prst="rect">
            <a:avLst/>
          </a:prstGeom>
          <a:noFill/>
          <a:ln/>
        </p:spPr>
        <p:txBody>
          <a:bodyPr wrap="square" lIns="0" tIns="0" rIns="0" bIns="0" rtlCol="0" anchor="t"/>
          <a:lstStyle/>
          <a:p>
            <a:pPr indent="0" marL="0">
              <a:buNone/>
            </a:pPr>
            <a:r>
              <a:rPr lang="en-US" sz="1800" b="1" dirty="0">
                <a:solidFill>
                  <a:srgbClr val="FF5A1F"/>
                </a:solidFill>
                <a:latin typeface="Arial" pitchFamily="34" charset="0"/>
                <a:ea typeface="Arial" pitchFamily="34" charset="-122"/>
                <a:cs typeface="Arial" pitchFamily="34" charset="-120"/>
              </a:rPr>
              <a:t>[Team names]</a:t>
            </a:r>
            <a:endParaRPr lang="en-US" sz="1800" dirty="0"/>
          </a:p>
        </p:txBody>
      </p:sp>
      <p:sp>
        <p:nvSpPr>
          <p:cNvPr id="6" name="Shape 4"/>
          <p:cNvSpPr/>
          <p:nvPr/>
        </p:nvSpPr>
        <p:spPr>
          <a:xfrm>
            <a:off x="7443216" y="768096"/>
            <a:ext cx="2518154" cy="5321808"/>
          </a:xfrm>
          <a:prstGeom prst="roundRect">
            <a:avLst>
              <a:gd name="adj" fmla="val 4357"/>
            </a:avLst>
          </a:prstGeom>
          <a:solidFill>
            <a:srgbClr val="2A2A2A"/>
          </a:solidFill>
          <a:ln w="12700">
            <a:solidFill>
              <a:srgbClr val="3A3A3A"/>
            </a:solidFill>
            <a:prstDash val="solid"/>
          </a:ln>
        </p:spPr>
      </p:sp>
      <p:pic>
        <p:nvPicPr>
          <p:cNvPr id="7" name="Image 0" descr="C:\Users\aksuc\Desktop\proje_odev\design\export/screens/01-promise-light.png">    </p:cNvPr>
          <p:cNvPicPr>
            <a:picLocks noChangeAspect="1"/>
          </p:cNvPicPr>
          <p:nvPr/>
        </p:nvPicPr>
        <p:blipFill>
          <a:blip r:embed="rId1"/>
          <a:stretch>
            <a:fillRect/>
          </a:stretch>
        </p:blipFill>
        <p:spPr>
          <a:xfrm>
            <a:off x="7498080" y="822960"/>
            <a:ext cx="2408426" cy="5212080"/>
          </a:xfrm>
          <a:prstGeom prst="rect">
            <a:avLst/>
          </a:prstGeom>
        </p:spPr>
      </p:pic>
      <p:sp>
        <p:nvSpPr>
          <p:cNvPr id="8" name="Shape 5"/>
          <p:cNvSpPr/>
          <p:nvPr/>
        </p:nvSpPr>
        <p:spPr>
          <a:xfrm>
            <a:off x="9774936" y="1316736"/>
            <a:ext cx="2306888" cy="4864608"/>
          </a:xfrm>
          <a:prstGeom prst="roundRect">
            <a:avLst>
              <a:gd name="adj" fmla="val 4757"/>
            </a:avLst>
          </a:prstGeom>
          <a:solidFill>
            <a:srgbClr val="2A2A2A"/>
          </a:solidFill>
          <a:ln w="12700">
            <a:solidFill>
              <a:srgbClr val="3A3A3A"/>
            </a:solidFill>
            <a:prstDash val="solid"/>
          </a:ln>
        </p:spPr>
      </p:sp>
      <p:pic>
        <p:nvPicPr>
          <p:cNvPr id="9" name="Image 1" descr="C:\Users\aksuc\Desktop\proje_odev\design\export/screens/07-reveal-light.png">    </p:cNvPr>
          <p:cNvPicPr>
            <a:picLocks noChangeAspect="1"/>
          </p:cNvPicPr>
          <p:nvPr/>
        </p:nvPicPr>
        <p:blipFill>
          <a:blip r:embed="rId2"/>
          <a:stretch>
            <a:fillRect/>
          </a:stretch>
        </p:blipFill>
        <p:spPr>
          <a:xfrm>
            <a:off x="9829800" y="1371600"/>
            <a:ext cx="2197160" cy="4754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548640" y="411480"/>
            <a:ext cx="4389120" cy="822960"/>
          </a:xfrm>
          <a:prstGeom prst="rect">
            <a:avLst/>
          </a:prstGeom>
          <a:noFill/>
          <a:ln/>
        </p:spPr>
        <p:txBody>
          <a:bodyPr wrap="square" lIns="0" tIns="0" rIns="0" bIns="0" rtlCol="0" anchor="t"/>
          <a:lstStyle/>
          <a:p>
            <a:pPr indent="0" marL="0">
              <a:buNone/>
            </a:pPr>
            <a:r>
              <a:rPr lang="en-US" sz="3000" b="1" dirty="0">
                <a:solidFill>
                  <a:srgbClr val="141414"/>
                </a:solidFill>
                <a:latin typeface="Arial" pitchFamily="34" charset="0"/>
                <a:ea typeface="Arial" pitchFamily="34" charset="-122"/>
                <a:cs typeface="Arial" pitchFamily="34" charset="-120"/>
              </a:rPr>
              <a:t>The original: GoTall</a:t>
            </a:r>
            <a:endParaRPr lang="en-US" sz="3000" dirty="0"/>
          </a:p>
        </p:txBody>
      </p:sp>
      <p:sp>
        <p:nvSpPr>
          <p:cNvPr id="3" name="Text 1"/>
          <p:cNvSpPr txBox="1"/>
          <p:nvPr/>
        </p:nvSpPr>
        <p:spPr>
          <a:xfrm>
            <a:off x="548640" y="1371600"/>
            <a:ext cx="4206240" cy="1371600"/>
          </a:xfrm>
          <a:prstGeom prst="rect">
            <a:avLst/>
          </a:prstGeom>
          <a:noFill/>
          <a:ln/>
        </p:spPr>
        <p:txBody>
          <a:bodyPr wrap="square" lIns="0" tIns="0" rIns="0" bIns="0" rtlCol="0" anchor="t"/>
          <a:lstStyle/>
          <a:p>
            <a:pPr indent="0" marL="0">
              <a:buNone/>
            </a:pPr>
            <a:r>
              <a:rPr lang="en-US" sz="8400" b="1" dirty="0">
                <a:solidFill>
                  <a:srgbClr val="FF5A1F"/>
                </a:solidFill>
                <a:latin typeface="Arial" pitchFamily="34" charset="0"/>
                <a:ea typeface="Arial" pitchFamily="34" charset="-122"/>
                <a:cs typeface="Arial" pitchFamily="34" charset="-120"/>
              </a:rPr>
              <a:t>$57.8k</a:t>
            </a:r>
            <a:endParaRPr lang="en-US" sz="8400" dirty="0"/>
          </a:p>
        </p:txBody>
      </p:sp>
      <p:sp>
        <p:nvSpPr>
          <p:cNvPr id="4" name="Text 2"/>
          <p:cNvSpPr txBox="1"/>
          <p:nvPr/>
        </p:nvSpPr>
        <p:spPr>
          <a:xfrm>
            <a:off x="548640" y="2788920"/>
            <a:ext cx="4206240" cy="365760"/>
          </a:xfrm>
          <a:prstGeom prst="rect">
            <a:avLst/>
          </a:prstGeom>
          <a:noFill/>
          <a:ln/>
        </p:spPr>
        <p:txBody>
          <a:bodyPr wrap="square" lIns="0" tIns="0" rIns="0" bIns="0" rtlCol="0" anchor="t"/>
          <a:lstStyle/>
          <a:p>
            <a:pPr indent="0" marL="0">
              <a:buNone/>
            </a:pPr>
            <a:r>
              <a:rPr lang="en-US" sz="1800" b="1" dirty="0">
                <a:solidFill>
                  <a:srgbClr val="141414"/>
                </a:solidFill>
                <a:latin typeface="Arial" pitchFamily="34" charset="0"/>
                <a:ea typeface="Arial" pitchFamily="34" charset="-122"/>
                <a:cs typeface="Arial" pitchFamily="34" charset="-120"/>
              </a:rPr>
              <a:t>monthly recurring revenue</a:t>
            </a:r>
            <a:endParaRPr lang="en-US" sz="1800" dirty="0"/>
          </a:p>
        </p:txBody>
      </p:sp>
      <p:sp>
        <p:nvSpPr>
          <p:cNvPr id="5" name="Text 3"/>
          <p:cNvSpPr txBox="1"/>
          <p:nvPr/>
        </p:nvSpPr>
        <p:spPr>
          <a:xfrm>
            <a:off x="548640" y="3383280"/>
            <a:ext cx="3931920" cy="914400"/>
          </a:xfrm>
          <a:prstGeom prst="rect">
            <a:avLst/>
          </a:prstGeom>
          <a:noFill/>
          <a:ln/>
        </p:spPr>
        <p:txBody>
          <a:bodyPr wrap="square" lIns="0" tIns="0" rIns="0" bIns="0" rtlCol="0" anchor="t"/>
          <a:lstStyle/>
          <a:p>
            <a:pPr indent="0" marL="0">
              <a:buNone/>
            </a:pPr>
            <a:r>
              <a:rPr lang="en-US" sz="1600" dirty="0">
                <a:solidFill>
                  <a:srgbClr val="141414"/>
                </a:solidFill>
                <a:latin typeface="Arial" pitchFamily="34" charset="0"/>
                <a:ea typeface="Arial" pitchFamily="34" charset="-122"/>
                <a:cs typeface="Arial" pitchFamily="34" charset="-120"/>
              </a:rPr>
              <a:t>A height predictor app. 33 screens of questions and claims, then a paywall. The result stays locked.</a:t>
            </a:r>
            <a:endParaRPr lang="en-US" sz="1600" dirty="0"/>
          </a:p>
        </p:txBody>
      </p:sp>
      <p:sp>
        <p:nvSpPr>
          <p:cNvPr id="6" name="Text 4"/>
          <p:cNvSpPr txBox="1"/>
          <p:nvPr/>
        </p:nvSpPr>
        <p:spPr>
          <a:xfrm>
            <a:off x="548640" y="5806440"/>
            <a:ext cx="4206240" cy="64008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Source: TrustMRR, Superwall-verified, 22 Oct 2026. Weakness counts: our tally of 119 one-to-three-star App Store reviews (approximate).</a:t>
            </a:r>
            <a:endParaRPr lang="en-US" sz="1100" dirty="0"/>
          </a:p>
        </p:txBody>
      </p:sp>
      <p:sp>
        <p:nvSpPr>
          <p:cNvPr id="7" name="Shape 5"/>
          <p:cNvSpPr/>
          <p:nvPr/>
        </p:nvSpPr>
        <p:spPr>
          <a:xfrm>
            <a:off x="5029200" y="502920"/>
            <a:ext cx="6629400" cy="1783080"/>
          </a:xfrm>
          <a:prstGeom prst="roundRect">
            <a:avLst>
              <a:gd name="adj" fmla="val 5128"/>
            </a:avLst>
          </a:prstGeom>
          <a:solidFill>
            <a:srgbClr val="FFFFFF"/>
          </a:solidFill>
          <a:ln w="12700">
            <a:solidFill>
              <a:srgbClr val="E3E0D8"/>
            </a:solidFill>
            <a:prstDash val="solid"/>
          </a:ln>
        </p:spPr>
      </p:sp>
      <p:sp>
        <p:nvSpPr>
          <p:cNvPr id="8" name="Shape 6"/>
          <p:cNvSpPr/>
          <p:nvPr/>
        </p:nvSpPr>
        <p:spPr>
          <a:xfrm>
            <a:off x="5212080" y="731520"/>
            <a:ext cx="1554480" cy="1325880"/>
          </a:xfrm>
          <a:prstGeom prst="roundRect">
            <a:avLst>
              <a:gd name="adj" fmla="val 6897"/>
            </a:avLst>
          </a:prstGeom>
          <a:solidFill>
            <a:srgbClr val="141414"/>
          </a:solidFill>
          <a:ln/>
        </p:spPr>
      </p:sp>
      <p:sp>
        <p:nvSpPr>
          <p:cNvPr id="9" name="Text 7"/>
          <p:cNvSpPr txBox="1"/>
          <p:nvPr/>
        </p:nvSpPr>
        <p:spPr>
          <a:xfrm>
            <a:off x="5212080" y="731520"/>
            <a:ext cx="1554480" cy="1325880"/>
          </a:xfrm>
          <a:prstGeom prst="rect">
            <a:avLst/>
          </a:prstGeom>
          <a:noFill/>
          <a:ln/>
        </p:spPr>
        <p:txBody>
          <a:bodyPr wrap="square" lIns="0" tIns="0" rIns="0" bIns="0" rtlCol="0" anchor="ctr"/>
          <a:lstStyle/>
          <a:p>
            <a:pPr algn="ctr" indent="0" marL="0">
              <a:buNone/>
            </a:pPr>
            <a:r>
              <a:rPr lang="en-US" sz="3600" b="1" dirty="0">
                <a:solidFill>
                  <a:srgbClr val="C6F25B"/>
                </a:solidFill>
                <a:latin typeface="Arial" pitchFamily="34" charset="0"/>
                <a:ea typeface="Arial" pitchFamily="34" charset="-122"/>
                <a:cs typeface="Arial" pitchFamily="34" charset="-120"/>
              </a:rPr>
              <a:t>~95</a:t>
            </a:r>
            <a:endParaRPr lang="en-US" sz="3600" dirty="0"/>
          </a:p>
        </p:txBody>
      </p:sp>
      <p:sp>
        <p:nvSpPr>
          <p:cNvPr id="10" name="Text 8"/>
          <p:cNvSpPr txBox="1"/>
          <p:nvPr/>
        </p:nvSpPr>
        <p:spPr>
          <a:xfrm>
            <a:off x="6995160" y="704088"/>
            <a:ext cx="4480560" cy="731520"/>
          </a:xfrm>
          <a:prstGeom prst="rect">
            <a:avLst/>
          </a:prstGeom>
          <a:noFill/>
          <a:ln/>
        </p:spPr>
        <p:txBody>
          <a:bodyPr wrap="square" lIns="0" tIns="0" rIns="0" bIns="0" rtlCol="0" anchor="t"/>
          <a:lstStyle/>
          <a:p>
            <a:pPr indent="0" marL="0">
              <a:buNone/>
            </a:pPr>
            <a:r>
              <a:rPr lang="en-US" sz="1700" b="1" dirty="0">
                <a:solidFill>
                  <a:srgbClr val="141414"/>
                </a:solidFill>
                <a:latin typeface="Arial" pitchFamily="34" charset="0"/>
                <a:ea typeface="Arial" pitchFamily="34" charset="-122"/>
                <a:cs typeface="Arial" pitchFamily="34" charset="-120"/>
              </a:rPr>
              <a:t>Result locked behind the paywall after a 31-step quiz</a:t>
            </a:r>
            <a:endParaRPr lang="en-US" sz="1700" dirty="0"/>
          </a:p>
        </p:txBody>
      </p:sp>
      <p:sp>
        <p:nvSpPr>
          <p:cNvPr id="11" name="Text 9"/>
          <p:cNvSpPr txBox="1"/>
          <p:nvPr/>
        </p:nvSpPr>
        <p:spPr>
          <a:xfrm>
            <a:off x="6995160" y="1508760"/>
            <a:ext cx="4480560" cy="640080"/>
          </a:xfrm>
          <a:prstGeom prst="rect">
            <a:avLst/>
          </a:prstGeom>
          <a:noFill/>
          <a:ln/>
        </p:spPr>
        <p:txBody>
          <a:bodyPr wrap="square" lIns="0" tIns="0" rIns="0" bIns="0" rtlCol="0" anchor="t"/>
          <a:lstStyle/>
          <a:p>
            <a:pPr indent="0" marL="0">
              <a:buNone/>
            </a:pPr>
            <a:r>
              <a:rPr lang="en-US" sz="1400" i="1" dirty="0">
                <a:solidFill>
                  <a:srgbClr val="6B6B6B"/>
                </a:solidFill>
                <a:latin typeface="Arial" pitchFamily="34" charset="0"/>
                <a:ea typeface="Arial" pitchFamily="34" charset="-122"/>
                <a:cs typeface="Arial" pitchFamily="34" charset="-120"/>
              </a:rPr>
              <a:t>"Did the whole questionnaire ... at the last second told me I had to pay"</a:t>
            </a:r>
            <a:endParaRPr lang="en-US" sz="1400" dirty="0"/>
          </a:p>
        </p:txBody>
      </p:sp>
      <p:sp>
        <p:nvSpPr>
          <p:cNvPr id="12" name="Shape 10"/>
          <p:cNvSpPr/>
          <p:nvPr/>
        </p:nvSpPr>
        <p:spPr>
          <a:xfrm>
            <a:off x="5029200" y="2468880"/>
            <a:ext cx="6629400" cy="1783080"/>
          </a:xfrm>
          <a:prstGeom prst="roundRect">
            <a:avLst>
              <a:gd name="adj" fmla="val 5128"/>
            </a:avLst>
          </a:prstGeom>
          <a:solidFill>
            <a:srgbClr val="FFFFFF"/>
          </a:solidFill>
          <a:ln w="12700">
            <a:solidFill>
              <a:srgbClr val="E3E0D8"/>
            </a:solidFill>
            <a:prstDash val="solid"/>
          </a:ln>
        </p:spPr>
      </p:sp>
      <p:sp>
        <p:nvSpPr>
          <p:cNvPr id="13" name="Shape 11"/>
          <p:cNvSpPr/>
          <p:nvPr/>
        </p:nvSpPr>
        <p:spPr>
          <a:xfrm>
            <a:off x="5212080" y="2697480"/>
            <a:ext cx="1554480" cy="1325880"/>
          </a:xfrm>
          <a:prstGeom prst="roundRect">
            <a:avLst>
              <a:gd name="adj" fmla="val 6897"/>
            </a:avLst>
          </a:prstGeom>
          <a:solidFill>
            <a:srgbClr val="141414"/>
          </a:solidFill>
          <a:ln/>
        </p:spPr>
      </p:sp>
      <p:sp>
        <p:nvSpPr>
          <p:cNvPr id="14" name="Text 12"/>
          <p:cNvSpPr txBox="1"/>
          <p:nvPr/>
        </p:nvSpPr>
        <p:spPr>
          <a:xfrm>
            <a:off x="5212080" y="2697480"/>
            <a:ext cx="1554480" cy="1325880"/>
          </a:xfrm>
          <a:prstGeom prst="rect">
            <a:avLst/>
          </a:prstGeom>
          <a:noFill/>
          <a:ln/>
        </p:spPr>
        <p:txBody>
          <a:bodyPr wrap="square" lIns="0" tIns="0" rIns="0" bIns="0" rtlCol="0" anchor="ctr"/>
          <a:lstStyle/>
          <a:p>
            <a:pPr algn="ctr" indent="0" marL="0">
              <a:buNone/>
            </a:pPr>
            <a:r>
              <a:rPr lang="en-US" sz="3600" b="1" dirty="0">
                <a:solidFill>
                  <a:srgbClr val="C6F25B"/>
                </a:solidFill>
                <a:latin typeface="Arial" pitchFamily="34" charset="0"/>
                <a:ea typeface="Arial" pitchFamily="34" charset="-122"/>
                <a:cs typeface="Arial" pitchFamily="34" charset="-120"/>
              </a:rPr>
              <a:t>~43</a:t>
            </a:r>
            <a:endParaRPr lang="en-US" sz="3600" dirty="0"/>
          </a:p>
        </p:txBody>
      </p:sp>
      <p:sp>
        <p:nvSpPr>
          <p:cNvPr id="15" name="Text 13"/>
          <p:cNvSpPr txBox="1"/>
          <p:nvPr/>
        </p:nvSpPr>
        <p:spPr>
          <a:xfrm>
            <a:off x="6995160" y="2670048"/>
            <a:ext cx="4480560" cy="731520"/>
          </a:xfrm>
          <a:prstGeom prst="rect">
            <a:avLst/>
          </a:prstGeom>
          <a:noFill/>
          <a:ln/>
        </p:spPr>
        <p:txBody>
          <a:bodyPr wrap="square" lIns="0" tIns="0" rIns="0" bIns="0" rtlCol="0" anchor="t"/>
          <a:lstStyle/>
          <a:p>
            <a:pPr indent="0" marL="0">
              <a:buNone/>
            </a:pPr>
            <a:r>
              <a:rPr lang="en-US" sz="1700" b="1" dirty="0">
                <a:solidFill>
                  <a:srgbClr val="141414"/>
                </a:solidFill>
                <a:latin typeface="Arial" pitchFamily="34" charset="0"/>
                <a:ea typeface="Arial" pitchFamily="34" charset="-122"/>
                <a:cs typeface="Arial" pitchFamily="34" charset="-120"/>
              </a:rPr>
              <a:t>A long, personal quiz before any value</a:t>
            </a:r>
            <a:endParaRPr lang="en-US" sz="1700" dirty="0"/>
          </a:p>
        </p:txBody>
      </p:sp>
      <p:sp>
        <p:nvSpPr>
          <p:cNvPr id="16" name="Text 14"/>
          <p:cNvSpPr txBox="1"/>
          <p:nvPr/>
        </p:nvSpPr>
        <p:spPr>
          <a:xfrm>
            <a:off x="6995160" y="3474720"/>
            <a:ext cx="4480560" cy="640080"/>
          </a:xfrm>
          <a:prstGeom prst="rect">
            <a:avLst/>
          </a:prstGeom>
          <a:noFill/>
          <a:ln/>
        </p:spPr>
        <p:txBody>
          <a:bodyPr wrap="square" lIns="0" tIns="0" rIns="0" bIns="0" rtlCol="0" anchor="t"/>
          <a:lstStyle/>
          <a:p>
            <a:pPr indent="0" marL="0">
              <a:buNone/>
            </a:pPr>
            <a:r>
              <a:rPr lang="en-US" sz="1400" i="1" dirty="0">
                <a:solidFill>
                  <a:srgbClr val="6B6B6B"/>
                </a:solidFill>
                <a:latin typeface="Arial" pitchFamily="34" charset="0"/>
                <a:ea typeface="Arial" pitchFamily="34" charset="-122"/>
                <a:cs typeface="Arial" pitchFamily="34" charset="-120"/>
              </a:rPr>
              <a:t>"Tell me up front so that I don't waste my time."</a:t>
            </a:r>
            <a:endParaRPr lang="en-US" sz="1400" dirty="0"/>
          </a:p>
        </p:txBody>
      </p:sp>
      <p:sp>
        <p:nvSpPr>
          <p:cNvPr id="17" name="Shape 15"/>
          <p:cNvSpPr/>
          <p:nvPr/>
        </p:nvSpPr>
        <p:spPr>
          <a:xfrm>
            <a:off x="5029200" y="4434840"/>
            <a:ext cx="6629400" cy="1783080"/>
          </a:xfrm>
          <a:prstGeom prst="roundRect">
            <a:avLst>
              <a:gd name="adj" fmla="val 5128"/>
            </a:avLst>
          </a:prstGeom>
          <a:solidFill>
            <a:srgbClr val="FFFFFF"/>
          </a:solidFill>
          <a:ln w="12700">
            <a:solidFill>
              <a:srgbClr val="E3E0D8"/>
            </a:solidFill>
            <a:prstDash val="solid"/>
          </a:ln>
        </p:spPr>
      </p:sp>
      <p:sp>
        <p:nvSpPr>
          <p:cNvPr id="18" name="Shape 16"/>
          <p:cNvSpPr/>
          <p:nvPr/>
        </p:nvSpPr>
        <p:spPr>
          <a:xfrm>
            <a:off x="5212080" y="4663440"/>
            <a:ext cx="1554480" cy="1325880"/>
          </a:xfrm>
          <a:prstGeom prst="roundRect">
            <a:avLst>
              <a:gd name="adj" fmla="val 6897"/>
            </a:avLst>
          </a:prstGeom>
          <a:solidFill>
            <a:srgbClr val="141414"/>
          </a:solidFill>
          <a:ln/>
        </p:spPr>
      </p:sp>
      <p:sp>
        <p:nvSpPr>
          <p:cNvPr id="19" name="Text 17"/>
          <p:cNvSpPr txBox="1"/>
          <p:nvPr/>
        </p:nvSpPr>
        <p:spPr>
          <a:xfrm>
            <a:off x="5212080" y="4663440"/>
            <a:ext cx="1554480" cy="1325880"/>
          </a:xfrm>
          <a:prstGeom prst="rect">
            <a:avLst/>
          </a:prstGeom>
          <a:noFill/>
          <a:ln/>
        </p:spPr>
        <p:txBody>
          <a:bodyPr wrap="square" lIns="0" tIns="0" rIns="0" bIns="0" rtlCol="0" anchor="ctr"/>
          <a:lstStyle/>
          <a:p>
            <a:pPr algn="ctr" indent="0" marL="0">
              <a:buNone/>
            </a:pPr>
            <a:r>
              <a:rPr lang="en-US" sz="3600" b="1" dirty="0">
                <a:solidFill>
                  <a:srgbClr val="C6F25B"/>
                </a:solidFill>
                <a:latin typeface="Arial" pitchFamily="34" charset="0"/>
                <a:ea typeface="Arial" pitchFamily="34" charset="-122"/>
                <a:cs typeface="Arial" pitchFamily="34" charset="-120"/>
              </a:rPr>
              <a:t>~19</a:t>
            </a:r>
            <a:endParaRPr lang="en-US" sz="3600" dirty="0"/>
          </a:p>
        </p:txBody>
      </p:sp>
      <p:sp>
        <p:nvSpPr>
          <p:cNvPr id="20" name="Text 18"/>
          <p:cNvSpPr txBox="1"/>
          <p:nvPr/>
        </p:nvSpPr>
        <p:spPr>
          <a:xfrm>
            <a:off x="6995160" y="4636008"/>
            <a:ext cx="4480560" cy="731520"/>
          </a:xfrm>
          <a:prstGeom prst="rect">
            <a:avLst/>
          </a:prstGeom>
          <a:noFill/>
          <a:ln/>
        </p:spPr>
        <p:txBody>
          <a:bodyPr wrap="square" lIns="0" tIns="0" rIns="0" bIns="0" rtlCol="0" anchor="t"/>
          <a:lstStyle/>
          <a:p>
            <a:pPr indent="0" marL="0">
              <a:buNone/>
            </a:pPr>
            <a:r>
              <a:rPr lang="en-US" sz="1700" b="1" dirty="0">
                <a:solidFill>
                  <a:srgbClr val="141414"/>
                </a:solidFill>
                <a:latin typeface="Arial" pitchFamily="34" charset="0"/>
                <a:ea typeface="Arial" pitchFamily="34" charset="-122"/>
                <a:cs typeface="Arial" pitchFamily="34" charset="-120"/>
              </a:rPr>
              <a:t>Billing surprises: "$0.67/week" vs $35 to $60 charged</a:t>
            </a:r>
            <a:endParaRPr lang="en-US" sz="1700" dirty="0"/>
          </a:p>
        </p:txBody>
      </p:sp>
      <p:sp>
        <p:nvSpPr>
          <p:cNvPr id="21" name="Text 19"/>
          <p:cNvSpPr txBox="1"/>
          <p:nvPr/>
        </p:nvSpPr>
        <p:spPr>
          <a:xfrm>
            <a:off x="6995160" y="5440680"/>
            <a:ext cx="4480560" cy="640080"/>
          </a:xfrm>
          <a:prstGeom prst="rect">
            <a:avLst/>
          </a:prstGeom>
          <a:noFill/>
          <a:ln/>
        </p:spPr>
        <p:txBody>
          <a:bodyPr wrap="square" lIns="0" tIns="0" rIns="0" bIns="0" rtlCol="0" anchor="t"/>
          <a:lstStyle/>
          <a:p>
            <a:pPr indent="0" marL="0">
              <a:buNone/>
            </a:pPr>
            <a:r>
              <a:rPr lang="en-US" sz="1400" i="1" dirty="0">
                <a:solidFill>
                  <a:srgbClr val="6B6B6B"/>
                </a:solidFill>
                <a:latin typeface="Arial" pitchFamily="34" charset="0"/>
                <a:ea typeface="Arial" pitchFamily="34" charset="-122"/>
                <a:cs typeface="Arial" pitchFamily="34" charset="-120"/>
              </a:rPr>
              <a:t>"It said $0.67 per week but it really charged me $35."</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3800" b="1" dirty="0">
                <a:solidFill>
                  <a:srgbClr val="141414"/>
                </a:solidFill>
                <a:latin typeface="Arial" pitchFamily="34" charset="0"/>
                <a:ea typeface="Arial" pitchFamily="34" charset="-122"/>
                <a:cs typeface="Arial" pitchFamily="34" charset="-120"/>
              </a:rPr>
              <a:t>Our one-line value proposition</a:t>
            </a:r>
            <a:endParaRPr lang="en-US" sz="3800" dirty="0"/>
          </a:p>
        </p:txBody>
      </p:sp>
      <p:sp>
        <p:nvSpPr>
          <p:cNvPr id="3" name="Shape 1"/>
          <p:cNvSpPr/>
          <p:nvPr/>
        </p:nvSpPr>
        <p:spPr>
          <a:xfrm>
            <a:off x="548640" y="1325880"/>
            <a:ext cx="7315200" cy="2331720"/>
          </a:xfrm>
          <a:prstGeom prst="roundRect">
            <a:avLst>
              <a:gd name="adj" fmla="val 4706"/>
            </a:avLst>
          </a:prstGeom>
          <a:solidFill>
            <a:srgbClr val="141414"/>
          </a:solidFill>
          <a:ln/>
        </p:spPr>
      </p:sp>
      <p:sp>
        <p:nvSpPr>
          <p:cNvPr id="4" name="Text 2"/>
          <p:cNvSpPr txBox="1"/>
          <p:nvPr/>
        </p:nvSpPr>
        <p:spPr>
          <a:xfrm>
            <a:off x="822960" y="1508760"/>
            <a:ext cx="6766560" cy="2011680"/>
          </a:xfrm>
          <a:prstGeom prst="rect">
            <a:avLst/>
          </a:prstGeom>
          <a:noFill/>
          <a:ln/>
        </p:spPr>
        <p:txBody>
          <a:bodyPr wrap="square" lIns="0" tIns="0" rIns="0" bIns="0" rtlCol="0" anchor="ctr"/>
          <a:lstStyle/>
          <a:p>
            <a:pPr indent="0" marL="0">
              <a:buNone/>
            </a:pPr>
            <a:r>
              <a:rPr lang="en-US" sz="1900" dirty="0">
                <a:solidFill>
                  <a:srgbClr val="F6F4EF"/>
                </a:solidFill>
                <a:latin typeface="Arial" pitchFamily="34" charset="0"/>
                <a:ea typeface="Arial" pitchFamily="34" charset="-122"/>
                <a:cs typeface="Arial" pitchFamily="34" charset="-120"/>
              </a:rPr>
              <a:t>For 13 to 17-year-olds who want to know how tall they will get but hate 30-question quizzes that end in a paywall, </a:t>
            </a:r>
            <a:pPr indent="0" marL="0">
              <a:buNone/>
            </a:pPr>
            <a:r>
              <a:rPr lang="en-US" sz="1900" b="1" dirty="0">
                <a:solidFill>
                  <a:srgbClr val="C6F25B"/>
                </a:solidFill>
                <a:latin typeface="Arial" pitchFamily="34" charset="0"/>
                <a:ea typeface="Arial" pitchFamily="34" charset="-122"/>
                <a:cs typeface="Arial" pitchFamily="34" charset="-120"/>
              </a:rPr>
              <a:t>Measured shows your honest height range in under a minute</a:t>
            </a:r>
            <a:pPr indent="0" marL="0">
              <a:buNone/>
            </a:pPr>
            <a:r>
              <a:rPr lang="en-US" sz="1900" dirty="0">
                <a:solidFill>
                  <a:srgbClr val="F6F4EF"/>
                </a:solidFill>
                <a:latin typeface="Arial" pitchFamily="34" charset="0"/>
                <a:ea typeface="Arial" pitchFamily="34" charset="-122"/>
                <a:cs typeface="Arial" pitchFamily="34" charset="-120"/>
              </a:rPr>
              <a:t>, unlike GoTall, because you see your result before any paywall and the price is never hidden.</a:t>
            </a:r>
            <a:endParaRPr lang="en-US" sz="1900" dirty="0"/>
          </a:p>
        </p:txBody>
      </p:sp>
      <p:sp>
        <p:nvSpPr>
          <p:cNvPr id="5" name="Shape 3"/>
          <p:cNvSpPr/>
          <p:nvPr/>
        </p:nvSpPr>
        <p:spPr>
          <a:xfrm>
            <a:off x="548640" y="3931920"/>
            <a:ext cx="2377440" cy="2286000"/>
          </a:xfrm>
          <a:prstGeom prst="roundRect">
            <a:avLst>
              <a:gd name="adj" fmla="val 4000"/>
            </a:avLst>
          </a:prstGeom>
          <a:solidFill>
            <a:srgbClr val="FFFFFF"/>
          </a:solidFill>
          <a:ln w="12700">
            <a:solidFill>
              <a:srgbClr val="E3E0D8"/>
            </a:solidFill>
            <a:prstDash val="solid"/>
          </a:ln>
        </p:spPr>
      </p:sp>
      <p:sp>
        <p:nvSpPr>
          <p:cNvPr id="6" name="Text 4"/>
          <p:cNvSpPr txBox="1"/>
          <p:nvPr/>
        </p:nvSpPr>
        <p:spPr>
          <a:xfrm>
            <a:off x="731520" y="4114800"/>
            <a:ext cx="2011680" cy="320040"/>
          </a:xfrm>
          <a:prstGeom prst="rect">
            <a:avLst/>
          </a:prstGeom>
          <a:noFill/>
          <a:ln/>
        </p:spPr>
        <p:txBody>
          <a:bodyPr wrap="square" lIns="0" tIns="0" rIns="0" bIns="0" rtlCol="0" anchor="t"/>
          <a:lstStyle/>
          <a:p>
            <a:pPr indent="0" marL="0">
              <a:buNone/>
            </a:pPr>
            <a:r>
              <a:rPr lang="en-US" sz="1400" b="1" dirty="0">
                <a:solidFill>
                  <a:srgbClr val="FF5A1F"/>
                </a:solidFill>
                <a:latin typeface="Arial" pitchFamily="34" charset="0"/>
                <a:ea typeface="Arial" pitchFamily="34" charset="-122"/>
                <a:cs typeface="Arial" pitchFamily="34" charset="-120"/>
              </a:rPr>
              <a:t>WHO</a:t>
            </a:r>
            <a:endParaRPr lang="en-US" sz="1400" dirty="0"/>
          </a:p>
        </p:txBody>
      </p:sp>
      <p:sp>
        <p:nvSpPr>
          <p:cNvPr id="7" name="Text 5"/>
          <p:cNvSpPr txBox="1"/>
          <p:nvPr/>
        </p:nvSpPr>
        <p:spPr>
          <a:xfrm>
            <a:off x="731520" y="4526280"/>
            <a:ext cx="2011680" cy="1554480"/>
          </a:xfrm>
          <a:prstGeom prst="rect">
            <a:avLst/>
          </a:prstGeom>
          <a:noFill/>
          <a:ln/>
        </p:spPr>
        <p:txBody>
          <a:bodyPr wrap="square" lIns="0" tIns="0" rIns="0" bIns="0" rtlCol="0" anchor="t"/>
          <a:lstStyle/>
          <a:p>
            <a:pPr indent="0" marL="0">
              <a:buNone/>
            </a:pPr>
            <a:r>
              <a:rPr lang="en-US" sz="1600" b="1" dirty="0">
                <a:solidFill>
                  <a:srgbClr val="141414"/>
                </a:solidFill>
                <a:latin typeface="Arial" pitchFamily="34" charset="0"/>
                <a:ea typeface="Arial" pitchFamily="34" charset="-122"/>
                <a:cs typeface="Arial" pitchFamily="34" charset="-120"/>
              </a:rPr>
              <a:t>Teens who wonder how tall they will get</a:t>
            </a:r>
            <a:endParaRPr lang="en-US" sz="1600" dirty="0"/>
          </a:p>
        </p:txBody>
      </p:sp>
      <p:sp>
        <p:nvSpPr>
          <p:cNvPr id="8" name="Shape 6"/>
          <p:cNvSpPr/>
          <p:nvPr/>
        </p:nvSpPr>
        <p:spPr>
          <a:xfrm>
            <a:off x="3017520" y="3931920"/>
            <a:ext cx="2377440" cy="2286000"/>
          </a:xfrm>
          <a:prstGeom prst="roundRect">
            <a:avLst>
              <a:gd name="adj" fmla="val 4000"/>
            </a:avLst>
          </a:prstGeom>
          <a:solidFill>
            <a:srgbClr val="FFFFFF"/>
          </a:solidFill>
          <a:ln w="12700">
            <a:solidFill>
              <a:srgbClr val="E3E0D8"/>
            </a:solidFill>
            <a:prstDash val="solid"/>
          </a:ln>
        </p:spPr>
      </p:sp>
      <p:sp>
        <p:nvSpPr>
          <p:cNvPr id="9" name="Text 7"/>
          <p:cNvSpPr txBox="1"/>
          <p:nvPr/>
        </p:nvSpPr>
        <p:spPr>
          <a:xfrm>
            <a:off x="3200400" y="4114800"/>
            <a:ext cx="2011680" cy="320040"/>
          </a:xfrm>
          <a:prstGeom prst="rect">
            <a:avLst/>
          </a:prstGeom>
          <a:noFill/>
          <a:ln/>
        </p:spPr>
        <p:txBody>
          <a:bodyPr wrap="square" lIns="0" tIns="0" rIns="0" bIns="0" rtlCol="0" anchor="t"/>
          <a:lstStyle/>
          <a:p>
            <a:pPr indent="0" marL="0">
              <a:buNone/>
            </a:pPr>
            <a:r>
              <a:rPr lang="en-US" sz="1400" b="1" dirty="0">
                <a:solidFill>
                  <a:srgbClr val="FF5A1F"/>
                </a:solidFill>
                <a:latin typeface="Arial" pitchFamily="34" charset="0"/>
                <a:ea typeface="Arial" pitchFamily="34" charset="-122"/>
                <a:cs typeface="Arial" pitchFamily="34" charset="-120"/>
              </a:rPr>
              <a:t>PAIN</a:t>
            </a:r>
            <a:endParaRPr lang="en-US" sz="1400" dirty="0"/>
          </a:p>
        </p:txBody>
      </p:sp>
      <p:sp>
        <p:nvSpPr>
          <p:cNvPr id="10" name="Text 8"/>
          <p:cNvSpPr txBox="1"/>
          <p:nvPr/>
        </p:nvSpPr>
        <p:spPr>
          <a:xfrm>
            <a:off x="3200400" y="4526280"/>
            <a:ext cx="2011680" cy="1554480"/>
          </a:xfrm>
          <a:prstGeom prst="rect">
            <a:avLst/>
          </a:prstGeom>
          <a:noFill/>
          <a:ln/>
        </p:spPr>
        <p:txBody>
          <a:bodyPr wrap="square" lIns="0" tIns="0" rIns="0" bIns="0" rtlCol="0" anchor="t"/>
          <a:lstStyle/>
          <a:p>
            <a:pPr indent="0" marL="0">
              <a:buNone/>
            </a:pPr>
            <a:r>
              <a:rPr lang="en-US" sz="1600" b="1" dirty="0">
                <a:solidFill>
                  <a:srgbClr val="141414"/>
                </a:solidFill>
                <a:latin typeface="Arial" pitchFamily="34" charset="0"/>
                <a:ea typeface="Arial" pitchFamily="34" charset="-122"/>
                <a:cs typeface="Arial" pitchFamily="34" charset="-120"/>
              </a:rPr>
              <a:t>"Answered 30 questions just to hit a paywall"</a:t>
            </a:r>
            <a:endParaRPr lang="en-US" sz="1600" dirty="0"/>
          </a:p>
        </p:txBody>
      </p:sp>
      <p:sp>
        <p:nvSpPr>
          <p:cNvPr id="11" name="Shape 9"/>
          <p:cNvSpPr/>
          <p:nvPr/>
        </p:nvSpPr>
        <p:spPr>
          <a:xfrm>
            <a:off x="5486400" y="3931920"/>
            <a:ext cx="2377440" cy="2286000"/>
          </a:xfrm>
          <a:prstGeom prst="roundRect">
            <a:avLst>
              <a:gd name="adj" fmla="val 4000"/>
            </a:avLst>
          </a:prstGeom>
          <a:solidFill>
            <a:srgbClr val="FFFFFF"/>
          </a:solidFill>
          <a:ln w="12700">
            <a:solidFill>
              <a:srgbClr val="E3E0D8"/>
            </a:solidFill>
            <a:prstDash val="solid"/>
          </a:ln>
        </p:spPr>
      </p:sp>
      <p:sp>
        <p:nvSpPr>
          <p:cNvPr id="12" name="Text 10"/>
          <p:cNvSpPr txBox="1"/>
          <p:nvPr/>
        </p:nvSpPr>
        <p:spPr>
          <a:xfrm>
            <a:off x="5669280" y="4114800"/>
            <a:ext cx="2011680" cy="320040"/>
          </a:xfrm>
          <a:prstGeom prst="rect">
            <a:avLst/>
          </a:prstGeom>
          <a:noFill/>
          <a:ln/>
        </p:spPr>
        <p:txBody>
          <a:bodyPr wrap="square" lIns="0" tIns="0" rIns="0" bIns="0" rtlCol="0" anchor="t"/>
          <a:lstStyle/>
          <a:p>
            <a:pPr indent="0" marL="0">
              <a:buNone/>
            </a:pPr>
            <a:r>
              <a:rPr lang="en-US" sz="1400" b="1" dirty="0">
                <a:solidFill>
                  <a:srgbClr val="FF5A1F"/>
                </a:solidFill>
                <a:latin typeface="Arial" pitchFamily="34" charset="0"/>
                <a:ea typeface="Arial" pitchFamily="34" charset="-122"/>
                <a:cs typeface="Arial" pitchFamily="34" charset="-120"/>
              </a:rPr>
              <a:t>PROMISE</a:t>
            </a:r>
            <a:endParaRPr lang="en-US" sz="1400" dirty="0"/>
          </a:p>
        </p:txBody>
      </p:sp>
      <p:sp>
        <p:nvSpPr>
          <p:cNvPr id="13" name="Text 11"/>
          <p:cNvSpPr txBox="1"/>
          <p:nvPr/>
        </p:nvSpPr>
        <p:spPr>
          <a:xfrm>
            <a:off x="5669280" y="4526280"/>
            <a:ext cx="2011680" cy="1554480"/>
          </a:xfrm>
          <a:prstGeom prst="rect">
            <a:avLst/>
          </a:prstGeom>
          <a:noFill/>
          <a:ln/>
        </p:spPr>
        <p:txBody>
          <a:bodyPr wrap="square" lIns="0" tIns="0" rIns="0" bIns="0" rtlCol="0" anchor="t"/>
          <a:lstStyle/>
          <a:p>
            <a:pPr indent="0" marL="0">
              <a:buNone/>
            </a:pPr>
            <a:r>
              <a:rPr lang="en-US" sz="1600" b="1" dirty="0">
                <a:solidFill>
                  <a:srgbClr val="141414"/>
                </a:solidFill>
                <a:latin typeface="Arial" pitchFamily="34" charset="0"/>
                <a:ea typeface="Arial" pitchFamily="34" charset="-122"/>
                <a:cs typeface="Arial" pitchFamily="34" charset="-120"/>
              </a:rPr>
              <a:t>Your honest adult height range in 60 seconds</a:t>
            </a:r>
            <a:endParaRPr lang="en-US" sz="1600" dirty="0"/>
          </a:p>
        </p:txBody>
      </p:sp>
      <p:sp>
        <p:nvSpPr>
          <p:cNvPr id="14" name="Shape 12"/>
          <p:cNvSpPr/>
          <p:nvPr/>
        </p:nvSpPr>
        <p:spPr>
          <a:xfrm>
            <a:off x="8723376" y="768096"/>
            <a:ext cx="2349141" cy="4956048"/>
          </a:xfrm>
          <a:prstGeom prst="roundRect">
            <a:avLst>
              <a:gd name="adj" fmla="val 4671"/>
            </a:avLst>
          </a:prstGeom>
          <a:solidFill>
            <a:srgbClr val="FFFFFF"/>
          </a:solidFill>
          <a:ln w="12700">
            <a:solidFill>
              <a:srgbClr val="D9D6CE"/>
            </a:solidFill>
            <a:prstDash val="solid"/>
          </a:ln>
        </p:spPr>
      </p:sp>
      <p:pic>
        <p:nvPicPr>
          <p:cNvPr id="15" name="Image 0" descr="C:\Users\aksuc\Desktop\proje_odev\design\export/screens/01-promise-light.png">    </p:cNvPr>
          <p:cNvPicPr>
            <a:picLocks noChangeAspect="1"/>
          </p:cNvPicPr>
          <p:nvPr/>
        </p:nvPicPr>
        <p:blipFill>
          <a:blip r:embed="rId1"/>
          <a:stretch>
            <a:fillRect/>
          </a:stretch>
        </p:blipFill>
        <p:spPr>
          <a:xfrm>
            <a:off x="8778240" y="822960"/>
            <a:ext cx="2239413" cy="4846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3800" b="1" dirty="0">
                <a:solidFill>
                  <a:srgbClr val="141414"/>
                </a:solidFill>
                <a:latin typeface="Arial" pitchFamily="34" charset="0"/>
                <a:ea typeface="Arial" pitchFamily="34" charset="-122"/>
                <a:cs typeface="Arial" pitchFamily="34" charset="-120"/>
              </a:rPr>
              <a:t>Moodboard and style: Bold Measure</a:t>
            </a:r>
            <a:endParaRPr lang="en-US" sz="3800" dirty="0"/>
          </a:p>
        </p:txBody>
      </p:sp>
      <p:sp>
        <p:nvSpPr>
          <p:cNvPr id="3" name="Shape 1"/>
          <p:cNvSpPr/>
          <p:nvPr/>
        </p:nvSpPr>
        <p:spPr>
          <a:xfrm>
            <a:off x="548640" y="1463040"/>
            <a:ext cx="2194560" cy="1645920"/>
          </a:xfrm>
          <a:prstGeom prst="roundRect">
            <a:avLst>
              <a:gd name="adj" fmla="val 5556"/>
            </a:avLst>
          </a:prstGeom>
          <a:solidFill>
            <a:srgbClr val="F6F4EF"/>
          </a:solidFill>
          <a:ln w="12700">
            <a:solidFill>
              <a:srgbClr val="C9C5BB"/>
            </a:solidFill>
            <a:prstDash val="solid"/>
          </a:ln>
        </p:spPr>
      </p:sp>
      <p:sp>
        <p:nvSpPr>
          <p:cNvPr id="4" name="Text 2"/>
          <p:cNvSpPr txBox="1"/>
          <p:nvPr/>
        </p:nvSpPr>
        <p:spPr>
          <a:xfrm>
            <a:off x="731520" y="2377440"/>
            <a:ext cx="1828800" cy="320040"/>
          </a:xfrm>
          <a:prstGeom prst="rect">
            <a:avLst/>
          </a:prstGeom>
          <a:noFill/>
          <a:ln/>
        </p:spPr>
        <p:txBody>
          <a:bodyPr wrap="square" lIns="0" tIns="0" rIns="0" bIns="0" rtlCol="0" anchor="t"/>
          <a:lstStyle/>
          <a:p>
            <a:pPr indent="0" marL="0">
              <a:buNone/>
            </a:pPr>
            <a:r>
              <a:rPr lang="en-US" sz="1600" b="1" dirty="0">
                <a:solidFill>
                  <a:srgbClr val="141414"/>
                </a:solidFill>
                <a:latin typeface="Arial" pitchFamily="34" charset="0"/>
                <a:ea typeface="Arial" pitchFamily="34" charset="-122"/>
                <a:cs typeface="Arial" pitchFamily="34" charset="-120"/>
              </a:rPr>
              <a:t>Paper</a:t>
            </a:r>
            <a:endParaRPr lang="en-US" sz="1600" dirty="0"/>
          </a:p>
        </p:txBody>
      </p:sp>
      <p:sp>
        <p:nvSpPr>
          <p:cNvPr id="5" name="Text 3"/>
          <p:cNvSpPr txBox="1"/>
          <p:nvPr/>
        </p:nvSpPr>
        <p:spPr>
          <a:xfrm>
            <a:off x="731520" y="2724912"/>
            <a:ext cx="1828800" cy="274320"/>
          </a:xfrm>
          <a:prstGeom prst="rect">
            <a:avLst/>
          </a:prstGeom>
          <a:noFill/>
          <a:ln/>
        </p:spPr>
        <p:txBody>
          <a:bodyPr wrap="square" lIns="0" tIns="0" rIns="0" bIns="0" rtlCol="0" anchor="t"/>
          <a:lstStyle/>
          <a:p>
            <a:pPr indent="0" marL="0">
              <a:buNone/>
            </a:pPr>
            <a:r>
              <a:rPr lang="en-US" sz="1200" dirty="0">
                <a:solidFill>
                  <a:srgbClr val="141414"/>
                </a:solidFill>
                <a:latin typeface="Arial" pitchFamily="34" charset="0"/>
                <a:ea typeface="Arial" pitchFamily="34" charset="-122"/>
                <a:cs typeface="Arial" pitchFamily="34" charset="-120"/>
              </a:rPr>
              <a:t>#F6F4EF</a:t>
            </a:r>
            <a:endParaRPr lang="en-US" sz="1200" dirty="0"/>
          </a:p>
        </p:txBody>
      </p:sp>
      <p:sp>
        <p:nvSpPr>
          <p:cNvPr id="6" name="Shape 4"/>
          <p:cNvSpPr/>
          <p:nvPr/>
        </p:nvSpPr>
        <p:spPr>
          <a:xfrm>
            <a:off x="2926080" y="1463040"/>
            <a:ext cx="2194560" cy="1645920"/>
          </a:xfrm>
          <a:prstGeom prst="roundRect">
            <a:avLst>
              <a:gd name="adj" fmla="val 5556"/>
            </a:avLst>
          </a:prstGeom>
          <a:solidFill>
            <a:srgbClr val="141414"/>
          </a:solidFill>
          <a:ln w="12700">
            <a:solidFill>
              <a:srgbClr val="C9C5BB"/>
            </a:solidFill>
            <a:prstDash val="solid"/>
          </a:ln>
        </p:spPr>
      </p:sp>
      <p:sp>
        <p:nvSpPr>
          <p:cNvPr id="7" name="Text 5"/>
          <p:cNvSpPr txBox="1"/>
          <p:nvPr/>
        </p:nvSpPr>
        <p:spPr>
          <a:xfrm>
            <a:off x="3108960" y="2377440"/>
            <a:ext cx="1828800" cy="320040"/>
          </a:xfrm>
          <a:prstGeom prst="rect">
            <a:avLst/>
          </a:prstGeom>
          <a:noFill/>
          <a:ln/>
        </p:spPr>
        <p:txBody>
          <a:bodyPr wrap="square" lIns="0" tIns="0" rIns="0" bIns="0" rtlCol="0" anchor="t"/>
          <a:lstStyle/>
          <a:p>
            <a:pPr indent="0" marL="0">
              <a:buNone/>
            </a:pPr>
            <a:r>
              <a:rPr lang="en-US" sz="1600" b="1" dirty="0">
                <a:solidFill>
                  <a:srgbClr val="F6F4EF"/>
                </a:solidFill>
                <a:latin typeface="Arial" pitchFamily="34" charset="0"/>
                <a:ea typeface="Arial" pitchFamily="34" charset="-122"/>
                <a:cs typeface="Arial" pitchFamily="34" charset="-120"/>
              </a:rPr>
              <a:t>Ink</a:t>
            </a:r>
            <a:endParaRPr lang="en-US" sz="1600" dirty="0"/>
          </a:p>
        </p:txBody>
      </p:sp>
      <p:sp>
        <p:nvSpPr>
          <p:cNvPr id="8" name="Text 6"/>
          <p:cNvSpPr txBox="1"/>
          <p:nvPr/>
        </p:nvSpPr>
        <p:spPr>
          <a:xfrm>
            <a:off x="3108960" y="2724912"/>
            <a:ext cx="1828800" cy="274320"/>
          </a:xfrm>
          <a:prstGeom prst="rect">
            <a:avLst/>
          </a:prstGeom>
          <a:noFill/>
          <a:ln/>
        </p:spPr>
        <p:txBody>
          <a:bodyPr wrap="square" lIns="0" tIns="0" rIns="0" bIns="0" rtlCol="0" anchor="t"/>
          <a:lstStyle/>
          <a:p>
            <a:pPr indent="0" marL="0">
              <a:buNone/>
            </a:pPr>
            <a:r>
              <a:rPr lang="en-US" sz="1200" dirty="0">
                <a:solidFill>
                  <a:srgbClr val="F6F4EF"/>
                </a:solidFill>
                <a:latin typeface="Arial" pitchFamily="34" charset="0"/>
                <a:ea typeface="Arial" pitchFamily="34" charset="-122"/>
                <a:cs typeface="Arial" pitchFamily="34" charset="-120"/>
              </a:rPr>
              <a:t>#141414</a:t>
            </a:r>
            <a:endParaRPr lang="en-US" sz="1200" dirty="0"/>
          </a:p>
        </p:txBody>
      </p:sp>
      <p:sp>
        <p:nvSpPr>
          <p:cNvPr id="9" name="Shape 7"/>
          <p:cNvSpPr/>
          <p:nvPr/>
        </p:nvSpPr>
        <p:spPr>
          <a:xfrm>
            <a:off x="548640" y="3291840"/>
            <a:ext cx="2194560" cy="1645920"/>
          </a:xfrm>
          <a:prstGeom prst="roundRect">
            <a:avLst>
              <a:gd name="adj" fmla="val 5556"/>
            </a:avLst>
          </a:prstGeom>
          <a:solidFill>
            <a:srgbClr val="FF5A1F"/>
          </a:solidFill>
          <a:ln w="12700">
            <a:solidFill>
              <a:srgbClr val="C9C5BB"/>
            </a:solidFill>
            <a:prstDash val="solid"/>
          </a:ln>
        </p:spPr>
      </p:sp>
      <p:sp>
        <p:nvSpPr>
          <p:cNvPr id="10" name="Text 8"/>
          <p:cNvSpPr txBox="1"/>
          <p:nvPr/>
        </p:nvSpPr>
        <p:spPr>
          <a:xfrm>
            <a:off x="731520" y="4206240"/>
            <a:ext cx="1828800" cy="320040"/>
          </a:xfrm>
          <a:prstGeom prst="rect">
            <a:avLst/>
          </a:prstGeom>
          <a:noFill/>
          <a:ln/>
        </p:spPr>
        <p:txBody>
          <a:bodyPr wrap="square" lIns="0" tIns="0" rIns="0" bIns="0" rtlCol="0" anchor="t"/>
          <a:lstStyle/>
          <a:p>
            <a:pPr indent="0" marL="0">
              <a:buNone/>
            </a:pPr>
            <a:r>
              <a:rPr lang="en-US" sz="1600" b="1" dirty="0">
                <a:solidFill>
                  <a:srgbClr val="141414"/>
                </a:solidFill>
                <a:latin typeface="Arial" pitchFamily="34" charset="0"/>
                <a:ea typeface="Arial" pitchFamily="34" charset="-122"/>
                <a:cs typeface="Arial" pitchFamily="34" charset="-120"/>
              </a:rPr>
              <a:t>Tangerine</a:t>
            </a:r>
            <a:endParaRPr lang="en-US" sz="1600" dirty="0"/>
          </a:p>
        </p:txBody>
      </p:sp>
      <p:sp>
        <p:nvSpPr>
          <p:cNvPr id="11" name="Text 9"/>
          <p:cNvSpPr txBox="1"/>
          <p:nvPr/>
        </p:nvSpPr>
        <p:spPr>
          <a:xfrm>
            <a:off x="731520" y="4553712"/>
            <a:ext cx="1828800" cy="274320"/>
          </a:xfrm>
          <a:prstGeom prst="rect">
            <a:avLst/>
          </a:prstGeom>
          <a:noFill/>
          <a:ln/>
        </p:spPr>
        <p:txBody>
          <a:bodyPr wrap="square" lIns="0" tIns="0" rIns="0" bIns="0" rtlCol="0" anchor="t"/>
          <a:lstStyle/>
          <a:p>
            <a:pPr indent="0" marL="0">
              <a:buNone/>
            </a:pPr>
            <a:r>
              <a:rPr lang="en-US" sz="1200" dirty="0">
                <a:solidFill>
                  <a:srgbClr val="141414"/>
                </a:solidFill>
                <a:latin typeface="Arial" pitchFamily="34" charset="0"/>
                <a:ea typeface="Arial" pitchFamily="34" charset="-122"/>
                <a:cs typeface="Arial" pitchFamily="34" charset="-120"/>
              </a:rPr>
              <a:t>#FF5A1F</a:t>
            </a:r>
            <a:endParaRPr lang="en-US" sz="1200" dirty="0"/>
          </a:p>
        </p:txBody>
      </p:sp>
      <p:sp>
        <p:nvSpPr>
          <p:cNvPr id="12" name="Shape 10"/>
          <p:cNvSpPr/>
          <p:nvPr/>
        </p:nvSpPr>
        <p:spPr>
          <a:xfrm>
            <a:off x="2926080" y="3291840"/>
            <a:ext cx="2194560" cy="1645920"/>
          </a:xfrm>
          <a:prstGeom prst="roundRect">
            <a:avLst>
              <a:gd name="adj" fmla="val 5556"/>
            </a:avLst>
          </a:prstGeom>
          <a:solidFill>
            <a:srgbClr val="C6F25B"/>
          </a:solidFill>
          <a:ln w="12700">
            <a:solidFill>
              <a:srgbClr val="C9C5BB"/>
            </a:solidFill>
            <a:prstDash val="solid"/>
          </a:ln>
        </p:spPr>
      </p:sp>
      <p:sp>
        <p:nvSpPr>
          <p:cNvPr id="13" name="Text 11"/>
          <p:cNvSpPr txBox="1"/>
          <p:nvPr/>
        </p:nvSpPr>
        <p:spPr>
          <a:xfrm>
            <a:off x="3108960" y="4206240"/>
            <a:ext cx="1828800" cy="320040"/>
          </a:xfrm>
          <a:prstGeom prst="rect">
            <a:avLst/>
          </a:prstGeom>
          <a:noFill/>
          <a:ln/>
        </p:spPr>
        <p:txBody>
          <a:bodyPr wrap="square" lIns="0" tIns="0" rIns="0" bIns="0" rtlCol="0" anchor="t"/>
          <a:lstStyle/>
          <a:p>
            <a:pPr indent="0" marL="0">
              <a:buNone/>
            </a:pPr>
            <a:r>
              <a:rPr lang="en-US" sz="1600" b="1" dirty="0">
                <a:solidFill>
                  <a:srgbClr val="141414"/>
                </a:solidFill>
                <a:latin typeface="Arial" pitchFamily="34" charset="0"/>
                <a:ea typeface="Arial" pitchFamily="34" charset="-122"/>
                <a:cs typeface="Arial" pitchFamily="34" charset="-120"/>
              </a:rPr>
              <a:t>Lime</a:t>
            </a:r>
            <a:endParaRPr lang="en-US" sz="1600" dirty="0"/>
          </a:p>
        </p:txBody>
      </p:sp>
      <p:sp>
        <p:nvSpPr>
          <p:cNvPr id="14" name="Text 12"/>
          <p:cNvSpPr txBox="1"/>
          <p:nvPr/>
        </p:nvSpPr>
        <p:spPr>
          <a:xfrm>
            <a:off x="3108960" y="4553712"/>
            <a:ext cx="1828800" cy="274320"/>
          </a:xfrm>
          <a:prstGeom prst="rect">
            <a:avLst/>
          </a:prstGeom>
          <a:noFill/>
          <a:ln/>
        </p:spPr>
        <p:txBody>
          <a:bodyPr wrap="square" lIns="0" tIns="0" rIns="0" bIns="0" rtlCol="0" anchor="t"/>
          <a:lstStyle/>
          <a:p>
            <a:pPr indent="0" marL="0">
              <a:buNone/>
            </a:pPr>
            <a:r>
              <a:rPr lang="en-US" sz="1200" dirty="0">
                <a:solidFill>
                  <a:srgbClr val="141414"/>
                </a:solidFill>
                <a:latin typeface="Arial" pitchFamily="34" charset="0"/>
                <a:ea typeface="Arial" pitchFamily="34" charset="-122"/>
                <a:cs typeface="Arial" pitchFamily="34" charset="-120"/>
              </a:rPr>
              <a:t>#C6F25B</a:t>
            </a:r>
            <a:endParaRPr lang="en-US" sz="1200" dirty="0"/>
          </a:p>
        </p:txBody>
      </p:sp>
      <p:sp>
        <p:nvSpPr>
          <p:cNvPr id="15" name="Text 13"/>
          <p:cNvSpPr txBox="1"/>
          <p:nvPr/>
        </p:nvSpPr>
        <p:spPr>
          <a:xfrm>
            <a:off x="548640" y="5212080"/>
            <a:ext cx="4572000" cy="73152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Aa 178 cm</a:t>
            </a:r>
            <a:endParaRPr lang="en-US" sz="4000" dirty="0"/>
          </a:p>
        </p:txBody>
      </p:sp>
      <p:sp>
        <p:nvSpPr>
          <p:cNvPr id="16" name="Text 14"/>
          <p:cNvSpPr txBox="1"/>
          <p:nvPr/>
        </p:nvSpPr>
        <p:spPr>
          <a:xfrm>
            <a:off x="548640" y="5943600"/>
            <a:ext cx="4572000" cy="54864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Clash Display headings, General Sans body. Rulers, silhouettes, big numbers.</a:t>
            </a:r>
            <a:endParaRPr lang="en-US" sz="1400" dirty="0"/>
          </a:p>
        </p:txBody>
      </p:sp>
      <p:pic>
        <p:nvPicPr>
          <p:cNvPr id="17" name="Image 0" descr="C:\Users\aksuc\Desktop\proje_odev\design\tools\deliverables\deck\img/style_crop.png">    </p:cNvPr>
          <p:cNvPicPr>
            <a:picLocks noChangeAspect="1"/>
          </p:cNvPicPr>
          <p:nvPr/>
        </p:nvPicPr>
        <p:blipFill>
          <a:blip r:embed="rId1"/>
          <a:srcRect l="0" r="0" t="0" b="0"/>
          <a:stretch/>
        </p:blipFill>
        <p:spPr>
          <a:xfrm>
            <a:off x="6583680" y="1325880"/>
            <a:ext cx="5120640" cy="5120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3800" b="1" dirty="0">
                <a:solidFill>
                  <a:srgbClr val="141414"/>
                </a:solidFill>
                <a:latin typeface="Arial" pitchFamily="34" charset="0"/>
                <a:ea typeface="Arial" pitchFamily="34" charset="-122"/>
                <a:cs typeface="Arial" pitchFamily="34" charset="-120"/>
              </a:rPr>
              <a:t>The slice: 13 screens, one flow</a:t>
            </a:r>
            <a:endParaRPr lang="en-US" sz="3800" dirty="0"/>
          </a:p>
        </p:txBody>
      </p:sp>
      <p:pic>
        <p:nvPicPr>
          <p:cNvPr id="3" name="Image 0" descr="C:\Users\aksuc\Desktop\proje_odev\design\export/board-ours.png">    </p:cNvPr>
          <p:cNvPicPr>
            <a:picLocks noChangeAspect="1"/>
          </p:cNvPicPr>
          <p:nvPr/>
        </p:nvPicPr>
        <p:blipFill>
          <a:blip r:embed="rId1"/>
          <a:stretch>
            <a:fillRect/>
          </a:stretch>
        </p:blipFill>
        <p:spPr>
          <a:xfrm>
            <a:off x="365760" y="1325880"/>
            <a:ext cx="11457432" cy="2238018"/>
          </a:xfrm>
          <a:prstGeom prst="rect">
            <a:avLst/>
          </a:prstGeom>
        </p:spPr>
      </p:pic>
      <p:sp>
        <p:nvSpPr>
          <p:cNvPr id="4" name="Shape 1"/>
          <p:cNvSpPr/>
          <p:nvPr/>
        </p:nvSpPr>
        <p:spPr>
          <a:xfrm>
            <a:off x="548640" y="4023360"/>
            <a:ext cx="2560320" cy="1188720"/>
          </a:xfrm>
          <a:prstGeom prst="roundRect">
            <a:avLst>
              <a:gd name="adj" fmla="val 42308"/>
            </a:avLst>
          </a:prstGeom>
          <a:solidFill>
            <a:srgbClr val="141414"/>
          </a:solidFill>
          <a:ln/>
        </p:spPr>
      </p:sp>
      <p:sp>
        <p:nvSpPr>
          <p:cNvPr id="5" name="Text 2"/>
          <p:cNvSpPr txBox="1"/>
          <p:nvPr/>
        </p:nvSpPr>
        <p:spPr>
          <a:xfrm>
            <a:off x="548640" y="4023360"/>
            <a:ext cx="2560320" cy="1188720"/>
          </a:xfrm>
          <a:prstGeom prst="rect">
            <a:avLst/>
          </a:prstGeom>
          <a:noFill/>
          <a:ln/>
        </p:spPr>
        <p:txBody>
          <a:bodyPr wrap="square" lIns="0" tIns="0" rIns="0" bIns="0" rtlCol="0" anchor="ctr"/>
          <a:lstStyle/>
          <a:p>
            <a:pPr algn="ctr" indent="0" marL="0">
              <a:buNone/>
            </a:pPr>
            <a:r>
              <a:rPr lang="en-US" sz="2000" b="1" dirty="0">
                <a:solidFill>
                  <a:srgbClr val="F6F4EF"/>
                </a:solidFill>
                <a:latin typeface="Arial" pitchFamily="34" charset="0"/>
                <a:ea typeface="Arial" pitchFamily="34" charset="-122"/>
                <a:cs typeface="Arial" pitchFamily="34" charset="-120"/>
              </a:rPr>
              <a:t>4 questions</a:t>
            </a:r>
            <a:endParaRPr lang="en-US" sz="2000" dirty="0"/>
          </a:p>
        </p:txBody>
      </p:sp>
      <p:sp>
        <p:nvSpPr>
          <p:cNvPr id="6" name="Text 3"/>
          <p:cNvSpPr txBox="1"/>
          <p:nvPr/>
        </p:nvSpPr>
        <p:spPr>
          <a:xfrm>
            <a:off x="3108960" y="4023360"/>
            <a:ext cx="274320" cy="1188720"/>
          </a:xfrm>
          <a:prstGeom prst="rect">
            <a:avLst/>
          </a:prstGeom>
          <a:noFill/>
          <a:ln/>
        </p:spPr>
        <p:txBody>
          <a:bodyPr wrap="square" lIns="0" tIns="0" rIns="0" bIns="0" rtlCol="0" anchor="ctr"/>
          <a:lstStyle/>
          <a:p>
            <a:pPr algn="ctr" indent="0" marL="0">
              <a:buNone/>
            </a:pPr>
            <a:r>
              <a:rPr lang="en-US" sz="2400" b="1" dirty="0">
                <a:solidFill>
                  <a:srgbClr val="6B6B6B"/>
                </a:solidFill>
                <a:latin typeface="Arial" pitchFamily="34" charset="0"/>
                <a:ea typeface="Arial" pitchFamily="34" charset="-122"/>
                <a:cs typeface="Arial" pitchFamily="34" charset="-120"/>
              </a:rPr>
              <a:t>&gt;</a:t>
            </a:r>
            <a:endParaRPr lang="en-US" sz="2400" dirty="0"/>
          </a:p>
        </p:txBody>
      </p:sp>
      <p:sp>
        <p:nvSpPr>
          <p:cNvPr id="7" name="Shape 4"/>
          <p:cNvSpPr/>
          <p:nvPr/>
        </p:nvSpPr>
        <p:spPr>
          <a:xfrm>
            <a:off x="3383280" y="4023360"/>
            <a:ext cx="2560320" cy="1188720"/>
          </a:xfrm>
          <a:prstGeom prst="roundRect">
            <a:avLst>
              <a:gd name="adj" fmla="val 42308"/>
            </a:avLst>
          </a:prstGeom>
          <a:solidFill>
            <a:srgbClr val="C6F25B"/>
          </a:solidFill>
          <a:ln/>
        </p:spPr>
      </p:sp>
      <p:sp>
        <p:nvSpPr>
          <p:cNvPr id="8" name="Text 5"/>
          <p:cNvSpPr txBox="1"/>
          <p:nvPr/>
        </p:nvSpPr>
        <p:spPr>
          <a:xfrm>
            <a:off x="3383280" y="4023360"/>
            <a:ext cx="2560320" cy="1188720"/>
          </a:xfrm>
          <a:prstGeom prst="rect">
            <a:avLst/>
          </a:prstGeom>
          <a:noFill/>
          <a:ln/>
        </p:spPr>
        <p:txBody>
          <a:bodyPr wrap="square" lIns="0" tIns="0" rIns="0" bIns="0" rtlCol="0" anchor="ctr"/>
          <a:lstStyle/>
          <a:p>
            <a:pPr algn="ctr" indent="0" marL="0">
              <a:buNone/>
            </a:pPr>
            <a:r>
              <a:rPr lang="en-US" sz="2000" b="1" dirty="0">
                <a:solidFill>
                  <a:srgbClr val="141414"/>
                </a:solidFill>
                <a:latin typeface="Arial" pitchFamily="34" charset="0"/>
                <a:ea typeface="Arial" pitchFamily="34" charset="-122"/>
                <a:cs typeface="Arial" pitchFamily="34" charset="-120"/>
              </a:rPr>
              <a:t>Free result</a:t>
            </a:r>
            <a:endParaRPr lang="en-US" sz="2000" dirty="0"/>
          </a:p>
        </p:txBody>
      </p:sp>
      <p:sp>
        <p:nvSpPr>
          <p:cNvPr id="9" name="Text 6"/>
          <p:cNvSpPr txBox="1"/>
          <p:nvPr/>
        </p:nvSpPr>
        <p:spPr>
          <a:xfrm>
            <a:off x="5943600" y="4023360"/>
            <a:ext cx="274320" cy="1188720"/>
          </a:xfrm>
          <a:prstGeom prst="rect">
            <a:avLst/>
          </a:prstGeom>
          <a:noFill/>
          <a:ln/>
        </p:spPr>
        <p:txBody>
          <a:bodyPr wrap="square" lIns="0" tIns="0" rIns="0" bIns="0" rtlCol="0" anchor="ctr"/>
          <a:lstStyle/>
          <a:p>
            <a:pPr algn="ctr" indent="0" marL="0">
              <a:buNone/>
            </a:pPr>
            <a:r>
              <a:rPr lang="en-US" sz="2400" b="1" dirty="0">
                <a:solidFill>
                  <a:srgbClr val="6B6B6B"/>
                </a:solidFill>
                <a:latin typeface="Arial" pitchFamily="34" charset="0"/>
                <a:ea typeface="Arial" pitchFamily="34" charset="-122"/>
                <a:cs typeface="Arial" pitchFamily="34" charset="-120"/>
              </a:rPr>
              <a:t>&gt;</a:t>
            </a:r>
            <a:endParaRPr lang="en-US" sz="2400" dirty="0"/>
          </a:p>
        </p:txBody>
      </p:sp>
      <p:sp>
        <p:nvSpPr>
          <p:cNvPr id="10" name="Shape 7"/>
          <p:cNvSpPr/>
          <p:nvPr/>
        </p:nvSpPr>
        <p:spPr>
          <a:xfrm>
            <a:off x="6217920" y="4023360"/>
            <a:ext cx="2560320" cy="1188720"/>
          </a:xfrm>
          <a:prstGeom prst="roundRect">
            <a:avLst>
              <a:gd name="adj" fmla="val 42308"/>
            </a:avLst>
          </a:prstGeom>
          <a:solidFill>
            <a:srgbClr val="141414"/>
          </a:solidFill>
          <a:ln/>
        </p:spPr>
      </p:sp>
      <p:sp>
        <p:nvSpPr>
          <p:cNvPr id="11" name="Text 8"/>
          <p:cNvSpPr txBox="1"/>
          <p:nvPr/>
        </p:nvSpPr>
        <p:spPr>
          <a:xfrm>
            <a:off x="6217920" y="4023360"/>
            <a:ext cx="2560320" cy="1188720"/>
          </a:xfrm>
          <a:prstGeom prst="rect">
            <a:avLst/>
          </a:prstGeom>
          <a:noFill/>
          <a:ln/>
        </p:spPr>
        <p:txBody>
          <a:bodyPr wrap="square" lIns="0" tIns="0" rIns="0" bIns="0" rtlCol="0" anchor="ctr"/>
          <a:lstStyle/>
          <a:p>
            <a:pPr algn="ctr" indent="0" marL="0">
              <a:buNone/>
            </a:pPr>
            <a:r>
              <a:rPr lang="en-US" sz="2000" b="1" dirty="0">
                <a:solidFill>
                  <a:srgbClr val="F6F4EF"/>
                </a:solidFill>
                <a:latin typeface="Arial" pitchFamily="34" charset="0"/>
                <a:ea typeface="Arial" pitchFamily="34" charset="-122"/>
                <a:cs typeface="Arial" pitchFamily="34" charset="-120"/>
              </a:rPr>
              <a:t>Plan</a:t>
            </a:r>
            <a:endParaRPr lang="en-US" sz="2000" dirty="0"/>
          </a:p>
        </p:txBody>
      </p:sp>
      <p:sp>
        <p:nvSpPr>
          <p:cNvPr id="12" name="Text 9"/>
          <p:cNvSpPr txBox="1"/>
          <p:nvPr/>
        </p:nvSpPr>
        <p:spPr>
          <a:xfrm>
            <a:off x="8778240" y="4023360"/>
            <a:ext cx="274320" cy="1188720"/>
          </a:xfrm>
          <a:prstGeom prst="rect">
            <a:avLst/>
          </a:prstGeom>
          <a:noFill/>
          <a:ln/>
        </p:spPr>
        <p:txBody>
          <a:bodyPr wrap="square" lIns="0" tIns="0" rIns="0" bIns="0" rtlCol="0" anchor="ctr"/>
          <a:lstStyle/>
          <a:p>
            <a:pPr algn="ctr" indent="0" marL="0">
              <a:buNone/>
            </a:pPr>
            <a:r>
              <a:rPr lang="en-US" sz="2400" b="1" dirty="0">
                <a:solidFill>
                  <a:srgbClr val="6B6B6B"/>
                </a:solidFill>
                <a:latin typeface="Arial" pitchFamily="34" charset="0"/>
                <a:ea typeface="Arial" pitchFamily="34" charset="-122"/>
                <a:cs typeface="Arial" pitchFamily="34" charset="-120"/>
              </a:rPr>
              <a:t>&gt;</a:t>
            </a:r>
            <a:endParaRPr lang="en-US" sz="2400" dirty="0"/>
          </a:p>
        </p:txBody>
      </p:sp>
      <p:sp>
        <p:nvSpPr>
          <p:cNvPr id="13" name="Shape 10"/>
          <p:cNvSpPr/>
          <p:nvPr/>
        </p:nvSpPr>
        <p:spPr>
          <a:xfrm>
            <a:off x="9052560" y="4023360"/>
            <a:ext cx="2560320" cy="1188720"/>
          </a:xfrm>
          <a:prstGeom prst="roundRect">
            <a:avLst>
              <a:gd name="adj" fmla="val 42308"/>
            </a:avLst>
          </a:prstGeom>
          <a:solidFill>
            <a:srgbClr val="FF5A1F"/>
          </a:solidFill>
          <a:ln/>
        </p:spPr>
      </p:sp>
      <p:sp>
        <p:nvSpPr>
          <p:cNvPr id="14" name="Text 11"/>
          <p:cNvSpPr txBox="1"/>
          <p:nvPr/>
        </p:nvSpPr>
        <p:spPr>
          <a:xfrm>
            <a:off x="9052560" y="4023360"/>
            <a:ext cx="2560320" cy="1188720"/>
          </a:xfrm>
          <a:prstGeom prst="rect">
            <a:avLst/>
          </a:prstGeom>
          <a:noFill/>
          <a:ln/>
        </p:spPr>
        <p:txBody>
          <a:bodyPr wrap="square" lIns="0" tIns="0" rIns="0" bIns="0" rtlCol="0" anchor="ctr"/>
          <a:lstStyle/>
          <a:p>
            <a:pPr algn="ctr" indent="0" marL="0">
              <a:buNone/>
            </a:pPr>
            <a:r>
              <a:rPr lang="en-US" sz="2000" b="1" dirty="0">
                <a:solidFill>
                  <a:srgbClr val="141414"/>
                </a:solidFill>
                <a:latin typeface="Arial" pitchFamily="34" charset="0"/>
                <a:ea typeface="Arial" pitchFamily="34" charset="-122"/>
                <a:cs typeface="Arial" pitchFamily="34" charset="-120"/>
              </a:rPr>
              <a:t>Honest paywall</a:t>
            </a:r>
            <a:endParaRPr lang="en-US" sz="2000" dirty="0"/>
          </a:p>
        </p:txBody>
      </p:sp>
      <p:sp>
        <p:nvSpPr>
          <p:cNvPr id="15" name="Text 12"/>
          <p:cNvSpPr txBox="1"/>
          <p:nvPr/>
        </p:nvSpPr>
        <p:spPr>
          <a:xfrm>
            <a:off x="548640" y="5577840"/>
            <a:ext cx="10972800" cy="45720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Promise, goal, about, height, parents, building, reveal, habits, plan, priming, paywall, welcome, home.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4"/>
        </a:solidFill>
      </p:bgPr>
    </p:bg>
    <p:spTree>
      <p:nvGrpSpPr>
        <p:cNvPr id="1" name=""/>
        <p:cNvGrpSpPr/>
        <p:nvPr/>
      </p:nvGrpSpPr>
      <p:grpSpPr>
        <a:xfrm>
          <a:off x="0" y="0"/>
          <a:ext cx="0" cy="0"/>
          <a:chOff x="0" y="0"/>
          <a:chExt cx="0" cy="0"/>
        </a:xfrm>
      </p:grpSpPr>
      <p:sp>
        <p:nvSpPr>
          <p:cNvPr id="2" name="Text 0"/>
          <p:cNvSpPr txBox="1"/>
          <p:nvPr/>
        </p:nvSpPr>
        <p:spPr>
          <a:xfrm>
            <a:off x="731520" y="1645920"/>
            <a:ext cx="10698480" cy="1645920"/>
          </a:xfrm>
          <a:prstGeom prst="rect">
            <a:avLst/>
          </a:prstGeom>
          <a:noFill/>
          <a:ln/>
        </p:spPr>
        <p:txBody>
          <a:bodyPr wrap="square" lIns="0" tIns="0" rIns="0" bIns="0" rtlCol="0" anchor="t"/>
          <a:lstStyle/>
          <a:p>
            <a:pPr indent="0" marL="0">
              <a:buNone/>
            </a:pPr>
            <a:r>
              <a:rPr lang="en-US" sz="9600" b="1" dirty="0">
                <a:solidFill>
                  <a:srgbClr val="FF5A1F"/>
                </a:solidFill>
                <a:latin typeface="Arial" pitchFamily="34" charset="0"/>
                <a:ea typeface="Arial" pitchFamily="34" charset="-122"/>
                <a:cs typeface="Arial" pitchFamily="34" charset="-120"/>
              </a:rPr>
              <a:t>LIVE DEMO</a:t>
            </a:r>
            <a:endParaRPr lang="en-US" sz="9600" dirty="0"/>
          </a:p>
        </p:txBody>
      </p:sp>
      <p:sp>
        <p:nvSpPr>
          <p:cNvPr id="3" name="Text 1"/>
          <p:cNvSpPr txBox="1"/>
          <p:nvPr/>
        </p:nvSpPr>
        <p:spPr>
          <a:xfrm>
            <a:off x="731520" y="3657600"/>
            <a:ext cx="10698480" cy="1097280"/>
          </a:xfrm>
          <a:prstGeom prst="rect">
            <a:avLst/>
          </a:prstGeom>
          <a:noFill/>
          <a:ln/>
        </p:spPr>
        <p:txBody>
          <a:bodyPr wrap="square" lIns="0" tIns="0" rIns="0" bIns="0" rtlCol="0" anchor="t"/>
          <a:lstStyle/>
          <a:p>
            <a:pPr indent="0" marL="0">
              <a:buNone/>
            </a:pPr>
            <a:r>
              <a:rPr lang="en-US" sz="4400" b="1" dirty="0">
                <a:solidFill>
                  <a:srgbClr val="F6F4EF"/>
                </a:solidFill>
                <a:latin typeface="Arial" pitchFamily="34" charset="0"/>
                <a:ea typeface="Arial" pitchFamily="34" charset="-122"/>
                <a:cs typeface="Arial" pitchFamily="34" charset="-120"/>
              </a:rPr>
              <a:t>A classmate does the onboarding cold</a:t>
            </a:r>
            <a:endParaRPr lang="en-US" sz="4400" dirty="0"/>
          </a:p>
        </p:txBody>
      </p:sp>
      <p:sp>
        <p:nvSpPr>
          <p:cNvPr id="4" name="Shape 2"/>
          <p:cNvSpPr/>
          <p:nvPr/>
        </p:nvSpPr>
        <p:spPr>
          <a:xfrm>
            <a:off x="731520" y="5486400"/>
            <a:ext cx="10698480" cy="109728"/>
          </a:xfrm>
          <a:prstGeom prst="rect">
            <a:avLst/>
          </a:prstGeom>
          <a:solidFill>
            <a:srgbClr val="C6F25B"/>
          </a:solidFill>
          <a:ln/>
        </p:spPr>
      </p:sp>
      <p:sp>
        <p:nvSpPr>
          <p:cNvPr id="5" name="Shape 3"/>
          <p:cNvSpPr/>
          <p:nvPr/>
        </p:nvSpPr>
        <p:spPr>
          <a:xfrm>
            <a:off x="722376" y="5596128"/>
            <a:ext cx="18288" cy="365760"/>
          </a:xfrm>
          <a:prstGeom prst="rect">
            <a:avLst/>
          </a:prstGeom>
          <a:solidFill>
            <a:srgbClr val="C6F25B"/>
          </a:solidFill>
          <a:ln/>
        </p:spPr>
      </p:sp>
      <p:sp>
        <p:nvSpPr>
          <p:cNvPr id="6" name="Shape 4"/>
          <p:cNvSpPr/>
          <p:nvPr/>
        </p:nvSpPr>
        <p:spPr>
          <a:xfrm>
            <a:off x="989838" y="5596128"/>
            <a:ext cx="18288" cy="201168"/>
          </a:xfrm>
          <a:prstGeom prst="rect">
            <a:avLst/>
          </a:prstGeom>
          <a:solidFill>
            <a:srgbClr val="C6F25B"/>
          </a:solidFill>
          <a:ln/>
        </p:spPr>
      </p:sp>
      <p:sp>
        <p:nvSpPr>
          <p:cNvPr id="7" name="Shape 5"/>
          <p:cNvSpPr/>
          <p:nvPr/>
        </p:nvSpPr>
        <p:spPr>
          <a:xfrm>
            <a:off x="1257300" y="5596128"/>
            <a:ext cx="18288" cy="201168"/>
          </a:xfrm>
          <a:prstGeom prst="rect">
            <a:avLst/>
          </a:prstGeom>
          <a:solidFill>
            <a:srgbClr val="C6F25B"/>
          </a:solidFill>
          <a:ln/>
        </p:spPr>
      </p:sp>
      <p:sp>
        <p:nvSpPr>
          <p:cNvPr id="8" name="Shape 6"/>
          <p:cNvSpPr/>
          <p:nvPr/>
        </p:nvSpPr>
        <p:spPr>
          <a:xfrm>
            <a:off x="1524762" y="5596128"/>
            <a:ext cx="18288" cy="201168"/>
          </a:xfrm>
          <a:prstGeom prst="rect">
            <a:avLst/>
          </a:prstGeom>
          <a:solidFill>
            <a:srgbClr val="C6F25B"/>
          </a:solidFill>
          <a:ln/>
        </p:spPr>
      </p:sp>
      <p:sp>
        <p:nvSpPr>
          <p:cNvPr id="9" name="Shape 7"/>
          <p:cNvSpPr/>
          <p:nvPr/>
        </p:nvSpPr>
        <p:spPr>
          <a:xfrm>
            <a:off x="1792224" y="5596128"/>
            <a:ext cx="18288" cy="201168"/>
          </a:xfrm>
          <a:prstGeom prst="rect">
            <a:avLst/>
          </a:prstGeom>
          <a:solidFill>
            <a:srgbClr val="C6F25B"/>
          </a:solidFill>
          <a:ln/>
        </p:spPr>
      </p:sp>
      <p:sp>
        <p:nvSpPr>
          <p:cNvPr id="10" name="Shape 8"/>
          <p:cNvSpPr/>
          <p:nvPr/>
        </p:nvSpPr>
        <p:spPr>
          <a:xfrm>
            <a:off x="2059686" y="5596128"/>
            <a:ext cx="18288" cy="365760"/>
          </a:xfrm>
          <a:prstGeom prst="rect">
            <a:avLst/>
          </a:prstGeom>
          <a:solidFill>
            <a:srgbClr val="C6F25B"/>
          </a:solidFill>
          <a:ln/>
        </p:spPr>
      </p:sp>
      <p:sp>
        <p:nvSpPr>
          <p:cNvPr id="11" name="Shape 9"/>
          <p:cNvSpPr/>
          <p:nvPr/>
        </p:nvSpPr>
        <p:spPr>
          <a:xfrm>
            <a:off x="2327148" y="5596128"/>
            <a:ext cx="18288" cy="201168"/>
          </a:xfrm>
          <a:prstGeom prst="rect">
            <a:avLst/>
          </a:prstGeom>
          <a:solidFill>
            <a:srgbClr val="C6F25B"/>
          </a:solidFill>
          <a:ln/>
        </p:spPr>
      </p:sp>
      <p:sp>
        <p:nvSpPr>
          <p:cNvPr id="12" name="Shape 10"/>
          <p:cNvSpPr/>
          <p:nvPr/>
        </p:nvSpPr>
        <p:spPr>
          <a:xfrm>
            <a:off x="2594610" y="5596128"/>
            <a:ext cx="18288" cy="201168"/>
          </a:xfrm>
          <a:prstGeom prst="rect">
            <a:avLst/>
          </a:prstGeom>
          <a:solidFill>
            <a:srgbClr val="C6F25B"/>
          </a:solidFill>
          <a:ln/>
        </p:spPr>
      </p:sp>
      <p:sp>
        <p:nvSpPr>
          <p:cNvPr id="13" name="Shape 11"/>
          <p:cNvSpPr/>
          <p:nvPr/>
        </p:nvSpPr>
        <p:spPr>
          <a:xfrm>
            <a:off x="2862072" y="5596128"/>
            <a:ext cx="18288" cy="201168"/>
          </a:xfrm>
          <a:prstGeom prst="rect">
            <a:avLst/>
          </a:prstGeom>
          <a:solidFill>
            <a:srgbClr val="C6F25B"/>
          </a:solidFill>
          <a:ln/>
        </p:spPr>
      </p:sp>
      <p:sp>
        <p:nvSpPr>
          <p:cNvPr id="14" name="Shape 12"/>
          <p:cNvSpPr/>
          <p:nvPr/>
        </p:nvSpPr>
        <p:spPr>
          <a:xfrm>
            <a:off x="3129534" y="5596128"/>
            <a:ext cx="18288" cy="201168"/>
          </a:xfrm>
          <a:prstGeom prst="rect">
            <a:avLst/>
          </a:prstGeom>
          <a:solidFill>
            <a:srgbClr val="C6F25B"/>
          </a:solidFill>
          <a:ln/>
        </p:spPr>
      </p:sp>
      <p:sp>
        <p:nvSpPr>
          <p:cNvPr id="15" name="Shape 13"/>
          <p:cNvSpPr/>
          <p:nvPr/>
        </p:nvSpPr>
        <p:spPr>
          <a:xfrm>
            <a:off x="3396996" y="5596128"/>
            <a:ext cx="18288" cy="365760"/>
          </a:xfrm>
          <a:prstGeom prst="rect">
            <a:avLst/>
          </a:prstGeom>
          <a:solidFill>
            <a:srgbClr val="C6F25B"/>
          </a:solidFill>
          <a:ln/>
        </p:spPr>
      </p:sp>
      <p:sp>
        <p:nvSpPr>
          <p:cNvPr id="16" name="Shape 14"/>
          <p:cNvSpPr/>
          <p:nvPr/>
        </p:nvSpPr>
        <p:spPr>
          <a:xfrm>
            <a:off x="3664458" y="5596128"/>
            <a:ext cx="18288" cy="201168"/>
          </a:xfrm>
          <a:prstGeom prst="rect">
            <a:avLst/>
          </a:prstGeom>
          <a:solidFill>
            <a:srgbClr val="C6F25B"/>
          </a:solidFill>
          <a:ln/>
        </p:spPr>
      </p:sp>
      <p:sp>
        <p:nvSpPr>
          <p:cNvPr id="17" name="Shape 15"/>
          <p:cNvSpPr/>
          <p:nvPr/>
        </p:nvSpPr>
        <p:spPr>
          <a:xfrm>
            <a:off x="3931920" y="5596128"/>
            <a:ext cx="18288" cy="201168"/>
          </a:xfrm>
          <a:prstGeom prst="rect">
            <a:avLst/>
          </a:prstGeom>
          <a:solidFill>
            <a:srgbClr val="C6F25B"/>
          </a:solidFill>
          <a:ln/>
        </p:spPr>
      </p:sp>
      <p:sp>
        <p:nvSpPr>
          <p:cNvPr id="18" name="Shape 16"/>
          <p:cNvSpPr/>
          <p:nvPr/>
        </p:nvSpPr>
        <p:spPr>
          <a:xfrm>
            <a:off x="4199382" y="5596128"/>
            <a:ext cx="18288" cy="201168"/>
          </a:xfrm>
          <a:prstGeom prst="rect">
            <a:avLst/>
          </a:prstGeom>
          <a:solidFill>
            <a:srgbClr val="C6F25B"/>
          </a:solidFill>
          <a:ln/>
        </p:spPr>
      </p:sp>
      <p:sp>
        <p:nvSpPr>
          <p:cNvPr id="19" name="Shape 17"/>
          <p:cNvSpPr/>
          <p:nvPr/>
        </p:nvSpPr>
        <p:spPr>
          <a:xfrm>
            <a:off x="4466844" y="5596128"/>
            <a:ext cx="18288" cy="201168"/>
          </a:xfrm>
          <a:prstGeom prst="rect">
            <a:avLst/>
          </a:prstGeom>
          <a:solidFill>
            <a:srgbClr val="C6F25B"/>
          </a:solidFill>
          <a:ln/>
        </p:spPr>
      </p:sp>
      <p:sp>
        <p:nvSpPr>
          <p:cNvPr id="20" name="Shape 18"/>
          <p:cNvSpPr/>
          <p:nvPr/>
        </p:nvSpPr>
        <p:spPr>
          <a:xfrm>
            <a:off x="4734306" y="5596128"/>
            <a:ext cx="18288" cy="365760"/>
          </a:xfrm>
          <a:prstGeom prst="rect">
            <a:avLst/>
          </a:prstGeom>
          <a:solidFill>
            <a:srgbClr val="C6F25B"/>
          </a:solidFill>
          <a:ln/>
        </p:spPr>
      </p:sp>
      <p:sp>
        <p:nvSpPr>
          <p:cNvPr id="21" name="Shape 19"/>
          <p:cNvSpPr/>
          <p:nvPr/>
        </p:nvSpPr>
        <p:spPr>
          <a:xfrm>
            <a:off x="5001768" y="5596128"/>
            <a:ext cx="18288" cy="201168"/>
          </a:xfrm>
          <a:prstGeom prst="rect">
            <a:avLst/>
          </a:prstGeom>
          <a:solidFill>
            <a:srgbClr val="C6F25B"/>
          </a:solidFill>
          <a:ln/>
        </p:spPr>
      </p:sp>
      <p:sp>
        <p:nvSpPr>
          <p:cNvPr id="22" name="Shape 20"/>
          <p:cNvSpPr/>
          <p:nvPr/>
        </p:nvSpPr>
        <p:spPr>
          <a:xfrm>
            <a:off x="5269230" y="5596128"/>
            <a:ext cx="18288" cy="201168"/>
          </a:xfrm>
          <a:prstGeom prst="rect">
            <a:avLst/>
          </a:prstGeom>
          <a:solidFill>
            <a:srgbClr val="C6F25B"/>
          </a:solidFill>
          <a:ln/>
        </p:spPr>
      </p:sp>
      <p:sp>
        <p:nvSpPr>
          <p:cNvPr id="23" name="Shape 21"/>
          <p:cNvSpPr/>
          <p:nvPr/>
        </p:nvSpPr>
        <p:spPr>
          <a:xfrm>
            <a:off x="5536692" y="5596128"/>
            <a:ext cx="18288" cy="201168"/>
          </a:xfrm>
          <a:prstGeom prst="rect">
            <a:avLst/>
          </a:prstGeom>
          <a:solidFill>
            <a:srgbClr val="C6F25B"/>
          </a:solidFill>
          <a:ln/>
        </p:spPr>
      </p:sp>
      <p:sp>
        <p:nvSpPr>
          <p:cNvPr id="24" name="Shape 22"/>
          <p:cNvSpPr/>
          <p:nvPr/>
        </p:nvSpPr>
        <p:spPr>
          <a:xfrm>
            <a:off x="5804154" y="5596128"/>
            <a:ext cx="18288" cy="201168"/>
          </a:xfrm>
          <a:prstGeom prst="rect">
            <a:avLst/>
          </a:prstGeom>
          <a:solidFill>
            <a:srgbClr val="C6F25B"/>
          </a:solidFill>
          <a:ln/>
        </p:spPr>
      </p:sp>
      <p:sp>
        <p:nvSpPr>
          <p:cNvPr id="25" name="Shape 23"/>
          <p:cNvSpPr/>
          <p:nvPr/>
        </p:nvSpPr>
        <p:spPr>
          <a:xfrm>
            <a:off x="6071616" y="5596128"/>
            <a:ext cx="18288" cy="365760"/>
          </a:xfrm>
          <a:prstGeom prst="rect">
            <a:avLst/>
          </a:prstGeom>
          <a:solidFill>
            <a:srgbClr val="C6F25B"/>
          </a:solidFill>
          <a:ln/>
        </p:spPr>
      </p:sp>
      <p:sp>
        <p:nvSpPr>
          <p:cNvPr id="26" name="Shape 24"/>
          <p:cNvSpPr/>
          <p:nvPr/>
        </p:nvSpPr>
        <p:spPr>
          <a:xfrm>
            <a:off x="6339078" y="5596128"/>
            <a:ext cx="18288" cy="201168"/>
          </a:xfrm>
          <a:prstGeom prst="rect">
            <a:avLst/>
          </a:prstGeom>
          <a:solidFill>
            <a:srgbClr val="C6F25B"/>
          </a:solidFill>
          <a:ln/>
        </p:spPr>
      </p:sp>
      <p:sp>
        <p:nvSpPr>
          <p:cNvPr id="27" name="Shape 25"/>
          <p:cNvSpPr/>
          <p:nvPr/>
        </p:nvSpPr>
        <p:spPr>
          <a:xfrm>
            <a:off x="6606540" y="5596128"/>
            <a:ext cx="18288" cy="201168"/>
          </a:xfrm>
          <a:prstGeom prst="rect">
            <a:avLst/>
          </a:prstGeom>
          <a:solidFill>
            <a:srgbClr val="C6F25B"/>
          </a:solidFill>
          <a:ln/>
        </p:spPr>
      </p:sp>
      <p:sp>
        <p:nvSpPr>
          <p:cNvPr id="28" name="Shape 26"/>
          <p:cNvSpPr/>
          <p:nvPr/>
        </p:nvSpPr>
        <p:spPr>
          <a:xfrm>
            <a:off x="6874002" y="5596128"/>
            <a:ext cx="18288" cy="201168"/>
          </a:xfrm>
          <a:prstGeom prst="rect">
            <a:avLst/>
          </a:prstGeom>
          <a:solidFill>
            <a:srgbClr val="C6F25B"/>
          </a:solidFill>
          <a:ln/>
        </p:spPr>
      </p:sp>
      <p:sp>
        <p:nvSpPr>
          <p:cNvPr id="29" name="Shape 27"/>
          <p:cNvSpPr/>
          <p:nvPr/>
        </p:nvSpPr>
        <p:spPr>
          <a:xfrm>
            <a:off x="7141464" y="5596128"/>
            <a:ext cx="18288" cy="201168"/>
          </a:xfrm>
          <a:prstGeom prst="rect">
            <a:avLst/>
          </a:prstGeom>
          <a:solidFill>
            <a:srgbClr val="C6F25B"/>
          </a:solidFill>
          <a:ln/>
        </p:spPr>
      </p:sp>
      <p:sp>
        <p:nvSpPr>
          <p:cNvPr id="30" name="Shape 28"/>
          <p:cNvSpPr/>
          <p:nvPr/>
        </p:nvSpPr>
        <p:spPr>
          <a:xfrm>
            <a:off x="7408926" y="5596128"/>
            <a:ext cx="18288" cy="365760"/>
          </a:xfrm>
          <a:prstGeom prst="rect">
            <a:avLst/>
          </a:prstGeom>
          <a:solidFill>
            <a:srgbClr val="C6F25B"/>
          </a:solidFill>
          <a:ln/>
        </p:spPr>
      </p:sp>
      <p:sp>
        <p:nvSpPr>
          <p:cNvPr id="31" name="Shape 29"/>
          <p:cNvSpPr/>
          <p:nvPr/>
        </p:nvSpPr>
        <p:spPr>
          <a:xfrm>
            <a:off x="7676388" y="5596128"/>
            <a:ext cx="18288" cy="201168"/>
          </a:xfrm>
          <a:prstGeom prst="rect">
            <a:avLst/>
          </a:prstGeom>
          <a:solidFill>
            <a:srgbClr val="C6F25B"/>
          </a:solidFill>
          <a:ln/>
        </p:spPr>
      </p:sp>
      <p:sp>
        <p:nvSpPr>
          <p:cNvPr id="32" name="Shape 30"/>
          <p:cNvSpPr/>
          <p:nvPr/>
        </p:nvSpPr>
        <p:spPr>
          <a:xfrm>
            <a:off x="7943850" y="5596128"/>
            <a:ext cx="18288" cy="201168"/>
          </a:xfrm>
          <a:prstGeom prst="rect">
            <a:avLst/>
          </a:prstGeom>
          <a:solidFill>
            <a:srgbClr val="C6F25B"/>
          </a:solidFill>
          <a:ln/>
        </p:spPr>
      </p:sp>
      <p:sp>
        <p:nvSpPr>
          <p:cNvPr id="33" name="Shape 31"/>
          <p:cNvSpPr/>
          <p:nvPr/>
        </p:nvSpPr>
        <p:spPr>
          <a:xfrm>
            <a:off x="8211312" y="5596128"/>
            <a:ext cx="18288" cy="201168"/>
          </a:xfrm>
          <a:prstGeom prst="rect">
            <a:avLst/>
          </a:prstGeom>
          <a:solidFill>
            <a:srgbClr val="C6F25B"/>
          </a:solidFill>
          <a:ln/>
        </p:spPr>
      </p:sp>
      <p:sp>
        <p:nvSpPr>
          <p:cNvPr id="34" name="Shape 32"/>
          <p:cNvSpPr/>
          <p:nvPr/>
        </p:nvSpPr>
        <p:spPr>
          <a:xfrm>
            <a:off x="8478774" y="5596128"/>
            <a:ext cx="18288" cy="201168"/>
          </a:xfrm>
          <a:prstGeom prst="rect">
            <a:avLst/>
          </a:prstGeom>
          <a:solidFill>
            <a:srgbClr val="C6F25B"/>
          </a:solidFill>
          <a:ln/>
        </p:spPr>
      </p:sp>
      <p:sp>
        <p:nvSpPr>
          <p:cNvPr id="35" name="Shape 33"/>
          <p:cNvSpPr/>
          <p:nvPr/>
        </p:nvSpPr>
        <p:spPr>
          <a:xfrm>
            <a:off x="8746236" y="5596128"/>
            <a:ext cx="18288" cy="365760"/>
          </a:xfrm>
          <a:prstGeom prst="rect">
            <a:avLst/>
          </a:prstGeom>
          <a:solidFill>
            <a:srgbClr val="C6F25B"/>
          </a:solidFill>
          <a:ln/>
        </p:spPr>
      </p:sp>
      <p:sp>
        <p:nvSpPr>
          <p:cNvPr id="36" name="Shape 34"/>
          <p:cNvSpPr/>
          <p:nvPr/>
        </p:nvSpPr>
        <p:spPr>
          <a:xfrm>
            <a:off x="9013698" y="5596128"/>
            <a:ext cx="18288" cy="201168"/>
          </a:xfrm>
          <a:prstGeom prst="rect">
            <a:avLst/>
          </a:prstGeom>
          <a:solidFill>
            <a:srgbClr val="C6F25B"/>
          </a:solidFill>
          <a:ln/>
        </p:spPr>
      </p:sp>
      <p:sp>
        <p:nvSpPr>
          <p:cNvPr id="37" name="Shape 35"/>
          <p:cNvSpPr/>
          <p:nvPr/>
        </p:nvSpPr>
        <p:spPr>
          <a:xfrm>
            <a:off x="9281160" y="5596128"/>
            <a:ext cx="18288" cy="201168"/>
          </a:xfrm>
          <a:prstGeom prst="rect">
            <a:avLst/>
          </a:prstGeom>
          <a:solidFill>
            <a:srgbClr val="C6F25B"/>
          </a:solidFill>
          <a:ln/>
        </p:spPr>
      </p:sp>
      <p:sp>
        <p:nvSpPr>
          <p:cNvPr id="38" name="Shape 36"/>
          <p:cNvSpPr/>
          <p:nvPr/>
        </p:nvSpPr>
        <p:spPr>
          <a:xfrm>
            <a:off x="9548622" y="5596128"/>
            <a:ext cx="18288" cy="201168"/>
          </a:xfrm>
          <a:prstGeom prst="rect">
            <a:avLst/>
          </a:prstGeom>
          <a:solidFill>
            <a:srgbClr val="C6F25B"/>
          </a:solidFill>
          <a:ln/>
        </p:spPr>
      </p:sp>
      <p:sp>
        <p:nvSpPr>
          <p:cNvPr id="39" name="Shape 37"/>
          <p:cNvSpPr/>
          <p:nvPr/>
        </p:nvSpPr>
        <p:spPr>
          <a:xfrm>
            <a:off x="9816084" y="5596128"/>
            <a:ext cx="18288" cy="201168"/>
          </a:xfrm>
          <a:prstGeom prst="rect">
            <a:avLst/>
          </a:prstGeom>
          <a:solidFill>
            <a:srgbClr val="C6F25B"/>
          </a:solidFill>
          <a:ln/>
        </p:spPr>
      </p:sp>
      <p:sp>
        <p:nvSpPr>
          <p:cNvPr id="40" name="Shape 38"/>
          <p:cNvSpPr/>
          <p:nvPr/>
        </p:nvSpPr>
        <p:spPr>
          <a:xfrm>
            <a:off x="10083546" y="5596128"/>
            <a:ext cx="18288" cy="365760"/>
          </a:xfrm>
          <a:prstGeom prst="rect">
            <a:avLst/>
          </a:prstGeom>
          <a:solidFill>
            <a:srgbClr val="C6F25B"/>
          </a:solidFill>
          <a:ln/>
        </p:spPr>
      </p:sp>
      <p:sp>
        <p:nvSpPr>
          <p:cNvPr id="41" name="Shape 39"/>
          <p:cNvSpPr/>
          <p:nvPr/>
        </p:nvSpPr>
        <p:spPr>
          <a:xfrm>
            <a:off x="10351008" y="5596128"/>
            <a:ext cx="18288" cy="201168"/>
          </a:xfrm>
          <a:prstGeom prst="rect">
            <a:avLst/>
          </a:prstGeom>
          <a:solidFill>
            <a:srgbClr val="C6F25B"/>
          </a:solidFill>
          <a:ln/>
        </p:spPr>
      </p:sp>
      <p:sp>
        <p:nvSpPr>
          <p:cNvPr id="42" name="Shape 40"/>
          <p:cNvSpPr/>
          <p:nvPr/>
        </p:nvSpPr>
        <p:spPr>
          <a:xfrm>
            <a:off x="10618470" y="5596128"/>
            <a:ext cx="18288" cy="201168"/>
          </a:xfrm>
          <a:prstGeom prst="rect">
            <a:avLst/>
          </a:prstGeom>
          <a:solidFill>
            <a:srgbClr val="C6F25B"/>
          </a:solidFill>
          <a:ln/>
        </p:spPr>
      </p:sp>
      <p:sp>
        <p:nvSpPr>
          <p:cNvPr id="43" name="Shape 41"/>
          <p:cNvSpPr/>
          <p:nvPr/>
        </p:nvSpPr>
        <p:spPr>
          <a:xfrm>
            <a:off x="10885932" y="5596128"/>
            <a:ext cx="18288" cy="201168"/>
          </a:xfrm>
          <a:prstGeom prst="rect">
            <a:avLst/>
          </a:prstGeom>
          <a:solidFill>
            <a:srgbClr val="C6F25B"/>
          </a:solidFill>
          <a:ln/>
        </p:spPr>
      </p:sp>
      <p:sp>
        <p:nvSpPr>
          <p:cNvPr id="44" name="Shape 42"/>
          <p:cNvSpPr/>
          <p:nvPr/>
        </p:nvSpPr>
        <p:spPr>
          <a:xfrm>
            <a:off x="11153394" y="5596128"/>
            <a:ext cx="18288" cy="201168"/>
          </a:xfrm>
          <a:prstGeom prst="rect">
            <a:avLst/>
          </a:prstGeom>
          <a:solidFill>
            <a:srgbClr val="C6F25B"/>
          </a:solidFill>
          <a:ln/>
        </p:spPr>
      </p:sp>
      <p:sp>
        <p:nvSpPr>
          <p:cNvPr id="45" name="Shape 43"/>
          <p:cNvSpPr/>
          <p:nvPr/>
        </p:nvSpPr>
        <p:spPr>
          <a:xfrm>
            <a:off x="11420856" y="5596128"/>
            <a:ext cx="18288" cy="365760"/>
          </a:xfrm>
          <a:prstGeom prst="rect">
            <a:avLst/>
          </a:prstGeom>
          <a:solidFill>
            <a:srgbClr val="C6F25B"/>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3800" b="1" dirty="0">
                <a:solidFill>
                  <a:srgbClr val="141414"/>
                </a:solidFill>
                <a:latin typeface="Arial" pitchFamily="34" charset="0"/>
                <a:ea typeface="Arial" pitchFamily="34" charset="-122"/>
                <a:cs typeface="Arial" pitchFamily="34" charset="-120"/>
              </a:rPr>
              <a:t>Every answer changes a later screen</a:t>
            </a:r>
            <a:endParaRPr lang="en-US" sz="3800" dirty="0"/>
          </a:p>
        </p:txBody>
      </p:sp>
      <p:sp>
        <p:nvSpPr>
          <p:cNvPr id="3" name="Shape 1"/>
          <p:cNvSpPr/>
          <p:nvPr/>
        </p:nvSpPr>
        <p:spPr>
          <a:xfrm>
            <a:off x="548640" y="1463040"/>
            <a:ext cx="4937760" cy="1051560"/>
          </a:xfrm>
          <a:prstGeom prst="roundRect">
            <a:avLst>
              <a:gd name="adj" fmla="val 8696"/>
            </a:avLst>
          </a:prstGeom>
          <a:solidFill>
            <a:srgbClr val="FFFFFF"/>
          </a:solidFill>
          <a:ln w="12700">
            <a:solidFill>
              <a:srgbClr val="E3E0D8"/>
            </a:solidFill>
            <a:prstDash val="solid"/>
          </a:ln>
        </p:spPr>
      </p:sp>
      <p:sp>
        <p:nvSpPr>
          <p:cNvPr id="4" name="Text 2"/>
          <p:cNvSpPr txBox="1"/>
          <p:nvPr/>
        </p:nvSpPr>
        <p:spPr>
          <a:xfrm>
            <a:off x="777240" y="1600200"/>
            <a:ext cx="4480560" cy="365760"/>
          </a:xfrm>
          <a:prstGeom prst="rect">
            <a:avLst/>
          </a:prstGeom>
          <a:noFill/>
          <a:ln/>
        </p:spPr>
        <p:txBody>
          <a:bodyPr wrap="square" lIns="0" tIns="0" rIns="0" bIns="0" rtlCol="0" anchor="t"/>
          <a:lstStyle/>
          <a:p>
            <a:pPr indent="0" marL="0">
              <a:buNone/>
            </a:pPr>
            <a:r>
              <a:rPr lang="en-US" sz="2000" b="1" dirty="0">
                <a:solidFill>
                  <a:srgbClr val="141414"/>
                </a:solidFill>
                <a:latin typeface="Arial" pitchFamily="34" charset="0"/>
                <a:ea typeface="Arial" pitchFamily="34" charset="-122"/>
                <a:cs typeface="Arial" pitchFamily="34" charset="-120"/>
              </a:rPr>
              <a:t>Goal</a:t>
            </a:r>
            <a:endParaRPr lang="en-US" sz="2000" dirty="0"/>
          </a:p>
        </p:txBody>
      </p:sp>
      <p:sp>
        <p:nvSpPr>
          <p:cNvPr id="5" name="Text 3"/>
          <p:cNvSpPr txBox="1"/>
          <p:nvPr/>
        </p:nvSpPr>
        <p:spPr>
          <a:xfrm>
            <a:off x="777240" y="2011680"/>
            <a:ext cx="4480560" cy="411480"/>
          </a:xfrm>
          <a:prstGeom prst="rect">
            <a:avLst/>
          </a:prstGeom>
          <a:noFill/>
          <a:ln/>
        </p:spPr>
        <p:txBody>
          <a:bodyPr wrap="square" lIns="0" tIns="0" rIns="0" bIns="0" rtlCol="0" anchor="t"/>
          <a:lstStyle/>
          <a:p>
            <a:pPr indent="0" marL="0">
              <a:buNone/>
            </a:pPr>
            <a:r>
              <a:rPr lang="en-US" sz="1400" dirty="0">
                <a:solidFill>
                  <a:srgbClr val="141414"/>
                </a:solidFill>
                <a:latin typeface="Arial" pitchFamily="34" charset="0"/>
                <a:ea typeface="Arial" pitchFamily="34" charset="-122"/>
                <a:cs typeface="Arial" pitchFamily="34" charset="-120"/>
              </a:rPr>
              <a:t>Copy changes: "your child", plan and paywall titles</a:t>
            </a:r>
            <a:endParaRPr lang="en-US" sz="1400" dirty="0"/>
          </a:p>
        </p:txBody>
      </p:sp>
      <p:sp>
        <p:nvSpPr>
          <p:cNvPr id="6" name="Shape 4"/>
          <p:cNvSpPr/>
          <p:nvPr/>
        </p:nvSpPr>
        <p:spPr>
          <a:xfrm>
            <a:off x="548640" y="2697480"/>
            <a:ext cx="4937760" cy="1051560"/>
          </a:xfrm>
          <a:prstGeom prst="roundRect">
            <a:avLst>
              <a:gd name="adj" fmla="val 8696"/>
            </a:avLst>
          </a:prstGeom>
          <a:solidFill>
            <a:srgbClr val="FFFFFF"/>
          </a:solidFill>
          <a:ln w="12700">
            <a:solidFill>
              <a:srgbClr val="E3E0D8"/>
            </a:solidFill>
            <a:prstDash val="solid"/>
          </a:ln>
        </p:spPr>
      </p:sp>
      <p:sp>
        <p:nvSpPr>
          <p:cNvPr id="7" name="Text 5"/>
          <p:cNvSpPr txBox="1"/>
          <p:nvPr/>
        </p:nvSpPr>
        <p:spPr>
          <a:xfrm>
            <a:off x="777240" y="2834640"/>
            <a:ext cx="4480560" cy="365760"/>
          </a:xfrm>
          <a:prstGeom prst="rect">
            <a:avLst/>
          </a:prstGeom>
          <a:noFill/>
          <a:ln/>
        </p:spPr>
        <p:txBody>
          <a:bodyPr wrap="square" lIns="0" tIns="0" rIns="0" bIns="0" rtlCol="0" anchor="t"/>
          <a:lstStyle/>
          <a:p>
            <a:pPr indent="0" marL="0">
              <a:buNone/>
            </a:pPr>
            <a:r>
              <a:rPr lang="en-US" sz="2000" b="1" dirty="0">
                <a:solidFill>
                  <a:srgbClr val="141414"/>
                </a:solidFill>
                <a:latin typeface="Arial" pitchFamily="34" charset="0"/>
                <a:ea typeface="Arial" pitchFamily="34" charset="-122"/>
                <a:cs typeface="Arial" pitchFamily="34" charset="-120"/>
              </a:rPr>
              <a:t>Parents</a:t>
            </a:r>
            <a:endParaRPr lang="en-US" sz="2000" dirty="0"/>
          </a:p>
        </p:txBody>
      </p:sp>
      <p:sp>
        <p:nvSpPr>
          <p:cNvPr id="8" name="Text 6"/>
          <p:cNvSpPr txBox="1"/>
          <p:nvPr/>
        </p:nvSpPr>
        <p:spPr>
          <a:xfrm>
            <a:off x="777240" y="3246120"/>
            <a:ext cx="4480560" cy="411480"/>
          </a:xfrm>
          <a:prstGeom prst="rect">
            <a:avLst/>
          </a:prstGeom>
          <a:noFill/>
          <a:ln/>
        </p:spPr>
        <p:txBody>
          <a:bodyPr wrap="square" lIns="0" tIns="0" rIns="0" bIns="0" rtlCol="0" anchor="t"/>
          <a:lstStyle/>
          <a:p>
            <a:pPr indent="0" marL="0">
              <a:buNone/>
            </a:pPr>
            <a:r>
              <a:rPr lang="en-US" sz="1400" dirty="0">
                <a:solidFill>
                  <a:srgbClr val="141414"/>
                </a:solidFill>
                <a:latin typeface="Arial" pitchFamily="34" charset="0"/>
                <a:ea typeface="Arial" pitchFamily="34" charset="-122"/>
                <a:cs typeface="Arial" pitchFamily="34" charset="-120"/>
              </a:rPr>
              <a:t>Silhouettes and range on the result</a:t>
            </a:r>
            <a:endParaRPr lang="en-US" sz="1400" dirty="0"/>
          </a:p>
        </p:txBody>
      </p:sp>
      <p:sp>
        <p:nvSpPr>
          <p:cNvPr id="9" name="Shape 7"/>
          <p:cNvSpPr/>
          <p:nvPr/>
        </p:nvSpPr>
        <p:spPr>
          <a:xfrm>
            <a:off x="548640" y="3931920"/>
            <a:ext cx="4937760" cy="1051560"/>
          </a:xfrm>
          <a:prstGeom prst="roundRect">
            <a:avLst>
              <a:gd name="adj" fmla="val 8696"/>
            </a:avLst>
          </a:prstGeom>
          <a:solidFill>
            <a:srgbClr val="C6F25B"/>
          </a:solidFill>
          <a:ln w="12700">
            <a:solidFill>
              <a:srgbClr val="E3E0D8"/>
            </a:solidFill>
            <a:prstDash val="solid"/>
          </a:ln>
        </p:spPr>
      </p:sp>
      <p:sp>
        <p:nvSpPr>
          <p:cNvPr id="10" name="Text 8"/>
          <p:cNvSpPr txBox="1"/>
          <p:nvPr/>
        </p:nvSpPr>
        <p:spPr>
          <a:xfrm>
            <a:off x="777240" y="4069080"/>
            <a:ext cx="4480560" cy="365760"/>
          </a:xfrm>
          <a:prstGeom prst="rect">
            <a:avLst/>
          </a:prstGeom>
          <a:noFill/>
          <a:ln/>
        </p:spPr>
        <p:txBody>
          <a:bodyPr wrap="square" lIns="0" tIns="0" rIns="0" bIns="0" rtlCol="0" anchor="t"/>
          <a:lstStyle/>
          <a:p>
            <a:pPr indent="0" marL="0">
              <a:buNone/>
            </a:pPr>
            <a:r>
              <a:rPr lang="en-US" sz="2000" b="1" dirty="0">
                <a:solidFill>
                  <a:srgbClr val="141414"/>
                </a:solidFill>
                <a:latin typeface="Arial" pitchFamily="34" charset="0"/>
                <a:ea typeface="Arial" pitchFamily="34" charset="-122"/>
                <a:cs typeface="Arial" pitchFamily="34" charset="-120"/>
              </a:rPr>
              <a:t>Unknown parent</a:t>
            </a:r>
            <a:endParaRPr lang="en-US" sz="2000" dirty="0"/>
          </a:p>
        </p:txBody>
      </p:sp>
      <p:sp>
        <p:nvSpPr>
          <p:cNvPr id="11" name="Text 9"/>
          <p:cNvSpPr txBox="1"/>
          <p:nvPr/>
        </p:nvSpPr>
        <p:spPr>
          <a:xfrm>
            <a:off x="777240" y="4480560"/>
            <a:ext cx="4480560" cy="411480"/>
          </a:xfrm>
          <a:prstGeom prst="rect">
            <a:avLst/>
          </a:prstGeom>
          <a:noFill/>
          <a:ln/>
        </p:spPr>
        <p:txBody>
          <a:bodyPr wrap="square" lIns="0" tIns="0" rIns="0" bIns="0" rtlCol="0" anchor="t"/>
          <a:lstStyle/>
          <a:p>
            <a:pPr indent="0" marL="0">
              <a:buNone/>
            </a:pPr>
            <a:r>
              <a:rPr lang="en-US" sz="1400" dirty="0">
                <a:solidFill>
                  <a:srgbClr val="141414"/>
                </a:solidFill>
                <a:latin typeface="Arial" pitchFamily="34" charset="0"/>
                <a:ea typeface="Arial" pitchFamily="34" charset="-122"/>
                <a:cs typeface="Arial" pitchFamily="34" charset="-120"/>
              </a:rPr>
              <a:t>Range widens, and the app says so</a:t>
            </a:r>
            <a:endParaRPr lang="en-US" sz="1400" dirty="0"/>
          </a:p>
        </p:txBody>
      </p:sp>
      <p:sp>
        <p:nvSpPr>
          <p:cNvPr id="12" name="Shape 10"/>
          <p:cNvSpPr/>
          <p:nvPr/>
        </p:nvSpPr>
        <p:spPr>
          <a:xfrm>
            <a:off x="548640" y="5166360"/>
            <a:ext cx="4937760" cy="1051560"/>
          </a:xfrm>
          <a:prstGeom prst="roundRect">
            <a:avLst>
              <a:gd name="adj" fmla="val 8696"/>
            </a:avLst>
          </a:prstGeom>
          <a:solidFill>
            <a:srgbClr val="FFFFFF"/>
          </a:solidFill>
          <a:ln w="12700">
            <a:solidFill>
              <a:srgbClr val="E3E0D8"/>
            </a:solidFill>
            <a:prstDash val="solid"/>
          </a:ln>
        </p:spPr>
      </p:sp>
      <p:sp>
        <p:nvSpPr>
          <p:cNvPr id="13" name="Text 11"/>
          <p:cNvSpPr txBox="1"/>
          <p:nvPr/>
        </p:nvSpPr>
        <p:spPr>
          <a:xfrm>
            <a:off x="777240" y="5303520"/>
            <a:ext cx="4480560" cy="365760"/>
          </a:xfrm>
          <a:prstGeom prst="rect">
            <a:avLst/>
          </a:prstGeom>
          <a:noFill/>
          <a:ln/>
        </p:spPr>
        <p:txBody>
          <a:bodyPr wrap="square" lIns="0" tIns="0" rIns="0" bIns="0" rtlCol="0" anchor="t"/>
          <a:lstStyle/>
          <a:p>
            <a:pPr indent="0" marL="0">
              <a:buNone/>
            </a:pPr>
            <a:r>
              <a:rPr lang="en-US" sz="2000" b="1" dirty="0">
                <a:solidFill>
                  <a:srgbClr val="141414"/>
                </a:solidFill>
                <a:latin typeface="Arial" pitchFamily="34" charset="0"/>
                <a:ea typeface="Arial" pitchFamily="34" charset="-122"/>
                <a:cs typeface="Arial" pitchFamily="34" charset="-120"/>
              </a:rPr>
              <a:t>Habits</a:t>
            </a:r>
            <a:endParaRPr lang="en-US" sz="2000" dirty="0"/>
          </a:p>
        </p:txBody>
      </p:sp>
      <p:sp>
        <p:nvSpPr>
          <p:cNvPr id="14" name="Text 12"/>
          <p:cNvSpPr txBox="1"/>
          <p:nvPr/>
        </p:nvSpPr>
        <p:spPr>
          <a:xfrm>
            <a:off x="777240" y="5715000"/>
            <a:ext cx="4480560" cy="411480"/>
          </a:xfrm>
          <a:prstGeom prst="rect">
            <a:avLst/>
          </a:prstGeom>
          <a:noFill/>
          <a:ln/>
        </p:spPr>
        <p:txBody>
          <a:bodyPr wrap="square" lIns="0" tIns="0" rIns="0" bIns="0" rtlCol="0" anchor="t"/>
          <a:lstStyle/>
          <a:p>
            <a:pPr indent="0" marL="0">
              <a:buNone/>
            </a:pPr>
            <a:r>
              <a:rPr lang="en-US" sz="1400" dirty="0">
                <a:solidFill>
                  <a:srgbClr val="141414"/>
                </a:solidFill>
                <a:latin typeface="Arial" pitchFamily="34" charset="0"/>
                <a:ea typeface="Arial" pitchFamily="34" charset="-122"/>
                <a:cs typeface="Arial" pitchFamily="34" charset="-120"/>
              </a:rPr>
              <a:t>Plan order and week one</a:t>
            </a:r>
            <a:endParaRPr lang="en-US" sz="1400" dirty="0"/>
          </a:p>
        </p:txBody>
      </p:sp>
      <p:sp>
        <p:nvSpPr>
          <p:cNvPr id="15" name="Shape 13"/>
          <p:cNvSpPr/>
          <p:nvPr/>
        </p:nvSpPr>
        <p:spPr>
          <a:xfrm>
            <a:off x="5888736" y="1316736"/>
            <a:ext cx="1757598" cy="3675888"/>
          </a:xfrm>
          <a:prstGeom prst="roundRect">
            <a:avLst>
              <a:gd name="adj" fmla="val 6243"/>
            </a:avLst>
          </a:prstGeom>
          <a:solidFill>
            <a:srgbClr val="FFFFFF"/>
          </a:solidFill>
          <a:ln w="12700">
            <a:solidFill>
              <a:srgbClr val="D9D6CE"/>
            </a:solidFill>
            <a:prstDash val="solid"/>
          </a:ln>
        </p:spPr>
      </p:sp>
      <p:pic>
        <p:nvPicPr>
          <p:cNvPr id="16" name="Image 0" descr="C:\Users\aksuc\Desktop\proje_odev\design\export/screens/05-parents-light.png">    </p:cNvPr>
          <p:cNvPicPr>
            <a:picLocks noChangeAspect="1"/>
          </p:cNvPicPr>
          <p:nvPr/>
        </p:nvPicPr>
        <p:blipFill>
          <a:blip r:embed="rId1"/>
          <a:stretch>
            <a:fillRect/>
          </a:stretch>
        </p:blipFill>
        <p:spPr>
          <a:xfrm>
            <a:off x="5943600" y="1371600"/>
            <a:ext cx="1647870" cy="3566160"/>
          </a:xfrm>
          <a:prstGeom prst="rect">
            <a:avLst/>
          </a:prstGeom>
        </p:spPr>
      </p:pic>
      <p:sp>
        <p:nvSpPr>
          <p:cNvPr id="17" name="Text 14"/>
          <p:cNvSpPr txBox="1"/>
          <p:nvPr/>
        </p:nvSpPr>
        <p:spPr>
          <a:xfrm>
            <a:off x="5852160" y="5166360"/>
            <a:ext cx="1920240" cy="640080"/>
          </a:xfrm>
          <a:prstGeom prst="rect">
            <a:avLst/>
          </a:prstGeom>
          <a:noFill/>
          <a:ln/>
        </p:spPr>
        <p:txBody>
          <a:bodyPr wrap="square" lIns="0" tIns="0" rIns="0" bIns="0" rtlCol="0" anchor="t"/>
          <a:lstStyle/>
          <a:p>
            <a:pPr algn="ctr" indent="0" marL="0">
              <a:buNone/>
            </a:pPr>
            <a:r>
              <a:rPr lang="en-US" sz="1400" b="1" dirty="0">
                <a:solidFill>
                  <a:srgbClr val="141414"/>
                </a:solidFill>
                <a:latin typeface="Arial" pitchFamily="34" charset="0"/>
                <a:ea typeface="Arial" pitchFamily="34" charset="-122"/>
                <a:cs typeface="Arial" pitchFamily="34" charset="-120"/>
              </a:rPr>
              <a:t>Parents in</a:t>
            </a:r>
            <a:endParaRPr lang="en-US" sz="1400" dirty="0"/>
          </a:p>
        </p:txBody>
      </p:sp>
      <p:sp>
        <p:nvSpPr>
          <p:cNvPr id="18" name="Shape 15"/>
          <p:cNvSpPr/>
          <p:nvPr/>
        </p:nvSpPr>
        <p:spPr>
          <a:xfrm>
            <a:off x="7900416" y="1316736"/>
            <a:ext cx="1757598" cy="3675888"/>
          </a:xfrm>
          <a:prstGeom prst="roundRect">
            <a:avLst>
              <a:gd name="adj" fmla="val 6243"/>
            </a:avLst>
          </a:prstGeom>
          <a:solidFill>
            <a:srgbClr val="FFFFFF"/>
          </a:solidFill>
          <a:ln w="12700">
            <a:solidFill>
              <a:srgbClr val="D9D6CE"/>
            </a:solidFill>
            <a:prstDash val="solid"/>
          </a:ln>
        </p:spPr>
      </p:sp>
      <p:pic>
        <p:nvPicPr>
          <p:cNvPr id="19" name="Image 1" descr="C:\Users\aksuc\Desktop\proje_odev\design\export/screens/07-reveal-light.png">    </p:cNvPr>
          <p:cNvPicPr>
            <a:picLocks noChangeAspect="1"/>
          </p:cNvPicPr>
          <p:nvPr/>
        </p:nvPicPr>
        <p:blipFill>
          <a:blip r:embed="rId2"/>
          <a:stretch>
            <a:fillRect/>
          </a:stretch>
        </p:blipFill>
        <p:spPr>
          <a:xfrm>
            <a:off x="7955280" y="1371600"/>
            <a:ext cx="1647870" cy="3566160"/>
          </a:xfrm>
          <a:prstGeom prst="rect">
            <a:avLst/>
          </a:prstGeom>
        </p:spPr>
      </p:pic>
      <p:sp>
        <p:nvSpPr>
          <p:cNvPr id="20" name="Text 16"/>
          <p:cNvSpPr txBox="1"/>
          <p:nvPr/>
        </p:nvSpPr>
        <p:spPr>
          <a:xfrm>
            <a:off x="7863840" y="5166360"/>
            <a:ext cx="1920240" cy="640080"/>
          </a:xfrm>
          <a:prstGeom prst="rect">
            <a:avLst/>
          </a:prstGeom>
          <a:noFill/>
          <a:ln/>
        </p:spPr>
        <p:txBody>
          <a:bodyPr wrap="square" lIns="0" tIns="0" rIns="0" bIns="0" rtlCol="0" anchor="t"/>
          <a:lstStyle/>
          <a:p>
            <a:pPr algn="ctr" indent="0" marL="0">
              <a:buNone/>
            </a:pPr>
            <a:r>
              <a:rPr lang="en-US" sz="1400" b="1" dirty="0">
                <a:solidFill>
                  <a:srgbClr val="141414"/>
                </a:solidFill>
                <a:latin typeface="Arial" pitchFamily="34" charset="0"/>
                <a:ea typeface="Arial" pitchFamily="34" charset="-122"/>
                <a:cs typeface="Arial" pitchFamily="34" charset="-120"/>
              </a:rPr>
              <a:t>Silhouettes and range out</a:t>
            </a:r>
            <a:endParaRPr lang="en-US" sz="1400" dirty="0"/>
          </a:p>
        </p:txBody>
      </p:sp>
      <p:sp>
        <p:nvSpPr>
          <p:cNvPr id="21" name="Shape 17"/>
          <p:cNvSpPr/>
          <p:nvPr/>
        </p:nvSpPr>
        <p:spPr>
          <a:xfrm>
            <a:off x="9912096" y="1316736"/>
            <a:ext cx="1757598" cy="3675888"/>
          </a:xfrm>
          <a:prstGeom prst="roundRect">
            <a:avLst>
              <a:gd name="adj" fmla="val 6243"/>
            </a:avLst>
          </a:prstGeom>
          <a:solidFill>
            <a:srgbClr val="FFFFFF"/>
          </a:solidFill>
          <a:ln w="12700">
            <a:solidFill>
              <a:srgbClr val="D9D6CE"/>
            </a:solidFill>
            <a:prstDash val="solid"/>
          </a:ln>
        </p:spPr>
      </p:sp>
      <p:pic>
        <p:nvPicPr>
          <p:cNvPr id="22" name="Image 2" descr="C:\Users\aksuc\Desktop\proje_odev\design\export/screens/09-plan-light.png">    </p:cNvPr>
          <p:cNvPicPr>
            <a:picLocks noChangeAspect="1"/>
          </p:cNvPicPr>
          <p:nvPr/>
        </p:nvPicPr>
        <p:blipFill>
          <a:blip r:embed="rId3"/>
          <a:stretch>
            <a:fillRect/>
          </a:stretch>
        </p:blipFill>
        <p:spPr>
          <a:xfrm>
            <a:off x="9966960" y="1371600"/>
            <a:ext cx="1647870" cy="3566160"/>
          </a:xfrm>
          <a:prstGeom prst="rect">
            <a:avLst/>
          </a:prstGeom>
        </p:spPr>
      </p:pic>
      <p:sp>
        <p:nvSpPr>
          <p:cNvPr id="23" name="Text 18"/>
          <p:cNvSpPr txBox="1"/>
          <p:nvPr/>
        </p:nvSpPr>
        <p:spPr>
          <a:xfrm>
            <a:off x="9875520" y="5166360"/>
            <a:ext cx="1920240" cy="640080"/>
          </a:xfrm>
          <a:prstGeom prst="rect">
            <a:avLst/>
          </a:prstGeom>
          <a:noFill/>
          <a:ln/>
        </p:spPr>
        <p:txBody>
          <a:bodyPr wrap="square" lIns="0" tIns="0" rIns="0" bIns="0" rtlCol="0" anchor="t"/>
          <a:lstStyle/>
          <a:p>
            <a:pPr algn="ctr" indent="0" marL="0">
              <a:buNone/>
            </a:pPr>
            <a:r>
              <a:rPr lang="en-US" sz="1400" b="1" dirty="0">
                <a:solidFill>
                  <a:srgbClr val="141414"/>
                </a:solidFill>
                <a:latin typeface="Arial" pitchFamily="34" charset="0"/>
                <a:ea typeface="Arial" pitchFamily="34" charset="-122"/>
                <a:cs typeface="Arial" pitchFamily="34" charset="-120"/>
              </a:rPr>
              <a:t>Plan shaped by habits</a:t>
            </a:r>
            <a:endParaRPr lang="en-US" sz="1400" dirty="0"/>
          </a:p>
        </p:txBody>
      </p:sp>
      <p:sp>
        <p:nvSpPr>
          <p:cNvPr id="24" name="Text 19"/>
          <p:cNvSpPr txBox="1"/>
          <p:nvPr/>
        </p:nvSpPr>
        <p:spPr>
          <a:xfrm>
            <a:off x="548640" y="6309360"/>
            <a:ext cx="73152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Unit (cm or ft) stays the same on every screen once chosen.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3291840" y="411480"/>
            <a:ext cx="8412480" cy="822960"/>
          </a:xfrm>
          <a:prstGeom prst="rect">
            <a:avLst/>
          </a:prstGeom>
          <a:noFill/>
          <a:ln/>
        </p:spPr>
        <p:txBody>
          <a:bodyPr wrap="square" lIns="0" tIns="0" rIns="0" bIns="0" rtlCol="0" anchor="t"/>
          <a:lstStyle/>
          <a:p>
            <a:pPr indent="0" marL="0">
              <a:buNone/>
            </a:pPr>
            <a:r>
              <a:rPr lang="en-US" sz="3800" b="1" dirty="0">
                <a:solidFill>
                  <a:srgbClr val="141414"/>
                </a:solidFill>
                <a:latin typeface="Arial" pitchFamily="34" charset="0"/>
                <a:ea typeface="Arial" pitchFamily="34" charset="-122"/>
                <a:cs typeface="Arial" pitchFamily="34" charset="-120"/>
              </a:rPr>
              <a:t>Honest by design</a:t>
            </a:r>
            <a:endParaRPr lang="en-US" sz="3800" dirty="0"/>
          </a:p>
        </p:txBody>
      </p:sp>
      <p:sp>
        <p:nvSpPr>
          <p:cNvPr id="3" name="Shape 1"/>
          <p:cNvSpPr/>
          <p:nvPr/>
        </p:nvSpPr>
        <p:spPr>
          <a:xfrm>
            <a:off x="585216" y="676656"/>
            <a:ext cx="2602660" cy="5504688"/>
          </a:xfrm>
          <a:prstGeom prst="roundRect">
            <a:avLst>
              <a:gd name="adj" fmla="val 4216"/>
            </a:avLst>
          </a:prstGeom>
          <a:solidFill>
            <a:srgbClr val="FFFFFF"/>
          </a:solidFill>
          <a:ln w="12700">
            <a:solidFill>
              <a:srgbClr val="D9D6CE"/>
            </a:solidFill>
            <a:prstDash val="solid"/>
          </a:ln>
        </p:spPr>
      </p:sp>
      <p:pic>
        <p:nvPicPr>
          <p:cNvPr id="4" name="Image 0" descr="C:\Users\aksuc\Desktop\proje_odev\design\export/screens/11-paywall-light.png">    </p:cNvPr>
          <p:cNvPicPr>
            <a:picLocks noChangeAspect="1"/>
          </p:cNvPicPr>
          <p:nvPr/>
        </p:nvPicPr>
        <p:blipFill>
          <a:blip r:embed="rId1"/>
          <a:stretch>
            <a:fillRect/>
          </a:stretch>
        </p:blipFill>
        <p:spPr>
          <a:xfrm>
            <a:off x="640080" y="731520"/>
            <a:ext cx="2492932" cy="5394960"/>
          </a:xfrm>
          <a:prstGeom prst="rect">
            <a:avLst/>
          </a:prstGeom>
        </p:spPr>
      </p:pic>
      <p:sp>
        <p:nvSpPr>
          <p:cNvPr id="5" name="Shape 2"/>
          <p:cNvSpPr/>
          <p:nvPr/>
        </p:nvSpPr>
        <p:spPr>
          <a:xfrm>
            <a:off x="3291840" y="1417320"/>
            <a:ext cx="457200" cy="457200"/>
          </a:xfrm>
          <a:prstGeom prst="ellipse">
            <a:avLst/>
          </a:prstGeom>
          <a:solidFill>
            <a:srgbClr val="C6F25B"/>
          </a:solidFill>
          <a:ln/>
        </p:spPr>
      </p:sp>
      <p:sp>
        <p:nvSpPr>
          <p:cNvPr id="6" name="Text 3"/>
          <p:cNvSpPr txBox="1"/>
          <p:nvPr/>
        </p:nvSpPr>
        <p:spPr>
          <a:xfrm>
            <a:off x="3291840" y="1417320"/>
            <a:ext cx="457200" cy="457200"/>
          </a:xfrm>
          <a:prstGeom prst="rect">
            <a:avLst/>
          </a:prstGeom>
          <a:noFill/>
          <a:ln/>
        </p:spPr>
        <p:txBody>
          <a:bodyPr wrap="square" lIns="0" tIns="0" rIns="0" bIns="0" rtlCol="0" anchor="ctr"/>
          <a:lstStyle/>
          <a:p>
            <a:pPr algn="ctr" indent="0" marL="0">
              <a:buNone/>
            </a:pPr>
            <a:r>
              <a:rPr lang="en-US" sz="1600" b="1" dirty="0">
                <a:solidFill>
                  <a:srgbClr val="141414"/>
                </a:solidFill>
                <a:latin typeface="Arial" pitchFamily="34" charset="0"/>
                <a:ea typeface="Arial" pitchFamily="34" charset="-122"/>
                <a:cs typeface="Arial" pitchFamily="34" charset="-120"/>
              </a:rPr>
              <a:t>1</a:t>
            </a:r>
            <a:endParaRPr lang="en-US" sz="1600" dirty="0"/>
          </a:p>
        </p:txBody>
      </p:sp>
      <p:sp>
        <p:nvSpPr>
          <p:cNvPr id="7" name="Text 4"/>
          <p:cNvSpPr txBox="1"/>
          <p:nvPr/>
        </p:nvSpPr>
        <p:spPr>
          <a:xfrm>
            <a:off x="3931920" y="1417320"/>
            <a:ext cx="3840480" cy="4572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Full billed price, biggest text</a:t>
            </a:r>
            <a:endParaRPr lang="en-US" sz="1700" dirty="0"/>
          </a:p>
        </p:txBody>
      </p:sp>
      <p:sp>
        <p:nvSpPr>
          <p:cNvPr id="8" name="Shape 5"/>
          <p:cNvSpPr/>
          <p:nvPr/>
        </p:nvSpPr>
        <p:spPr>
          <a:xfrm>
            <a:off x="3291840" y="2240280"/>
            <a:ext cx="457200" cy="457200"/>
          </a:xfrm>
          <a:prstGeom prst="ellipse">
            <a:avLst/>
          </a:prstGeom>
          <a:solidFill>
            <a:srgbClr val="C6F25B"/>
          </a:solidFill>
          <a:ln/>
        </p:spPr>
      </p:sp>
      <p:sp>
        <p:nvSpPr>
          <p:cNvPr id="9" name="Text 6"/>
          <p:cNvSpPr txBox="1"/>
          <p:nvPr/>
        </p:nvSpPr>
        <p:spPr>
          <a:xfrm>
            <a:off x="3291840" y="2240280"/>
            <a:ext cx="457200" cy="457200"/>
          </a:xfrm>
          <a:prstGeom prst="rect">
            <a:avLst/>
          </a:prstGeom>
          <a:noFill/>
          <a:ln/>
        </p:spPr>
        <p:txBody>
          <a:bodyPr wrap="square" lIns="0" tIns="0" rIns="0" bIns="0" rtlCol="0" anchor="ctr"/>
          <a:lstStyle/>
          <a:p>
            <a:pPr algn="ctr" indent="0" marL="0">
              <a:buNone/>
            </a:pPr>
            <a:r>
              <a:rPr lang="en-US" sz="1600" b="1" dirty="0">
                <a:solidFill>
                  <a:srgbClr val="141414"/>
                </a:solidFill>
                <a:latin typeface="Arial" pitchFamily="34" charset="0"/>
                <a:ea typeface="Arial" pitchFamily="34" charset="-122"/>
                <a:cs typeface="Arial" pitchFamily="34" charset="-120"/>
              </a:rPr>
              <a:t>2</a:t>
            </a:r>
            <a:endParaRPr lang="en-US" sz="1600" dirty="0"/>
          </a:p>
        </p:txBody>
      </p:sp>
      <p:sp>
        <p:nvSpPr>
          <p:cNvPr id="10" name="Text 7"/>
          <p:cNvSpPr txBox="1"/>
          <p:nvPr/>
        </p:nvSpPr>
        <p:spPr>
          <a:xfrm>
            <a:off x="3931920" y="2240280"/>
            <a:ext cx="3840480" cy="4572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Trial end date shown</a:t>
            </a:r>
            <a:endParaRPr lang="en-US" sz="1700" dirty="0"/>
          </a:p>
        </p:txBody>
      </p:sp>
      <p:sp>
        <p:nvSpPr>
          <p:cNvPr id="11" name="Shape 8"/>
          <p:cNvSpPr/>
          <p:nvPr/>
        </p:nvSpPr>
        <p:spPr>
          <a:xfrm>
            <a:off x="3291840" y="3063240"/>
            <a:ext cx="457200" cy="457200"/>
          </a:xfrm>
          <a:prstGeom prst="ellipse">
            <a:avLst/>
          </a:prstGeom>
          <a:solidFill>
            <a:srgbClr val="C6F25B"/>
          </a:solidFill>
          <a:ln/>
        </p:spPr>
      </p:sp>
      <p:sp>
        <p:nvSpPr>
          <p:cNvPr id="12" name="Text 9"/>
          <p:cNvSpPr txBox="1"/>
          <p:nvPr/>
        </p:nvSpPr>
        <p:spPr>
          <a:xfrm>
            <a:off x="3291840" y="3063240"/>
            <a:ext cx="457200" cy="457200"/>
          </a:xfrm>
          <a:prstGeom prst="rect">
            <a:avLst/>
          </a:prstGeom>
          <a:noFill/>
          <a:ln/>
        </p:spPr>
        <p:txBody>
          <a:bodyPr wrap="square" lIns="0" tIns="0" rIns="0" bIns="0" rtlCol="0" anchor="ctr"/>
          <a:lstStyle/>
          <a:p>
            <a:pPr algn="ctr" indent="0" marL="0">
              <a:buNone/>
            </a:pPr>
            <a:r>
              <a:rPr lang="en-US" sz="1600" b="1" dirty="0">
                <a:solidFill>
                  <a:srgbClr val="141414"/>
                </a:solidFill>
                <a:latin typeface="Arial" pitchFamily="34" charset="0"/>
                <a:ea typeface="Arial" pitchFamily="34" charset="-122"/>
                <a:cs typeface="Arial" pitchFamily="34" charset="-120"/>
              </a:rPr>
              <a:t>3</a:t>
            </a:r>
            <a:endParaRPr lang="en-US" sz="1600" dirty="0"/>
          </a:p>
        </p:txBody>
      </p:sp>
      <p:sp>
        <p:nvSpPr>
          <p:cNvPr id="13" name="Text 10"/>
          <p:cNvSpPr txBox="1"/>
          <p:nvPr/>
        </p:nvSpPr>
        <p:spPr>
          <a:xfrm>
            <a:off x="3931920" y="3063240"/>
            <a:ext cx="3840480" cy="4572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Cancel path written out</a:t>
            </a:r>
            <a:endParaRPr lang="en-US" sz="1700" dirty="0"/>
          </a:p>
        </p:txBody>
      </p:sp>
      <p:sp>
        <p:nvSpPr>
          <p:cNvPr id="14" name="Shape 11"/>
          <p:cNvSpPr/>
          <p:nvPr/>
        </p:nvSpPr>
        <p:spPr>
          <a:xfrm>
            <a:off x="3291840" y="3886200"/>
            <a:ext cx="457200" cy="457200"/>
          </a:xfrm>
          <a:prstGeom prst="ellipse">
            <a:avLst/>
          </a:prstGeom>
          <a:solidFill>
            <a:srgbClr val="C6F25B"/>
          </a:solidFill>
          <a:ln/>
        </p:spPr>
      </p:sp>
      <p:sp>
        <p:nvSpPr>
          <p:cNvPr id="15" name="Text 12"/>
          <p:cNvSpPr txBox="1"/>
          <p:nvPr/>
        </p:nvSpPr>
        <p:spPr>
          <a:xfrm>
            <a:off x="3291840" y="3886200"/>
            <a:ext cx="457200" cy="457200"/>
          </a:xfrm>
          <a:prstGeom prst="rect">
            <a:avLst/>
          </a:prstGeom>
          <a:noFill/>
          <a:ln/>
        </p:spPr>
        <p:txBody>
          <a:bodyPr wrap="square" lIns="0" tIns="0" rIns="0" bIns="0" rtlCol="0" anchor="ctr"/>
          <a:lstStyle/>
          <a:p>
            <a:pPr algn="ctr" indent="0" marL="0">
              <a:buNone/>
            </a:pPr>
            <a:r>
              <a:rPr lang="en-US" sz="1600" b="1" dirty="0">
                <a:solidFill>
                  <a:srgbClr val="141414"/>
                </a:solidFill>
                <a:latin typeface="Arial" pitchFamily="34" charset="0"/>
                <a:ea typeface="Arial" pitchFamily="34" charset="-122"/>
                <a:cs typeface="Arial" pitchFamily="34" charset="-120"/>
              </a:rPr>
              <a:t>4</a:t>
            </a:r>
            <a:endParaRPr lang="en-US" sz="1600" dirty="0"/>
          </a:p>
        </p:txBody>
      </p:sp>
      <p:sp>
        <p:nvSpPr>
          <p:cNvPr id="16" name="Text 13"/>
          <p:cNvSpPr txBox="1"/>
          <p:nvPr/>
        </p:nvSpPr>
        <p:spPr>
          <a:xfrm>
            <a:off x="3931920" y="3886200"/>
            <a:ext cx="3840480" cy="4572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Visible X, top left</a:t>
            </a:r>
            <a:endParaRPr lang="en-US" sz="1700" dirty="0"/>
          </a:p>
        </p:txBody>
      </p:sp>
      <p:sp>
        <p:nvSpPr>
          <p:cNvPr id="17" name="Shape 14"/>
          <p:cNvSpPr/>
          <p:nvPr/>
        </p:nvSpPr>
        <p:spPr>
          <a:xfrm>
            <a:off x="3291840" y="4709160"/>
            <a:ext cx="457200" cy="457200"/>
          </a:xfrm>
          <a:prstGeom prst="ellipse">
            <a:avLst/>
          </a:prstGeom>
          <a:solidFill>
            <a:srgbClr val="C6F25B"/>
          </a:solidFill>
          <a:ln/>
        </p:spPr>
      </p:sp>
      <p:sp>
        <p:nvSpPr>
          <p:cNvPr id="18" name="Text 15"/>
          <p:cNvSpPr txBox="1"/>
          <p:nvPr/>
        </p:nvSpPr>
        <p:spPr>
          <a:xfrm>
            <a:off x="3291840" y="4709160"/>
            <a:ext cx="457200" cy="457200"/>
          </a:xfrm>
          <a:prstGeom prst="rect">
            <a:avLst/>
          </a:prstGeom>
          <a:noFill/>
          <a:ln/>
        </p:spPr>
        <p:txBody>
          <a:bodyPr wrap="square" lIns="0" tIns="0" rIns="0" bIns="0" rtlCol="0" anchor="ctr"/>
          <a:lstStyle/>
          <a:p>
            <a:pPr algn="ctr" indent="0" marL="0">
              <a:buNone/>
            </a:pPr>
            <a:r>
              <a:rPr lang="en-US" sz="1600" b="1" dirty="0">
                <a:solidFill>
                  <a:srgbClr val="141414"/>
                </a:solidFill>
                <a:latin typeface="Arial" pitchFamily="34" charset="0"/>
                <a:ea typeface="Arial" pitchFamily="34" charset="-122"/>
                <a:cs typeface="Arial" pitchFamily="34" charset="-120"/>
              </a:rPr>
              <a:t>5</a:t>
            </a:r>
            <a:endParaRPr lang="en-US" sz="1600" dirty="0"/>
          </a:p>
        </p:txBody>
      </p:sp>
      <p:sp>
        <p:nvSpPr>
          <p:cNvPr id="19" name="Text 16"/>
          <p:cNvSpPr txBox="1"/>
          <p:nvPr/>
        </p:nvSpPr>
        <p:spPr>
          <a:xfrm>
            <a:off x="3931920" y="4709160"/>
            <a:ext cx="3840480" cy="4572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No countdown timer</a:t>
            </a:r>
            <a:endParaRPr lang="en-US" sz="1700" dirty="0"/>
          </a:p>
        </p:txBody>
      </p:sp>
      <p:sp>
        <p:nvSpPr>
          <p:cNvPr id="20" name="Shape 17"/>
          <p:cNvSpPr/>
          <p:nvPr/>
        </p:nvSpPr>
        <p:spPr>
          <a:xfrm>
            <a:off x="3291840" y="5532120"/>
            <a:ext cx="457200" cy="457200"/>
          </a:xfrm>
          <a:prstGeom prst="ellipse">
            <a:avLst/>
          </a:prstGeom>
          <a:solidFill>
            <a:srgbClr val="C6F25B"/>
          </a:solidFill>
          <a:ln/>
        </p:spPr>
      </p:sp>
      <p:sp>
        <p:nvSpPr>
          <p:cNvPr id="21" name="Text 18"/>
          <p:cNvSpPr txBox="1"/>
          <p:nvPr/>
        </p:nvSpPr>
        <p:spPr>
          <a:xfrm>
            <a:off x="3291840" y="5532120"/>
            <a:ext cx="457200" cy="457200"/>
          </a:xfrm>
          <a:prstGeom prst="rect">
            <a:avLst/>
          </a:prstGeom>
          <a:noFill/>
          <a:ln/>
        </p:spPr>
        <p:txBody>
          <a:bodyPr wrap="square" lIns="0" tIns="0" rIns="0" bIns="0" rtlCol="0" anchor="ctr"/>
          <a:lstStyle/>
          <a:p>
            <a:pPr algn="ctr" indent="0" marL="0">
              <a:buNone/>
            </a:pPr>
            <a:r>
              <a:rPr lang="en-US" sz="1600" b="1" dirty="0">
                <a:solidFill>
                  <a:srgbClr val="141414"/>
                </a:solidFill>
                <a:latin typeface="Arial" pitchFamily="34" charset="0"/>
                <a:ea typeface="Arial" pitchFamily="34" charset="-122"/>
                <a:cs typeface="Arial" pitchFamily="34" charset="-120"/>
              </a:rPr>
              <a:t>6</a:t>
            </a:r>
            <a:endParaRPr lang="en-US" sz="1600" dirty="0"/>
          </a:p>
        </p:txBody>
      </p:sp>
      <p:sp>
        <p:nvSpPr>
          <p:cNvPr id="22" name="Text 19"/>
          <p:cNvSpPr txBox="1"/>
          <p:nvPr/>
        </p:nvSpPr>
        <p:spPr>
          <a:xfrm>
            <a:off x="3931920" y="5532120"/>
            <a:ext cx="3840480" cy="4572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No fake reviews or ratings</a:t>
            </a:r>
            <a:endParaRPr lang="en-US" sz="1700" dirty="0"/>
          </a:p>
        </p:txBody>
      </p:sp>
      <p:sp>
        <p:nvSpPr>
          <p:cNvPr id="23" name="Shape 20"/>
          <p:cNvSpPr/>
          <p:nvPr/>
        </p:nvSpPr>
        <p:spPr>
          <a:xfrm>
            <a:off x="8046720" y="1371600"/>
            <a:ext cx="3657600" cy="4846320"/>
          </a:xfrm>
          <a:prstGeom prst="roundRect">
            <a:avLst>
              <a:gd name="adj" fmla="val 3000"/>
            </a:avLst>
          </a:prstGeom>
          <a:solidFill>
            <a:srgbClr val="141414"/>
          </a:solidFill>
          <a:ln/>
        </p:spPr>
      </p:sp>
      <p:sp>
        <p:nvSpPr>
          <p:cNvPr id="24" name="Text 21"/>
          <p:cNvSpPr txBox="1"/>
          <p:nvPr/>
        </p:nvSpPr>
        <p:spPr>
          <a:xfrm>
            <a:off x="8321040" y="1600200"/>
            <a:ext cx="3200400" cy="365760"/>
          </a:xfrm>
          <a:prstGeom prst="rect">
            <a:avLst/>
          </a:prstGeom>
          <a:noFill/>
          <a:ln/>
        </p:spPr>
        <p:txBody>
          <a:bodyPr wrap="square" lIns="0" tIns="0" rIns="0" bIns="0" rtlCol="0" anchor="t"/>
          <a:lstStyle/>
          <a:p>
            <a:pPr indent="0" marL="0">
              <a:buNone/>
            </a:pPr>
            <a:r>
              <a:rPr lang="en-US" sz="2000" b="1" dirty="0">
                <a:solidFill>
                  <a:srgbClr val="FF5A1F"/>
                </a:solidFill>
                <a:latin typeface="Arial" pitchFamily="34" charset="0"/>
                <a:ea typeface="Arial" pitchFamily="34" charset="-122"/>
                <a:cs typeface="Arial" pitchFamily="34" charset="-120"/>
              </a:rPr>
              <a:t>GoTall instead</a:t>
            </a:r>
            <a:endParaRPr lang="en-US" sz="2000" dirty="0"/>
          </a:p>
        </p:txBody>
      </p:sp>
      <p:sp>
        <p:nvSpPr>
          <p:cNvPr id="25" name="Text 22"/>
          <p:cNvSpPr txBox="1"/>
          <p:nvPr/>
        </p:nvSpPr>
        <p:spPr>
          <a:xfrm>
            <a:off x="8321040" y="2194560"/>
            <a:ext cx="3200400" cy="36576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F6F4EF"/>
                </a:solidFill>
                <a:latin typeface="Arial" pitchFamily="34" charset="0"/>
                <a:ea typeface="Arial" pitchFamily="34" charset="-122"/>
                <a:cs typeface="Arial" pitchFamily="34" charset="-120"/>
              </a:rPr>
              <a:t>"$0.67/week" framing for a yearly plan</a:t>
            </a:r>
            <a:endParaRPr lang="en-US" sz="1600" dirty="0"/>
          </a:p>
          <a:p>
            <a:pPr marL="342900" indent="-342900">
              <a:spcAft>
                <a:spcPts val="1200"/>
              </a:spcAft>
              <a:buSzPct val="100000"/>
              <a:buChar char="•"/>
            </a:pPr>
            <a:r>
              <a:rPr lang="en-US" sz="1600" dirty="0">
                <a:solidFill>
                  <a:srgbClr val="F6F4EF"/>
                </a:solidFill>
                <a:latin typeface="Arial" pitchFamily="34" charset="0"/>
                <a:ea typeface="Arial" pitchFamily="34" charset="-122"/>
                <a:cs typeface="Arial" pitchFamily="34" charset="-120"/>
              </a:rPr>
              <a:t>"Special offer" countdown (2:59:59)</a:t>
            </a:r>
            <a:endParaRPr lang="en-US" sz="1600" dirty="0"/>
          </a:p>
          <a:p>
            <a:pPr marL="342900" indent="-342900">
              <a:spcAft>
                <a:spcPts val="1200"/>
              </a:spcAft>
              <a:buSzPct val="100000"/>
              <a:buChar char="•"/>
            </a:pPr>
            <a:r>
              <a:rPr lang="en-US" sz="1600" dirty="0">
                <a:solidFill>
                  <a:srgbClr val="F6F4EF"/>
                </a:solidFill>
                <a:latin typeface="Arial" pitchFamily="34" charset="0"/>
                <a:ea typeface="Arial" pitchFamily="34" charset="-122"/>
                <a:cs typeface="Arial" pitchFamily="34" charset="-120"/>
              </a:rPr>
              <a:t>Paywall before the result</a:t>
            </a:r>
            <a:endParaRPr lang="en-US" sz="1600" dirty="0"/>
          </a:p>
          <a:p>
            <a:pPr marL="342900" indent="-342900">
              <a:spcAft>
                <a:spcPts val="1200"/>
              </a:spcAft>
              <a:buSzPct val="100000"/>
              <a:buChar char="•"/>
            </a:pPr>
            <a:r>
              <a:rPr lang="en-US" sz="1600" dirty="0">
                <a:solidFill>
                  <a:srgbClr val="F6F4EF"/>
                </a:solidFill>
                <a:latin typeface="Arial" pitchFamily="34" charset="0"/>
                <a:ea typeface="Arial" pitchFamily="34" charset="-122"/>
                <a:cs typeface="Arial" pitchFamily="34" charset="-120"/>
              </a:rPr>
              <a:t>Charges of $35 to $60 reported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3800" b="1" dirty="0">
                <a:solidFill>
                  <a:srgbClr val="141414"/>
                </a:solidFill>
                <a:latin typeface="Arial" pitchFamily="34" charset="0"/>
                <a:ea typeface="Arial" pitchFamily="34" charset="-122"/>
                <a:cs typeface="Arial" pitchFamily="34" charset="-120"/>
              </a:rPr>
              <a:t>Evidence: GoTall vs Measured</a:t>
            </a:r>
            <a:endParaRPr lang="en-US" sz="3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589520" cy="914400"/>
        </p:xfrm>
        <a:graphic>
          <a:graphicData uri="http://schemas.openxmlformats.org/drawingml/2006/table">
            <a:tbl>
              <a:tblPr/>
              <a:tblGrid>
                <a:gridCol w="3383280"/>
                <a:gridCol w="2011680"/>
                <a:gridCol w="2194560"/>
              </a:tblGrid>
              <a:tr h="548640">
                <a:tc>
                  <a:txBody>
                    <a:bodyPr/>
                    <a:lstStyle/>
                    <a:p>
                      <a:pPr indent="0" marL="0">
                        <a:buNone/>
                      </a:pPr>
                      <a:r>
                        <a:rPr lang="en-US" sz="1600" b="1" dirty="0">
                          <a:solidFill>
                            <a:srgbClr val="F6F4EF"/>
                          </a:solidFill>
                          <a:latin typeface="Arial" pitchFamily="34" charset="0"/>
                          <a:ea typeface="Arial" pitchFamily="34" charset="-122"/>
                          <a:cs typeface="Arial" pitchFamily="34" charset="-120"/>
                        </a:rPr>
                        <a:t>Metric</a:t>
                      </a:r>
                      <a:endParaRPr lang="en-US" sz="16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141414"/>
                    </a:solidFill>
                  </a:tcPr>
                </a:tc>
                <a:tc>
                  <a:txBody>
                    <a:bodyPr/>
                    <a:lstStyle/>
                    <a:p>
                      <a:pPr indent="0" marL="0">
                        <a:buNone/>
                      </a:pPr>
                      <a:r>
                        <a:rPr lang="en-US" sz="1600" b="1" dirty="0">
                          <a:solidFill>
                            <a:srgbClr val="F6F4EF"/>
                          </a:solidFill>
                          <a:latin typeface="Arial" pitchFamily="34" charset="0"/>
                          <a:ea typeface="Arial" pitchFamily="34" charset="-122"/>
                          <a:cs typeface="Arial" pitchFamily="34" charset="-120"/>
                        </a:rPr>
                        <a:t>GoTall</a:t>
                      </a:r>
                      <a:endParaRPr lang="en-US" sz="16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141414"/>
                    </a:solidFill>
                  </a:tcPr>
                </a:tc>
                <a:tc>
                  <a:txBody>
                    <a:bodyPr/>
                    <a:lstStyle/>
                    <a:p>
                      <a:pPr indent="0" marL="0">
                        <a:buNone/>
                      </a:pPr>
                      <a:r>
                        <a:rPr lang="en-US" sz="1600" b="1" dirty="0">
                          <a:solidFill>
                            <a:srgbClr val="F6F4EF"/>
                          </a:solidFill>
                          <a:latin typeface="Arial" pitchFamily="34" charset="0"/>
                          <a:ea typeface="Arial" pitchFamily="34" charset="-122"/>
                          <a:cs typeface="Arial" pitchFamily="34" charset="-120"/>
                        </a:rPr>
                        <a:t>Measured</a:t>
                      </a:r>
                      <a:endParaRPr lang="en-US" sz="16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141414"/>
                    </a:solidFill>
                  </a:tcPr>
                </a:tc>
              </a:tr>
              <a:tr h="548640">
                <a:tc>
                  <a:txBody>
                    <a:bodyPr/>
                    <a:lstStyle/>
                    <a:p>
                      <a:pPr indent="0" marL="0">
                        <a:buNone/>
                      </a:pPr>
                      <a:r>
                        <a:rPr lang="en-US" sz="2000" dirty="0">
                          <a:solidFill>
                            <a:srgbClr val="141414"/>
                          </a:solidFill>
                          <a:latin typeface="Arial" pitchFamily="34" charset="0"/>
                          <a:ea typeface="Arial" pitchFamily="34" charset="-122"/>
                          <a:cs typeface="Arial" pitchFamily="34" charset="-120"/>
                        </a:rPr>
                        <a:t>Screens before the paywall</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33</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11</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EAF8C2"/>
                    </a:solidFill>
                  </a:tcPr>
                </a:tc>
              </a:tr>
              <a:tr h="548640">
                <a:tc>
                  <a:txBody>
                    <a:bodyPr/>
                    <a:lstStyle/>
                    <a:p>
                      <a:pPr indent="0" marL="0">
                        <a:buNone/>
                      </a:pPr>
                      <a:r>
                        <a:rPr lang="en-US" sz="2000" dirty="0">
                          <a:solidFill>
                            <a:srgbClr val="141414"/>
                          </a:solidFill>
                          <a:latin typeface="Arial" pitchFamily="34" charset="0"/>
                          <a:ea typeface="Arial" pitchFamily="34" charset="-122"/>
                          <a:cs typeface="Arial" pitchFamily="34" charset="-120"/>
                        </a:rPr>
                        <a:t>Questions before the result</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25+ (then locked)</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4</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EAF8C2"/>
                    </a:solidFill>
                  </a:tcPr>
                </a:tc>
              </a:tr>
              <a:tr h="548640">
                <a:tc>
                  <a:txBody>
                    <a:bodyPr/>
                    <a:lstStyle/>
                    <a:p>
                      <a:pPr indent="0" marL="0">
                        <a:buNone/>
                      </a:pPr>
                      <a:r>
                        <a:rPr lang="en-US" sz="2000" dirty="0">
                          <a:solidFill>
                            <a:srgbClr val="141414"/>
                          </a:solidFill>
                          <a:latin typeface="Arial" pitchFamily="34" charset="0"/>
                          <a:ea typeface="Arial" pitchFamily="34" charset="-122"/>
                          <a:cs typeface="Arial" pitchFamily="34" charset="-120"/>
                        </a:rPr>
                        <a:t>Seconds to result (est.)</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Locked</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~45</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EAF8C2"/>
                    </a:solidFill>
                  </a:tcPr>
                </a:tc>
              </a:tr>
              <a:tr h="548640">
                <a:tc>
                  <a:txBody>
                    <a:bodyPr/>
                    <a:lstStyle/>
                    <a:p>
                      <a:pPr indent="0" marL="0">
                        <a:buNone/>
                      </a:pPr>
                      <a:r>
                        <a:rPr lang="en-US" sz="2000" dirty="0">
                          <a:solidFill>
                            <a:srgbClr val="141414"/>
                          </a:solidFill>
                          <a:latin typeface="Arial" pitchFamily="34" charset="0"/>
                          <a:ea typeface="Arial" pitchFamily="34" charset="-122"/>
                          <a:cs typeface="Arial" pitchFamily="34" charset="-120"/>
                        </a:rPr>
                        <a:t>Seconds to paywall (est.)</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~150</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~75</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EAF8C2"/>
                    </a:solidFill>
                  </a:tcPr>
                </a:tc>
              </a:tr>
              <a:tr h="548640">
                <a:tc>
                  <a:txBody>
                    <a:bodyPr/>
                    <a:lstStyle/>
                    <a:p>
                      <a:pPr indent="0" marL="0">
                        <a:buNone/>
                      </a:pPr>
                      <a:r>
                        <a:rPr lang="en-US" sz="2000" dirty="0">
                          <a:solidFill>
                            <a:srgbClr val="141414"/>
                          </a:solidFill>
                          <a:latin typeface="Arial" pitchFamily="34" charset="0"/>
                          <a:ea typeface="Arial" pitchFamily="34" charset="-122"/>
                          <a:cs typeface="Arial" pitchFamily="34" charset="-120"/>
                        </a:rPr>
                        <a:t>Taps to result</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n/a (locked)</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7</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EAF8C2"/>
                    </a:solidFill>
                  </a:tcPr>
                </a:tc>
              </a:tr>
              <a:tr h="548640">
                <a:tc>
                  <a:txBody>
                    <a:bodyPr/>
                    <a:lstStyle/>
                    <a:p>
                      <a:pPr indent="0" marL="0">
                        <a:buNone/>
                      </a:pPr>
                      <a:r>
                        <a:rPr lang="en-US" sz="2000" dirty="0">
                          <a:solidFill>
                            <a:srgbClr val="141414"/>
                          </a:solidFill>
                          <a:latin typeface="Arial" pitchFamily="34" charset="0"/>
                          <a:ea typeface="Arial" pitchFamily="34" charset="-122"/>
                          <a:cs typeface="Arial" pitchFamily="34" charset="-120"/>
                        </a:rPr>
                        <a:t>Result before paywall</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No</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141414"/>
                          </a:solidFill>
                          <a:latin typeface="Arial" pitchFamily="34" charset="0"/>
                          <a:ea typeface="Arial" pitchFamily="34" charset="-122"/>
                          <a:cs typeface="Arial" pitchFamily="34" charset="-120"/>
                        </a:rPr>
                        <a:t>Yes</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EAF8C2"/>
                    </a:solidFill>
                  </a:tcPr>
                </a:tc>
              </a:tr>
              <a:tr h="548640">
                <a:tc>
                  <a:txBody>
                    <a:bodyPr/>
                    <a:lstStyle/>
                    <a:p>
                      <a:pPr indent="0" marL="0">
                        <a:buNone/>
                      </a:pPr>
                      <a:r>
                        <a:rPr lang="en-US" sz="2000" dirty="0">
                          <a:solidFill>
                            <a:srgbClr val="141414"/>
                          </a:solidFill>
                          <a:latin typeface="Arial" pitchFamily="34" charset="0"/>
                          <a:ea typeface="Arial" pitchFamily="34" charset="-122"/>
                          <a:cs typeface="Arial" pitchFamily="34" charset="-120"/>
                        </a:rPr>
                        <a:t>Clarity test (out of 5)</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FF5A1F"/>
                          </a:solidFill>
                          <a:latin typeface="Arial" pitchFamily="34" charset="0"/>
                          <a:ea typeface="Arial" pitchFamily="34" charset="-122"/>
                          <a:cs typeface="Arial" pitchFamily="34" charset="-120"/>
                        </a:rPr>
                        <a:t>[x/5]</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FFFFFF"/>
                    </a:solidFill>
                  </a:tcPr>
                </a:tc>
                <a:tc>
                  <a:txBody>
                    <a:bodyPr/>
                    <a:lstStyle/>
                    <a:p>
                      <a:pPr indent="0" marL="0">
                        <a:buNone/>
                      </a:pPr>
                      <a:r>
                        <a:rPr lang="en-US" sz="2000" b="1" dirty="0">
                          <a:solidFill>
                            <a:srgbClr val="FF5A1F"/>
                          </a:solidFill>
                          <a:latin typeface="Arial" pitchFamily="34" charset="0"/>
                          <a:ea typeface="Arial" pitchFamily="34" charset="-122"/>
                          <a:cs typeface="Arial" pitchFamily="34" charset="-120"/>
                        </a:rPr>
                        <a:t>[x/5]</a:t>
                      </a:r>
                      <a:endParaRPr lang="en-US" sz="2000" dirty="0">
                        <a:latin typeface="Arial" charset="0"/>
                        <a:ea typeface="Arial" charset="0"/>
                        <a:cs typeface="Arial" charset="0"/>
                      </a:endParaRPr>
                    </a:p>
                  </a:txBody>
                  <a:tcPr marL="137160" marR="137160" marT="0" marB="0" anchor="ctr">
                    <a:lnL w="12700" cap="flat" cmpd="sng" algn="ctr">
                      <a:solidFill>
                        <a:srgbClr val="E3E0D8"/>
                      </a:solidFill>
                      <a:prstDash val="solid"/>
                      <a:round/>
                      <a:headEnd type="none" w="med" len="med"/>
                      <a:tailEnd type="none" w="med" len="med"/>
                    </a:lnL>
                    <a:lnR w="12700" cap="flat" cmpd="sng" algn="ctr">
                      <a:solidFill>
                        <a:srgbClr val="E3E0D8"/>
                      </a:solidFill>
                      <a:prstDash val="solid"/>
                      <a:round/>
                      <a:headEnd type="none" w="med" len="med"/>
                      <a:tailEnd type="none" w="med" len="med"/>
                    </a:lnR>
                    <a:lnT w="12700" cap="flat" cmpd="sng" algn="ctr">
                      <a:solidFill>
                        <a:srgbClr val="E3E0D8"/>
                      </a:solidFill>
                      <a:prstDash val="solid"/>
                      <a:round/>
                      <a:headEnd type="none" w="med" len="med"/>
                      <a:tailEnd type="none" w="med" len="med"/>
                    </a:lnT>
                    <a:lnB w="12700" cap="flat" cmpd="sng" algn="ctr">
                      <a:solidFill>
                        <a:srgbClr val="E3E0D8"/>
                      </a:solidFill>
                      <a:prstDash val="solid"/>
                      <a:round/>
                      <a:headEnd type="none" w="med" len="med"/>
                      <a:tailEnd type="none" w="med" len="med"/>
                    </a:lnB>
                    <a:solidFill>
                      <a:srgbClr val="EAF8C2"/>
                    </a:solidFill>
                  </a:tcPr>
                </a:tc>
              </a:tr>
            </a:tbl>
          </a:graphicData>
        </a:graphic>
      </p:graphicFrame>
      <p:sp>
        <p:nvSpPr>
          <p:cNvPr id="4" name="Text 1"/>
          <p:cNvSpPr txBox="1"/>
          <p:nvPr/>
        </p:nvSpPr>
        <p:spPr>
          <a:xfrm>
            <a:off x="548640" y="5897880"/>
            <a:ext cx="7589520" cy="320040"/>
          </a:xfrm>
          <a:prstGeom prst="rect">
            <a:avLst/>
          </a:prstGeom>
          <a:noFill/>
          <a:ln/>
        </p:spPr>
        <p:txBody>
          <a:bodyPr wrap="square" lIns="0" tIns="0" rIns="0" bIns="0" rtlCol="0" anchor="t"/>
          <a:lstStyle/>
          <a:p>
            <a:pPr indent="0" marL="0">
              <a:buNone/>
            </a:pPr>
            <a:r>
              <a:rPr lang="en-US" sz="1300" b="1" dirty="0">
                <a:solidFill>
                  <a:srgbClr val="FF5A1F"/>
                </a:solidFill>
                <a:latin typeface="Arial" pitchFamily="34" charset="0"/>
                <a:ea typeface="Arial" pitchFamily="34" charset="-122"/>
                <a:cs typeface="Arial" pitchFamily="34" charset="-120"/>
              </a:rPr>
              <a:t>est. = estimated from screen count (~4.5 s per screen); replace with stopwatch times. Orange = still to test.</a:t>
            </a:r>
            <a:endParaRPr lang="en-US" sz="1300" dirty="0"/>
          </a:p>
        </p:txBody>
      </p:sp>
      <p:sp>
        <p:nvSpPr>
          <p:cNvPr id="5" name="Text 2"/>
          <p:cNvSpPr txBox="1"/>
          <p:nvPr/>
        </p:nvSpPr>
        <p:spPr>
          <a:xfrm>
            <a:off x="8595360" y="1371600"/>
            <a:ext cx="3108960" cy="1280160"/>
          </a:xfrm>
          <a:prstGeom prst="rect">
            <a:avLst/>
          </a:prstGeom>
          <a:noFill/>
          <a:ln/>
        </p:spPr>
        <p:txBody>
          <a:bodyPr wrap="square" lIns="0" tIns="0" rIns="0" bIns="0" rtlCol="0" anchor="t"/>
          <a:lstStyle/>
          <a:p>
            <a:pPr indent="0" marL="0">
              <a:buNone/>
            </a:pPr>
            <a:r>
              <a:rPr lang="en-US" sz="7200" b="1" dirty="0">
                <a:solidFill>
                  <a:srgbClr val="FF5A1F"/>
                </a:solidFill>
                <a:latin typeface="Arial" pitchFamily="34" charset="0"/>
                <a:ea typeface="Arial" pitchFamily="34" charset="-122"/>
                <a:cs typeface="Arial" pitchFamily="34" charset="-120"/>
              </a:rPr>
              <a:t>33 vs 7</a:t>
            </a:r>
            <a:endParaRPr lang="en-US" sz="7200" dirty="0"/>
          </a:p>
        </p:txBody>
      </p:sp>
      <p:sp>
        <p:nvSpPr>
          <p:cNvPr id="6" name="Text 3"/>
          <p:cNvSpPr txBox="1"/>
          <p:nvPr/>
        </p:nvSpPr>
        <p:spPr>
          <a:xfrm>
            <a:off x="8595360" y="2651760"/>
            <a:ext cx="3108960" cy="731520"/>
          </a:xfrm>
          <a:prstGeom prst="rect">
            <a:avLst/>
          </a:prstGeom>
          <a:noFill/>
          <a:ln/>
        </p:spPr>
        <p:txBody>
          <a:bodyPr wrap="square" lIns="0" tIns="0" rIns="0" bIns="0" rtlCol="0" anchor="t"/>
          <a:lstStyle/>
          <a:p>
            <a:pPr indent="0" marL="0">
              <a:buNone/>
            </a:pPr>
            <a:r>
              <a:rPr lang="en-US" sz="1800" b="1" dirty="0">
                <a:solidFill>
                  <a:srgbClr val="141414"/>
                </a:solidFill>
                <a:latin typeface="Arial" pitchFamily="34" charset="0"/>
                <a:ea typeface="Arial" pitchFamily="34" charset="-122"/>
                <a:cs typeface="Arial" pitchFamily="34" charset="-120"/>
              </a:rPr>
              <a:t>screens before you see a result (GoTall: still locked)</a:t>
            </a:r>
            <a:endParaRPr lang="en-US" sz="1800" dirty="0"/>
          </a:p>
        </p:txBody>
      </p:sp>
      <p:sp>
        <p:nvSpPr>
          <p:cNvPr id="7" name="Shape 4"/>
          <p:cNvSpPr/>
          <p:nvPr/>
        </p:nvSpPr>
        <p:spPr>
          <a:xfrm>
            <a:off x="8595360" y="3840480"/>
            <a:ext cx="3108960" cy="2103120"/>
          </a:xfrm>
          <a:prstGeom prst="roundRect">
            <a:avLst>
              <a:gd name="adj" fmla="val 4348"/>
            </a:avLst>
          </a:prstGeom>
          <a:solidFill>
            <a:srgbClr val="141414"/>
          </a:solidFill>
          <a:ln/>
        </p:spPr>
      </p:sp>
      <p:sp>
        <p:nvSpPr>
          <p:cNvPr id="8" name="Text 5"/>
          <p:cNvSpPr txBox="1"/>
          <p:nvPr/>
        </p:nvSpPr>
        <p:spPr>
          <a:xfrm>
            <a:off x="8823960" y="4023360"/>
            <a:ext cx="2743200" cy="320040"/>
          </a:xfrm>
          <a:prstGeom prst="rect">
            <a:avLst/>
          </a:prstGeom>
          <a:noFill/>
          <a:ln/>
        </p:spPr>
        <p:txBody>
          <a:bodyPr wrap="square" lIns="0" tIns="0" rIns="0" bIns="0" rtlCol="0" anchor="t"/>
          <a:lstStyle/>
          <a:p>
            <a:pPr indent="0" marL="0">
              <a:buNone/>
            </a:pPr>
            <a:r>
              <a:rPr lang="en-US" sz="1400" b="1" dirty="0">
                <a:solidFill>
                  <a:srgbClr val="C6F25B"/>
                </a:solidFill>
                <a:latin typeface="Arial" pitchFamily="34" charset="0"/>
                <a:ea typeface="Arial" pitchFamily="34" charset="-122"/>
                <a:cs typeface="Arial" pitchFamily="34" charset="-120"/>
              </a:rPr>
              <a:t>What we tested</a:t>
            </a:r>
            <a:endParaRPr lang="en-US" sz="1400" dirty="0"/>
          </a:p>
        </p:txBody>
      </p:sp>
      <p:sp>
        <p:nvSpPr>
          <p:cNvPr id="9" name="Text 6"/>
          <p:cNvSpPr txBox="1"/>
          <p:nvPr/>
        </p:nvSpPr>
        <p:spPr>
          <a:xfrm>
            <a:off x="8823960" y="4434840"/>
            <a:ext cx="2697480" cy="1417320"/>
          </a:xfrm>
          <a:prstGeom prst="rect">
            <a:avLst/>
          </a:prstGeom>
          <a:noFill/>
          <a:ln/>
        </p:spPr>
        <p:txBody>
          <a:bodyPr wrap="square" lIns="0" tIns="0" rIns="0" bIns="0" rtlCol="0" anchor="t"/>
          <a:lstStyle/>
          <a:p>
            <a:pPr indent="0" marL="0">
              <a:buNone/>
            </a:pPr>
            <a:r>
              <a:rPr lang="en-US" sz="1400" dirty="0">
                <a:solidFill>
                  <a:srgbClr val="F6F4EF"/>
                </a:solidFill>
                <a:latin typeface="Arial" pitchFamily="34" charset="0"/>
                <a:ea typeface="Arial" pitchFamily="34" charset="-122"/>
                <a:cs typeface="Arial" pitchFamily="34" charset="-120"/>
              </a:rPr>
              <a:t>Internal QA audit, 22 Oct: every path reaches Home, and the personalisation map was checked screen by screen.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4"/>
        </a:solidFill>
      </p:bgPr>
    </p:bg>
    <p:spTree>
      <p:nvGrpSpPr>
        <p:cNvPr id="1" name=""/>
        <p:cNvGrpSpPr/>
        <p:nvPr/>
      </p:nvGrpSpPr>
      <p:grpSpPr>
        <a:xfrm>
          <a:off x="0" y="0"/>
          <a:ext cx="0" cy="0"/>
          <a:chOff x="0" y="0"/>
          <a:chExt cx="0" cy="0"/>
        </a:xfrm>
      </p:grpSpPr>
      <p:sp>
        <p:nvSpPr>
          <p:cNvPr id="2" name="Text 0"/>
          <p:cNvSpPr txBox="1"/>
          <p:nvPr/>
        </p:nvSpPr>
        <p:spPr>
          <a:xfrm>
            <a:off x="640080" y="731520"/>
            <a:ext cx="6766560" cy="2194560"/>
          </a:xfrm>
          <a:prstGeom prst="rect">
            <a:avLst/>
          </a:prstGeom>
          <a:noFill/>
          <a:ln/>
        </p:spPr>
        <p:txBody>
          <a:bodyPr wrap="square" lIns="0" tIns="0" rIns="0" bIns="0" rtlCol="0" anchor="t"/>
          <a:lstStyle/>
          <a:p>
            <a:pPr indent="0" marL="0">
              <a:buNone/>
            </a:pPr>
            <a:r>
              <a:rPr lang="en-US" sz="3600" b="1" dirty="0">
                <a:solidFill>
                  <a:srgbClr val="F6F4EF"/>
                </a:solidFill>
                <a:latin typeface="Arial" pitchFamily="34" charset="0"/>
                <a:ea typeface="Arial" pitchFamily="34" charset="-122"/>
                <a:cs typeface="Arial" pitchFamily="34" charset="-120"/>
              </a:rPr>
              <a:t>If we fund this, will people understand it, feel the value and pay?</a:t>
            </a:r>
            <a:endParaRPr lang="en-US" sz="3600" dirty="0"/>
          </a:p>
        </p:txBody>
      </p:sp>
      <p:sp>
        <p:nvSpPr>
          <p:cNvPr id="3" name="Text 1"/>
          <p:cNvSpPr txBox="1"/>
          <p:nvPr/>
        </p:nvSpPr>
        <p:spPr>
          <a:xfrm>
            <a:off x="640080" y="3200400"/>
            <a:ext cx="6766560" cy="1828800"/>
          </a:xfrm>
          <a:prstGeom prst="rect">
            <a:avLst/>
          </a:prstGeom>
          <a:noFill/>
          <a:ln/>
        </p:spPr>
        <p:txBody>
          <a:bodyPr wrap="square" lIns="0" tIns="0" rIns="0" bIns="0" rtlCol="0" anchor="t"/>
          <a:lstStyle/>
          <a:p>
            <a:pPr indent="0" marL="0">
              <a:spcAft>
                <a:spcPts val="1000"/>
              </a:spcAft>
              <a:buNone/>
            </a:pPr>
            <a:r>
              <a:rPr lang="en-US" sz="2200" b="1" dirty="0">
                <a:solidFill>
                  <a:srgbClr val="C6F25B"/>
                </a:solidFill>
                <a:latin typeface="Arial" pitchFamily="34" charset="0"/>
                <a:ea typeface="Arial" pitchFamily="34" charset="-122"/>
                <a:cs typeface="Arial" pitchFamily="34" charset="-120"/>
              </a:rPr>
              <a:t>Understand: </a:t>
            </a:r>
            <a:pPr indent="0" marL="0">
              <a:spcAft>
                <a:spcPts val="1000"/>
              </a:spcAft>
              <a:buNone/>
            </a:pPr>
            <a:r>
              <a:rPr lang="en-US" sz="2200" dirty="0">
                <a:solidFill>
                  <a:srgbClr val="F6F4EF"/>
                </a:solidFill>
                <a:latin typeface="Arial" pitchFamily="34" charset="0"/>
                <a:ea typeface="Arial" pitchFamily="34" charset="-122"/>
                <a:cs typeface="Arial" pitchFamily="34" charset="-120"/>
              </a:rPr>
              <a:t>4 questions, one clear promise.</a:t>
            </a:r>
            <a:endParaRPr lang="en-US" sz="2200" dirty="0"/>
          </a:p>
          <a:p>
            <a:pPr indent="0" marL="0">
              <a:spcAft>
                <a:spcPts val="1000"/>
              </a:spcAft>
              <a:buNone/>
            </a:pPr>
            <a:r>
              <a:rPr lang="en-US" sz="2200" b="1" dirty="0">
                <a:solidFill>
                  <a:srgbClr val="C6F25B"/>
                </a:solidFill>
                <a:latin typeface="Arial" pitchFamily="34" charset="0"/>
                <a:ea typeface="Arial" pitchFamily="34" charset="-122"/>
                <a:cs typeface="Arial" pitchFamily="34" charset="-120"/>
              </a:rPr>
              <a:t>Feel the value: </a:t>
            </a:r>
            <a:pPr indent="0" marL="0">
              <a:spcAft>
                <a:spcPts val="1000"/>
              </a:spcAft>
              <a:buNone/>
            </a:pPr>
            <a:r>
              <a:rPr lang="en-US" sz="2200" dirty="0">
                <a:solidFill>
                  <a:srgbClr val="F6F4EF"/>
                </a:solidFill>
                <a:latin typeface="Arial" pitchFamily="34" charset="0"/>
                <a:ea typeface="Arial" pitchFamily="34" charset="-122"/>
                <a:cs typeface="Arial" pitchFamily="34" charset="-120"/>
              </a:rPr>
              <a:t>a free range before any paywall.</a:t>
            </a:r>
            <a:endParaRPr lang="en-US" sz="2200" dirty="0"/>
          </a:p>
          <a:p>
            <a:pPr indent="0" marL="0">
              <a:spcAft>
                <a:spcPts val="1000"/>
              </a:spcAft>
              <a:buNone/>
            </a:pPr>
            <a:r>
              <a:rPr lang="en-US" sz="2200" b="1" dirty="0">
                <a:solidFill>
                  <a:srgbClr val="C6F25B"/>
                </a:solidFill>
                <a:latin typeface="Arial" pitchFamily="34" charset="0"/>
                <a:ea typeface="Arial" pitchFamily="34" charset="-122"/>
                <a:cs typeface="Arial" pitchFamily="34" charset="-120"/>
              </a:rPr>
              <a:t>Pay: </a:t>
            </a:r>
            <a:pPr indent="0" marL="0">
              <a:spcAft>
                <a:spcPts val="1000"/>
              </a:spcAft>
              <a:buNone/>
            </a:pPr>
            <a:r>
              <a:rPr lang="en-US" sz="2200" dirty="0">
                <a:solidFill>
                  <a:srgbClr val="F6F4EF"/>
                </a:solidFill>
                <a:latin typeface="Arial" pitchFamily="34" charset="0"/>
                <a:ea typeface="Arial" pitchFamily="34" charset="-122"/>
                <a:cs typeface="Arial" pitchFamily="34" charset="-120"/>
              </a:rPr>
              <a:t>because the price is honest.</a:t>
            </a:r>
            <a:endParaRPr lang="en-US" sz="2200" dirty="0"/>
          </a:p>
        </p:txBody>
      </p:sp>
      <p:sp>
        <p:nvSpPr>
          <p:cNvPr id="4" name="Text 2"/>
          <p:cNvSpPr txBox="1"/>
          <p:nvPr/>
        </p:nvSpPr>
        <p:spPr>
          <a:xfrm>
            <a:off x="640080" y="5577840"/>
            <a:ext cx="5486400" cy="731520"/>
          </a:xfrm>
          <a:prstGeom prst="rect">
            <a:avLst/>
          </a:prstGeom>
          <a:noFill/>
          <a:ln/>
        </p:spPr>
        <p:txBody>
          <a:bodyPr wrap="square" lIns="0" tIns="0" rIns="0" bIns="0" rtlCol="0" anchor="t"/>
          <a:lstStyle/>
          <a:p>
            <a:pPr indent="0" marL="0">
              <a:buNone/>
            </a:pPr>
            <a:r>
              <a:rPr lang="en-US" sz="4000" b="1" dirty="0">
                <a:solidFill>
                  <a:srgbClr val="FF5A1F"/>
                </a:solidFill>
                <a:latin typeface="Arial" pitchFamily="34" charset="0"/>
                <a:ea typeface="Arial" pitchFamily="34" charset="-122"/>
                <a:cs typeface="Arial" pitchFamily="34" charset="-120"/>
              </a:rPr>
              <a:t>Thank you</a:t>
            </a:r>
            <a:endParaRPr lang="en-US" sz="4000" dirty="0"/>
          </a:p>
        </p:txBody>
      </p:sp>
      <p:sp>
        <p:nvSpPr>
          <p:cNvPr id="5" name="Shape 3"/>
          <p:cNvSpPr/>
          <p:nvPr/>
        </p:nvSpPr>
        <p:spPr>
          <a:xfrm>
            <a:off x="7443216" y="768096"/>
            <a:ext cx="2433647" cy="5138928"/>
          </a:xfrm>
          <a:prstGeom prst="roundRect">
            <a:avLst>
              <a:gd name="adj" fmla="val 4509"/>
            </a:avLst>
          </a:prstGeom>
          <a:solidFill>
            <a:srgbClr val="2A2A2A"/>
          </a:solidFill>
          <a:ln w="12700">
            <a:solidFill>
              <a:srgbClr val="3A3A3A"/>
            </a:solidFill>
            <a:prstDash val="solid"/>
          </a:ln>
        </p:spPr>
      </p:sp>
      <p:pic>
        <p:nvPicPr>
          <p:cNvPr id="6" name="Image 0" descr="C:\Users\aksuc\Desktop\proje_odev\design\export/screens/13-home-light.png">    </p:cNvPr>
          <p:cNvPicPr>
            <a:picLocks noChangeAspect="1"/>
          </p:cNvPicPr>
          <p:nvPr/>
        </p:nvPicPr>
        <p:blipFill>
          <a:blip r:embed="rId1"/>
          <a:stretch>
            <a:fillRect/>
          </a:stretch>
        </p:blipFill>
        <p:spPr>
          <a:xfrm>
            <a:off x="7498080" y="822960"/>
            <a:ext cx="2323919" cy="5029200"/>
          </a:xfrm>
          <a:prstGeom prst="rect">
            <a:avLst/>
          </a:prstGeom>
        </p:spPr>
      </p:pic>
      <p:sp>
        <p:nvSpPr>
          <p:cNvPr id="7" name="Shape 4"/>
          <p:cNvSpPr/>
          <p:nvPr/>
        </p:nvSpPr>
        <p:spPr>
          <a:xfrm>
            <a:off x="9729216" y="1316736"/>
            <a:ext cx="2222382" cy="4681728"/>
          </a:xfrm>
          <a:prstGeom prst="roundRect">
            <a:avLst>
              <a:gd name="adj" fmla="val 4937"/>
            </a:avLst>
          </a:prstGeom>
          <a:solidFill>
            <a:srgbClr val="2A2A2A"/>
          </a:solidFill>
          <a:ln w="12700">
            <a:solidFill>
              <a:srgbClr val="3A3A3A"/>
            </a:solidFill>
            <a:prstDash val="solid"/>
          </a:ln>
        </p:spPr>
      </p:sp>
      <p:pic>
        <p:nvPicPr>
          <p:cNvPr id="8" name="Image 1" descr="C:\Users\aksuc\Desktop\proje_odev\design\export/screens/11-paywall-light.png">    </p:cNvPr>
          <p:cNvPicPr>
            <a:picLocks noChangeAspect="1"/>
          </p:cNvPicPr>
          <p:nvPr/>
        </p:nvPicPr>
        <p:blipFill>
          <a:blip r:embed="rId2"/>
          <a:stretch>
            <a:fillRect/>
          </a:stretch>
        </p:blipFill>
        <p:spPr>
          <a:xfrm>
            <a:off x="9784080" y="1371600"/>
            <a:ext cx="2112654" cy="4572000"/>
          </a:xfrm>
          <a:prstGeom prst="rect">
            <a:avLst/>
          </a:prstGeom>
        </p:spPr>
      </p:pic>
    </p:spTree>
  </p:cSld>
  <p:clrMapOvr>
    <a:masterClrMapping/>
  </p:clrMapOvr>
</p:sld>
</file>

<file path=ppt/theme/theme1.xml><?xml version="1.0" encoding="utf-8"?>
<a:theme xmlns:a="http://schemas.openxmlformats.org/drawingml/2006/main" name="Measured">
  <a:themeElements>
    <a:clrScheme name="Measured">
      <a:dk1>
        <a:srgbClr val="141414"/>
      </a:dk1>
      <a:lt1>
        <a:srgbClr val="FFFFFF"/>
      </a:lt1>
      <a:dk2>
        <a:srgbClr val="141414"/>
      </a:dk2>
      <a:lt2>
        <a:srgbClr val="F6F4EF"/>
      </a:lt2>
      <a:accent1>
        <a:srgbClr val="FF5A1F"/>
      </a:accent1>
      <a:accent2>
        <a:srgbClr val="C6F25B"/>
      </a:accent2>
      <a:accent3>
        <a:srgbClr val="6B6B6B"/>
      </a:accent3>
      <a:accent4>
        <a:srgbClr val="E3E0D8"/>
      </a:accent4>
      <a:accent5>
        <a:srgbClr val="E5484D"/>
      </a:accent5>
      <a:accent6>
        <a:srgbClr val="1E1E1E"/>
      </a:accent6>
      <a:hlink>
        <a:srgbClr val="FF5A1F"/>
      </a:hlink>
      <a:folHlink>
        <a:srgbClr val="6B6B6B"/>
      </a:folHlink>
    </a:clrScheme>
    <a:fontScheme name="Measur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Measured demo day</dc:title>
  <dc:subject>PptxGenJS Presentation</dc:subject>
  <dc:creator>PptxGenJS</dc:creator>
  <cp:lastModifiedBy>PptxGenJS</cp:lastModifiedBy>
  <cp:revision>1</cp:revision>
  <dcterms:created xsi:type="dcterms:W3CDTF">2026-10-22T20:33:03Z</dcterms:created>
  <dcterms:modified xsi:type="dcterms:W3CDTF">2026-10-22T20:33:03Z</dcterms:modified>
</cp:coreProperties>
</file>