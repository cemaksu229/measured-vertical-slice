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names]. Our app is Measured, an honest adult height predictor. The promise is on the screen: your adult height range in 60 seconds, with the result shown before any paywall. In the next eight minutes we show what we copied, what we changed, and then a classmate runs the app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GoTall is the app we are up against. TrustMRR, verified through Superwall, shows about $57.8 thousand a month. We read 150 recent App Store reviews and three problems dominate. The result is locked behind a paywall after a 31-step quiz, the quiz is long and personal, and the billing is a surprise: a $0.67 a week price becomes a charge of $35 to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that every screen has to serve. Who: 13 to 17-year-olds curious about their height. Pain: quizzes that end in a paywall. Promise: an honest range in 60 seconds, shown free before any paywall, which is the difference from GoTall.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style is Bold Measure: warm paper, near-black ink, a tangerine brand colour and a lime accent used for the result range. Headings are Clash Display and body is General Sans. Every screen has a real visual, a ruler, silhouettes or a big number, never a text-only screen. On the right is our style sheet with tokens and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slice, thirteen screens from promise to home. Four questions lead to the free result, then a plan, then a paywall. If you close the paywall with the X you land on home in free mode and keep your result and week one. Now for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phone to a classmate who has never seen the app. Say nothing; let them tap through while we narrate: four questions, the free result, the plan and the paywall. Point out the range on the result and the price box. If the phone fails, play the screen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you answer is wasted. Goal changes the wording, for example 'your child' instead of 'you'. Parents' heights drive the silhouettes and the range. If a parent is unknown, we do not block you: the range gets wider and the screen says why. Sleep, activity and diet decide which habits come first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paywall. The yearly price is the biggest text, the free trial end date is written out, and the cancel path is spelled out. The X is visible, there is no countdown, and the one review is labelled as a placeholder. On the right is what GoTall does instead: a weekly price for a yearly plan, a fake timer, and a paywall before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side-by-side. GoTall shows 33 screens before its paywall and the result is still locked; we show the result on screen 7 after 4 questions, free. Screen and tap counts for GoTall come from ScreensDesign's public recording of its onboarding. The seconds marked est. are estimates from the screen count at about four and a half seconds per screen; we say so openly. The clarity score comes from showing only the first screen of each app to five classmates. Our internal QA audit also found no dead ends in the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for any funder is: will people understand it, feel the value and pay? Our answer is yes, because the promise fits in one sentence, the value appears in under a minute before any paywall, and paying is a clear, honest choice.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640080" y="731520"/>
            <a:ext cx="6400800" cy="365760"/>
          </a:xfrm>
          <a:prstGeom prst="rect">
            <a:avLst/>
          </a:prstGeom>
          <a:noFill/>
          <a:ln/>
        </p:spPr>
        <p:txBody>
          <a:bodyPr wrap="square" lIns="0" tIns="0" rIns="0" bIns="0" rtlCol="0" anchor="t"/>
          <a:lstStyle/>
          <a:p>
            <a:pPr indent="0" marL="0">
              <a:buNone/>
            </a:pPr>
            <a:r>
              <a:rPr lang="en-US" sz="1600" b="1" spc="600" kern="0" dirty="0">
                <a:solidFill>
                  <a:srgbClr val="FF5A1F"/>
                </a:solidFill>
                <a:latin typeface="Arial" pitchFamily="34" charset="0"/>
                <a:ea typeface="Arial" pitchFamily="34" charset="-122"/>
                <a:cs typeface="Arial" pitchFamily="34" charset="-120"/>
              </a:rPr>
              <a:t>MEASURED</a:t>
            </a:r>
            <a:endParaRPr lang="en-US" sz="1600" dirty="0"/>
          </a:p>
        </p:txBody>
      </p:sp>
      <p:sp>
        <p:nvSpPr>
          <p:cNvPr id="3" name="Text 1"/>
          <p:cNvSpPr txBox="1"/>
          <p:nvPr/>
        </p:nvSpPr>
        <p:spPr>
          <a:xfrm>
            <a:off x="640080" y="1463040"/>
            <a:ext cx="6400800" cy="2743200"/>
          </a:xfrm>
          <a:prstGeom prst="rect">
            <a:avLst/>
          </a:prstGeom>
          <a:noFill/>
          <a:ln/>
        </p:spPr>
        <p:txBody>
          <a:bodyPr wrap="square" lIns="0" tIns="0" rIns="0" bIns="0" rtlCol="0" anchor="t"/>
          <a:lstStyle/>
          <a:p>
            <a:pPr indent="0" marL="0">
              <a:buNone/>
            </a:pPr>
            <a:r>
              <a:rPr lang="en-US" sz="5000" b="1" dirty="0">
                <a:solidFill>
                  <a:srgbClr val="F6F4EF"/>
                </a:solidFill>
                <a:latin typeface="Arial" pitchFamily="34" charset="0"/>
                <a:ea typeface="Arial" pitchFamily="34" charset="-122"/>
                <a:cs typeface="Arial" pitchFamily="34" charset="-120"/>
              </a:rPr>
              <a:t>Your honest adult height range in 60 seconds</a:t>
            </a:r>
            <a:endParaRPr lang="en-US" sz="5000" dirty="0"/>
          </a:p>
        </p:txBody>
      </p:sp>
      <p:sp>
        <p:nvSpPr>
          <p:cNvPr id="4" name="Text 2"/>
          <p:cNvSpPr txBox="1"/>
          <p:nvPr/>
        </p:nvSpPr>
        <p:spPr>
          <a:xfrm>
            <a:off x="640080" y="4480560"/>
            <a:ext cx="6400800" cy="457200"/>
          </a:xfrm>
          <a:prstGeom prst="rect">
            <a:avLst/>
          </a:prstGeom>
          <a:noFill/>
          <a:ln/>
        </p:spPr>
        <p:txBody>
          <a:bodyPr wrap="square" lIns="0" tIns="0" rIns="0" bIns="0" rtlCol="0" anchor="t"/>
          <a:lstStyle/>
          <a:p>
            <a:pPr indent="0" marL="0">
              <a:buNone/>
            </a:pPr>
            <a:r>
              <a:rPr lang="en-US" sz="2000" dirty="0">
                <a:solidFill>
                  <a:srgbClr val="C6F25B"/>
                </a:solidFill>
                <a:latin typeface="Arial" pitchFamily="34" charset="0"/>
                <a:ea typeface="Arial" pitchFamily="34" charset="-122"/>
                <a:cs typeface="Arial" pitchFamily="34" charset="-120"/>
              </a:rPr>
              <a:t>4 questions. A free result before any paywall.</a:t>
            </a:r>
            <a:endParaRPr lang="en-US" sz="2000" dirty="0"/>
          </a:p>
        </p:txBody>
      </p:sp>
      <p:sp>
        <p:nvSpPr>
          <p:cNvPr id="5" name="Text 3"/>
          <p:cNvSpPr txBox="1"/>
          <p:nvPr/>
        </p:nvSpPr>
        <p:spPr>
          <a:xfrm>
            <a:off x="640080" y="5760720"/>
            <a:ext cx="5486400" cy="365760"/>
          </a:xfrm>
          <a:prstGeom prst="rect">
            <a:avLst/>
          </a:prstGeom>
          <a:noFill/>
          <a:ln/>
        </p:spPr>
        <p:txBody>
          <a:bodyPr wrap="square" lIns="0" tIns="0" rIns="0" bIns="0" rtlCol="0" anchor="t"/>
          <a:lstStyle/>
          <a:p>
            <a:pPr indent="0" marL="0">
              <a:buNone/>
            </a:pPr>
            <a:r>
              <a:rPr lang="en-US" sz="1800" b="1" dirty="0">
                <a:solidFill>
                  <a:srgbClr val="FF5A1F"/>
                </a:solidFill>
                <a:latin typeface="Arial" pitchFamily="34" charset="0"/>
                <a:ea typeface="Arial" pitchFamily="34" charset="-122"/>
                <a:cs typeface="Arial" pitchFamily="34" charset="-120"/>
              </a:rPr>
              <a:t>Cem Aksu  ·  Pınar Işıl Şahin  ·  Batu Öncel</a:t>
            </a:r>
            <a:endParaRPr lang="en-US" sz="1800" dirty="0"/>
          </a:p>
        </p:txBody>
      </p:sp>
      <p:sp>
        <p:nvSpPr>
          <p:cNvPr id="6" name="Shape 4"/>
          <p:cNvSpPr/>
          <p:nvPr/>
        </p:nvSpPr>
        <p:spPr>
          <a:xfrm>
            <a:off x="7443216" y="768096"/>
            <a:ext cx="2518154" cy="5321808"/>
          </a:xfrm>
          <a:prstGeom prst="roundRect">
            <a:avLst>
              <a:gd name="adj" fmla="val 4357"/>
            </a:avLst>
          </a:prstGeom>
          <a:solidFill>
            <a:srgbClr val="2A2A2A"/>
          </a:solidFill>
          <a:ln w="12700">
            <a:solidFill>
              <a:srgbClr val="3A3A3A"/>
            </a:solidFill>
            <a:prstDash val="solid"/>
          </a:ln>
        </p:spPr>
      </p:sp>
      <p:pic>
        <p:nvPicPr>
          <p:cNvPr id="7" name="Image 0" descr="C:\Users\aksuc\Desktop\proje_odev\design\export/screens/01-promise-light.png">    </p:cNvPr>
          <p:cNvPicPr>
            <a:picLocks noChangeAspect="1"/>
          </p:cNvPicPr>
          <p:nvPr/>
        </p:nvPicPr>
        <p:blipFill>
          <a:blip r:embed="rId1"/>
          <a:stretch>
            <a:fillRect/>
          </a:stretch>
        </p:blipFill>
        <p:spPr>
          <a:xfrm>
            <a:off x="7498080" y="822960"/>
            <a:ext cx="2408426" cy="5212080"/>
          </a:xfrm>
          <a:prstGeom prst="rect">
            <a:avLst/>
          </a:prstGeom>
        </p:spPr>
      </p:pic>
      <p:sp>
        <p:nvSpPr>
          <p:cNvPr id="8" name="Shape 5"/>
          <p:cNvSpPr/>
          <p:nvPr/>
        </p:nvSpPr>
        <p:spPr>
          <a:xfrm>
            <a:off x="9774936" y="1316736"/>
            <a:ext cx="2306888" cy="4864608"/>
          </a:xfrm>
          <a:prstGeom prst="roundRect">
            <a:avLst>
              <a:gd name="adj" fmla="val 4757"/>
            </a:avLst>
          </a:prstGeom>
          <a:solidFill>
            <a:srgbClr val="2A2A2A"/>
          </a:solidFill>
          <a:ln w="12700">
            <a:solidFill>
              <a:srgbClr val="3A3A3A"/>
            </a:solidFill>
            <a:prstDash val="solid"/>
          </a:ln>
        </p:spPr>
      </p:sp>
      <p:pic>
        <p:nvPicPr>
          <p:cNvPr id="9" name="Image 1" descr="C:\Users\aksuc\Desktop\proje_odev\design\export/screens/07-reveal-light.png">    </p:cNvPr>
          <p:cNvPicPr>
            <a:picLocks noChangeAspect="1"/>
          </p:cNvPicPr>
          <p:nvPr/>
        </p:nvPicPr>
        <p:blipFill>
          <a:blip r:embed="rId2"/>
          <a:stretch>
            <a:fillRect/>
          </a:stretch>
        </p:blipFill>
        <p:spPr>
          <a:xfrm>
            <a:off x="9829800" y="1371600"/>
            <a:ext cx="2197160" cy="4754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548640" y="411480"/>
            <a:ext cx="4389120" cy="822960"/>
          </a:xfrm>
          <a:prstGeom prst="rect">
            <a:avLst/>
          </a:prstGeom>
          <a:noFill/>
          <a:ln/>
        </p:spPr>
        <p:txBody>
          <a:bodyPr wrap="square" lIns="0" tIns="0" rIns="0" bIns="0" rtlCol="0" anchor="t"/>
          <a:lstStyle/>
          <a:p>
            <a:pPr indent="0" marL="0">
              <a:buNone/>
            </a:pPr>
            <a:r>
              <a:rPr lang="en-US" sz="3000" b="1" dirty="0">
                <a:solidFill>
                  <a:srgbClr val="141414"/>
                </a:solidFill>
                <a:latin typeface="Arial" pitchFamily="34" charset="0"/>
                <a:ea typeface="Arial" pitchFamily="34" charset="-122"/>
                <a:cs typeface="Arial" pitchFamily="34" charset="-120"/>
              </a:rPr>
              <a:t>The original: GoTall</a:t>
            </a:r>
            <a:endParaRPr lang="en-US" sz="3000" dirty="0"/>
          </a:p>
        </p:txBody>
      </p:sp>
      <p:sp>
        <p:nvSpPr>
          <p:cNvPr id="3" name="Text 1"/>
          <p:cNvSpPr txBox="1"/>
          <p:nvPr/>
        </p:nvSpPr>
        <p:spPr>
          <a:xfrm>
            <a:off x="548640" y="1371600"/>
            <a:ext cx="4206240" cy="1371600"/>
          </a:xfrm>
          <a:prstGeom prst="rect">
            <a:avLst/>
          </a:prstGeom>
          <a:noFill/>
          <a:ln/>
        </p:spPr>
        <p:txBody>
          <a:bodyPr wrap="square" lIns="0" tIns="0" rIns="0" bIns="0" rtlCol="0" anchor="t"/>
          <a:lstStyle/>
          <a:p>
            <a:pPr indent="0" marL="0">
              <a:buNone/>
            </a:pPr>
            <a:r>
              <a:rPr lang="en-US" sz="8400" b="1" dirty="0">
                <a:solidFill>
                  <a:srgbClr val="FF5A1F"/>
                </a:solidFill>
                <a:latin typeface="Arial" pitchFamily="34" charset="0"/>
                <a:ea typeface="Arial" pitchFamily="34" charset="-122"/>
                <a:cs typeface="Arial" pitchFamily="34" charset="-120"/>
              </a:rPr>
              <a:t>$57.8k</a:t>
            </a:r>
            <a:endParaRPr lang="en-US" sz="8400" dirty="0"/>
          </a:p>
        </p:txBody>
      </p:sp>
      <p:sp>
        <p:nvSpPr>
          <p:cNvPr id="4" name="Text 2"/>
          <p:cNvSpPr txBox="1"/>
          <p:nvPr/>
        </p:nvSpPr>
        <p:spPr>
          <a:xfrm>
            <a:off x="548640" y="2788920"/>
            <a:ext cx="4206240" cy="365760"/>
          </a:xfrm>
          <a:prstGeom prst="rect">
            <a:avLst/>
          </a:prstGeom>
          <a:noFill/>
          <a:ln/>
        </p:spPr>
        <p:txBody>
          <a:bodyPr wrap="square" lIns="0" tIns="0" rIns="0" bIns="0" rtlCol="0" anchor="t"/>
          <a:lstStyle/>
          <a:p>
            <a:pPr indent="0" marL="0">
              <a:buNone/>
            </a:pPr>
            <a:r>
              <a:rPr lang="en-US" sz="1800" b="1" dirty="0">
                <a:solidFill>
                  <a:srgbClr val="141414"/>
                </a:solidFill>
                <a:latin typeface="Arial" pitchFamily="34" charset="0"/>
                <a:ea typeface="Arial" pitchFamily="34" charset="-122"/>
                <a:cs typeface="Arial" pitchFamily="34" charset="-120"/>
              </a:rPr>
              <a:t>monthly recurring revenue</a:t>
            </a:r>
            <a:endParaRPr lang="en-US" sz="1800" dirty="0"/>
          </a:p>
        </p:txBody>
      </p:sp>
      <p:sp>
        <p:nvSpPr>
          <p:cNvPr id="5" name="Text 3"/>
          <p:cNvSpPr txBox="1"/>
          <p:nvPr/>
        </p:nvSpPr>
        <p:spPr>
          <a:xfrm>
            <a:off x="548640" y="3383280"/>
            <a:ext cx="3931920" cy="914400"/>
          </a:xfrm>
          <a:prstGeom prst="rect">
            <a:avLst/>
          </a:prstGeom>
          <a:noFill/>
          <a:ln/>
        </p:spPr>
        <p:txBody>
          <a:bodyPr wrap="square" lIns="0" tIns="0" rIns="0" bIns="0" rtlCol="0" anchor="t"/>
          <a:lstStyle/>
          <a:p>
            <a:pPr indent="0" marL="0">
              <a:buNone/>
            </a:pPr>
            <a:r>
              <a:rPr lang="en-US" sz="1600" dirty="0">
                <a:solidFill>
                  <a:srgbClr val="141414"/>
                </a:solidFill>
                <a:latin typeface="Arial" pitchFamily="34" charset="0"/>
                <a:ea typeface="Arial" pitchFamily="34" charset="-122"/>
                <a:cs typeface="Arial" pitchFamily="34" charset="-120"/>
              </a:rPr>
              <a:t>A height predictor app. 33 screens of questions and claims, then a paywall. The result stays locked.</a:t>
            </a:r>
            <a:endParaRPr lang="en-US" sz="1600" dirty="0"/>
          </a:p>
        </p:txBody>
      </p:sp>
      <p:sp>
        <p:nvSpPr>
          <p:cNvPr id="6" name="Text 4"/>
          <p:cNvSpPr txBox="1"/>
          <p:nvPr/>
        </p:nvSpPr>
        <p:spPr>
          <a:xfrm>
            <a:off x="548640" y="5806440"/>
            <a:ext cx="4206240" cy="640080"/>
          </a:xfrm>
          <a:prstGeom prst="rect">
            <a:avLst/>
          </a:prstGeom>
          <a:noFill/>
          <a:ln/>
        </p:spPr>
        <p:txBody>
          <a:bodyPr wrap="square" lIns="0" tIns="0" rIns="0" bIns="0" rtlCol="0" anchor="t"/>
          <a:lstStyle/>
          <a:p>
            <a:pPr indent="0" marL="0">
              <a:buNone/>
            </a:pPr>
            <a:r>
              <a:rPr lang="en-US" sz="1100" dirty="0">
                <a:solidFill>
                  <a:srgbClr val="6B6B6B"/>
                </a:solidFill>
                <a:latin typeface="Arial" pitchFamily="34" charset="0"/>
                <a:ea typeface="Arial" pitchFamily="34" charset="-122"/>
                <a:cs typeface="Arial" pitchFamily="34" charset="-120"/>
              </a:rPr>
              <a:t>Source: TrustMRR, Superwall-verified, 22 Oct 2026. Weakness counts: our tally of 119 one-to-three-star App Store reviews (approximate).</a:t>
            </a:r>
            <a:endParaRPr lang="en-US" sz="1100" dirty="0"/>
          </a:p>
        </p:txBody>
      </p:sp>
      <p:sp>
        <p:nvSpPr>
          <p:cNvPr id="7" name="Shape 5"/>
          <p:cNvSpPr/>
          <p:nvPr/>
        </p:nvSpPr>
        <p:spPr>
          <a:xfrm>
            <a:off x="5029200" y="502920"/>
            <a:ext cx="6629400" cy="1783080"/>
          </a:xfrm>
          <a:prstGeom prst="roundRect">
            <a:avLst>
              <a:gd name="adj" fmla="val 5128"/>
            </a:avLst>
          </a:prstGeom>
          <a:solidFill>
            <a:srgbClr val="FFFFFF"/>
          </a:solidFill>
          <a:ln w="12700">
            <a:solidFill>
              <a:srgbClr val="E3E0D8"/>
            </a:solidFill>
            <a:prstDash val="solid"/>
          </a:ln>
        </p:spPr>
      </p:sp>
      <p:sp>
        <p:nvSpPr>
          <p:cNvPr id="8" name="Shape 6"/>
          <p:cNvSpPr/>
          <p:nvPr/>
        </p:nvSpPr>
        <p:spPr>
          <a:xfrm>
            <a:off x="5212080" y="731520"/>
            <a:ext cx="1554480" cy="1325880"/>
          </a:xfrm>
          <a:prstGeom prst="roundRect">
            <a:avLst>
              <a:gd name="adj" fmla="val 6897"/>
            </a:avLst>
          </a:prstGeom>
          <a:solidFill>
            <a:srgbClr val="141414"/>
          </a:solidFill>
          <a:ln/>
        </p:spPr>
      </p:sp>
      <p:sp>
        <p:nvSpPr>
          <p:cNvPr id="9" name="Text 7"/>
          <p:cNvSpPr txBox="1"/>
          <p:nvPr/>
        </p:nvSpPr>
        <p:spPr>
          <a:xfrm>
            <a:off x="5212080" y="731520"/>
            <a:ext cx="1554480" cy="1325880"/>
          </a:xfrm>
          <a:prstGeom prst="rect">
            <a:avLst/>
          </a:prstGeom>
          <a:noFill/>
          <a:ln/>
        </p:spPr>
        <p:txBody>
          <a:bodyPr wrap="square" lIns="0" tIns="0" rIns="0" bIns="0" rtlCol="0" anchor="ctr"/>
          <a:lstStyle/>
          <a:p>
            <a:pPr algn="ctr" indent="0" marL="0">
              <a:buNone/>
            </a:pPr>
            <a:r>
              <a:rPr lang="en-US" sz="3600" b="1" dirty="0">
                <a:solidFill>
                  <a:srgbClr val="C6F25B"/>
                </a:solidFill>
                <a:latin typeface="Arial" pitchFamily="34" charset="0"/>
                <a:ea typeface="Arial" pitchFamily="34" charset="-122"/>
                <a:cs typeface="Arial" pitchFamily="34" charset="-120"/>
              </a:rPr>
              <a:t>~95</a:t>
            </a:r>
            <a:endParaRPr lang="en-US" sz="3600" dirty="0"/>
          </a:p>
        </p:txBody>
      </p:sp>
      <p:sp>
        <p:nvSpPr>
          <p:cNvPr id="10" name="Text 8"/>
          <p:cNvSpPr txBox="1"/>
          <p:nvPr/>
        </p:nvSpPr>
        <p:spPr>
          <a:xfrm>
            <a:off x="6995160" y="704088"/>
            <a:ext cx="4480560" cy="731520"/>
          </a:xfrm>
          <a:prstGeom prst="rect">
            <a:avLst/>
          </a:prstGeom>
          <a:noFill/>
          <a:ln/>
        </p:spPr>
        <p:txBody>
          <a:bodyPr wrap="square" lIns="0" tIns="0" rIns="0" bIns="0" rtlCol="0" anchor="t"/>
          <a:lstStyle/>
          <a:p>
            <a:pPr indent="0" marL="0">
              <a:buNone/>
            </a:pPr>
            <a:r>
              <a:rPr lang="en-US" sz="1700" b="1" dirty="0">
                <a:solidFill>
                  <a:srgbClr val="141414"/>
                </a:solidFill>
                <a:latin typeface="Arial" pitchFamily="34" charset="0"/>
                <a:ea typeface="Arial" pitchFamily="34" charset="-122"/>
                <a:cs typeface="Arial" pitchFamily="34" charset="-120"/>
              </a:rPr>
              <a:t>Result locked behind the paywall after a 31-step quiz</a:t>
            </a:r>
            <a:endParaRPr lang="en-US" sz="1700" dirty="0"/>
          </a:p>
        </p:txBody>
      </p:sp>
      <p:sp>
        <p:nvSpPr>
          <p:cNvPr id="11" name="Text 9"/>
          <p:cNvSpPr txBox="1"/>
          <p:nvPr/>
        </p:nvSpPr>
        <p:spPr>
          <a:xfrm>
            <a:off x="6995160" y="1508760"/>
            <a:ext cx="4480560" cy="640080"/>
          </a:xfrm>
          <a:prstGeom prst="rect">
            <a:avLst/>
          </a:prstGeom>
          <a:noFill/>
          <a:ln/>
        </p:spPr>
        <p:txBody>
          <a:bodyPr wrap="square" lIns="0" tIns="0" rIns="0" bIns="0" rtlCol="0" anchor="t"/>
          <a:lstStyle/>
          <a:p>
            <a:pPr indent="0" marL="0">
              <a:buNone/>
            </a:pPr>
            <a:r>
              <a:rPr lang="en-US" sz="1400" i="1" dirty="0">
                <a:solidFill>
                  <a:srgbClr val="6B6B6B"/>
                </a:solidFill>
                <a:latin typeface="Arial" pitchFamily="34" charset="0"/>
                <a:ea typeface="Arial" pitchFamily="34" charset="-122"/>
                <a:cs typeface="Arial" pitchFamily="34" charset="-120"/>
              </a:rPr>
              <a:t>"Did the whole questionnaire ... at the last second told me I had to pay"</a:t>
            </a:r>
            <a:endParaRPr lang="en-US" sz="1400" dirty="0"/>
          </a:p>
        </p:txBody>
      </p:sp>
      <p:sp>
        <p:nvSpPr>
          <p:cNvPr id="12" name="Shape 10"/>
          <p:cNvSpPr/>
          <p:nvPr/>
        </p:nvSpPr>
        <p:spPr>
          <a:xfrm>
            <a:off x="5029200" y="2468880"/>
            <a:ext cx="6629400" cy="1783080"/>
          </a:xfrm>
          <a:prstGeom prst="roundRect">
            <a:avLst>
              <a:gd name="adj" fmla="val 5128"/>
            </a:avLst>
          </a:prstGeom>
          <a:solidFill>
            <a:srgbClr val="FFFFFF"/>
          </a:solidFill>
          <a:ln w="12700">
            <a:solidFill>
              <a:srgbClr val="E3E0D8"/>
            </a:solidFill>
            <a:prstDash val="solid"/>
          </a:ln>
        </p:spPr>
      </p:sp>
      <p:sp>
        <p:nvSpPr>
          <p:cNvPr id="13" name="Shape 11"/>
          <p:cNvSpPr/>
          <p:nvPr/>
        </p:nvSpPr>
        <p:spPr>
          <a:xfrm>
            <a:off x="5212080" y="2697480"/>
            <a:ext cx="1554480" cy="1325880"/>
          </a:xfrm>
          <a:prstGeom prst="roundRect">
            <a:avLst>
              <a:gd name="adj" fmla="val 6897"/>
            </a:avLst>
          </a:prstGeom>
          <a:solidFill>
            <a:srgbClr val="141414"/>
          </a:solidFill>
          <a:ln/>
        </p:spPr>
      </p:sp>
      <p:sp>
        <p:nvSpPr>
          <p:cNvPr id="14" name="Text 12"/>
          <p:cNvSpPr txBox="1"/>
          <p:nvPr/>
        </p:nvSpPr>
        <p:spPr>
          <a:xfrm>
            <a:off x="5212080" y="2697480"/>
            <a:ext cx="1554480" cy="1325880"/>
          </a:xfrm>
          <a:prstGeom prst="rect">
            <a:avLst/>
          </a:prstGeom>
          <a:noFill/>
          <a:ln/>
        </p:spPr>
        <p:txBody>
          <a:bodyPr wrap="square" lIns="0" tIns="0" rIns="0" bIns="0" rtlCol="0" anchor="ctr"/>
          <a:lstStyle/>
          <a:p>
            <a:pPr algn="ctr" indent="0" marL="0">
              <a:buNone/>
            </a:pPr>
            <a:r>
              <a:rPr lang="en-US" sz="3600" b="1" dirty="0">
                <a:solidFill>
                  <a:srgbClr val="C6F25B"/>
                </a:solidFill>
                <a:latin typeface="Arial" pitchFamily="34" charset="0"/>
                <a:ea typeface="Arial" pitchFamily="34" charset="-122"/>
                <a:cs typeface="Arial" pitchFamily="34" charset="-120"/>
              </a:rPr>
              <a:t>~43</a:t>
            </a:r>
            <a:endParaRPr lang="en-US" sz="3600" dirty="0"/>
          </a:p>
        </p:txBody>
      </p:sp>
      <p:sp>
        <p:nvSpPr>
          <p:cNvPr id="15" name="Text 13"/>
          <p:cNvSpPr txBox="1"/>
          <p:nvPr/>
        </p:nvSpPr>
        <p:spPr>
          <a:xfrm>
            <a:off x="6995160" y="2670048"/>
            <a:ext cx="4480560" cy="731520"/>
          </a:xfrm>
          <a:prstGeom prst="rect">
            <a:avLst/>
          </a:prstGeom>
          <a:noFill/>
          <a:ln/>
        </p:spPr>
        <p:txBody>
          <a:bodyPr wrap="square" lIns="0" tIns="0" rIns="0" bIns="0" rtlCol="0" anchor="t"/>
          <a:lstStyle/>
          <a:p>
            <a:pPr indent="0" marL="0">
              <a:buNone/>
            </a:pPr>
            <a:r>
              <a:rPr lang="en-US" sz="1700" b="1" dirty="0">
                <a:solidFill>
                  <a:srgbClr val="141414"/>
                </a:solidFill>
                <a:latin typeface="Arial" pitchFamily="34" charset="0"/>
                <a:ea typeface="Arial" pitchFamily="34" charset="-122"/>
                <a:cs typeface="Arial" pitchFamily="34" charset="-120"/>
              </a:rPr>
              <a:t>A long, personal quiz before any value</a:t>
            </a:r>
            <a:endParaRPr lang="en-US" sz="1700" dirty="0"/>
          </a:p>
        </p:txBody>
      </p:sp>
      <p:sp>
        <p:nvSpPr>
          <p:cNvPr id="16" name="Text 14"/>
          <p:cNvSpPr txBox="1"/>
          <p:nvPr/>
        </p:nvSpPr>
        <p:spPr>
          <a:xfrm>
            <a:off x="6995160" y="3474720"/>
            <a:ext cx="4480560" cy="640080"/>
          </a:xfrm>
          <a:prstGeom prst="rect">
            <a:avLst/>
          </a:prstGeom>
          <a:noFill/>
          <a:ln/>
        </p:spPr>
        <p:txBody>
          <a:bodyPr wrap="square" lIns="0" tIns="0" rIns="0" bIns="0" rtlCol="0" anchor="t"/>
          <a:lstStyle/>
          <a:p>
            <a:pPr indent="0" marL="0">
              <a:buNone/>
            </a:pPr>
            <a:r>
              <a:rPr lang="en-US" sz="1400" i="1" dirty="0">
                <a:solidFill>
                  <a:srgbClr val="6B6B6B"/>
                </a:solidFill>
                <a:latin typeface="Arial" pitchFamily="34" charset="0"/>
                <a:ea typeface="Arial" pitchFamily="34" charset="-122"/>
                <a:cs typeface="Arial" pitchFamily="34" charset="-120"/>
              </a:rPr>
              <a:t>"Tell me up front so that I don't waste my time."</a:t>
            </a:r>
            <a:endParaRPr lang="en-US" sz="1400" dirty="0"/>
          </a:p>
        </p:txBody>
      </p:sp>
      <p:sp>
        <p:nvSpPr>
          <p:cNvPr id="17" name="Shape 15"/>
          <p:cNvSpPr/>
          <p:nvPr/>
        </p:nvSpPr>
        <p:spPr>
          <a:xfrm>
            <a:off x="5029200" y="4434840"/>
            <a:ext cx="6629400" cy="1783080"/>
          </a:xfrm>
          <a:prstGeom prst="roundRect">
            <a:avLst>
              <a:gd name="adj" fmla="val 5128"/>
            </a:avLst>
          </a:prstGeom>
          <a:solidFill>
            <a:srgbClr val="FFFFFF"/>
          </a:solidFill>
          <a:ln w="12700">
            <a:solidFill>
              <a:srgbClr val="E3E0D8"/>
            </a:solidFill>
            <a:prstDash val="solid"/>
          </a:ln>
        </p:spPr>
      </p:sp>
      <p:sp>
        <p:nvSpPr>
          <p:cNvPr id="18" name="Shape 16"/>
          <p:cNvSpPr/>
          <p:nvPr/>
        </p:nvSpPr>
        <p:spPr>
          <a:xfrm>
            <a:off x="5212080" y="4663440"/>
            <a:ext cx="1554480" cy="1325880"/>
          </a:xfrm>
          <a:prstGeom prst="roundRect">
            <a:avLst>
              <a:gd name="adj" fmla="val 6897"/>
            </a:avLst>
          </a:prstGeom>
          <a:solidFill>
            <a:srgbClr val="141414"/>
          </a:solidFill>
          <a:ln/>
        </p:spPr>
      </p:sp>
      <p:sp>
        <p:nvSpPr>
          <p:cNvPr id="19" name="Text 17"/>
          <p:cNvSpPr txBox="1"/>
          <p:nvPr/>
        </p:nvSpPr>
        <p:spPr>
          <a:xfrm>
            <a:off x="5212080" y="4663440"/>
            <a:ext cx="1554480" cy="1325880"/>
          </a:xfrm>
          <a:prstGeom prst="rect">
            <a:avLst/>
          </a:prstGeom>
          <a:noFill/>
          <a:ln/>
        </p:spPr>
        <p:txBody>
          <a:bodyPr wrap="square" lIns="0" tIns="0" rIns="0" bIns="0" rtlCol="0" anchor="ctr"/>
          <a:lstStyle/>
          <a:p>
            <a:pPr algn="ctr" indent="0" marL="0">
              <a:buNone/>
            </a:pPr>
            <a:r>
              <a:rPr lang="en-US" sz="3600" b="1" dirty="0">
                <a:solidFill>
                  <a:srgbClr val="C6F25B"/>
                </a:solidFill>
                <a:latin typeface="Arial" pitchFamily="34" charset="0"/>
                <a:ea typeface="Arial" pitchFamily="34" charset="-122"/>
                <a:cs typeface="Arial" pitchFamily="34" charset="-120"/>
              </a:rPr>
              <a:t>~19</a:t>
            </a:r>
            <a:endParaRPr lang="en-US" sz="3600" dirty="0"/>
          </a:p>
        </p:txBody>
      </p:sp>
      <p:sp>
        <p:nvSpPr>
          <p:cNvPr id="20" name="Text 18"/>
          <p:cNvSpPr txBox="1"/>
          <p:nvPr/>
        </p:nvSpPr>
        <p:spPr>
          <a:xfrm>
            <a:off x="6995160" y="4636008"/>
            <a:ext cx="4480560" cy="731520"/>
          </a:xfrm>
          <a:prstGeom prst="rect">
            <a:avLst/>
          </a:prstGeom>
          <a:noFill/>
          <a:ln/>
        </p:spPr>
        <p:txBody>
          <a:bodyPr wrap="square" lIns="0" tIns="0" rIns="0" bIns="0" rtlCol="0" anchor="t"/>
          <a:lstStyle/>
          <a:p>
            <a:pPr indent="0" marL="0">
              <a:buNone/>
            </a:pPr>
            <a:r>
              <a:rPr lang="en-US" sz="1700" b="1" dirty="0">
                <a:solidFill>
                  <a:srgbClr val="141414"/>
                </a:solidFill>
                <a:latin typeface="Arial" pitchFamily="34" charset="0"/>
                <a:ea typeface="Arial" pitchFamily="34" charset="-122"/>
                <a:cs typeface="Arial" pitchFamily="34" charset="-120"/>
              </a:rPr>
              <a:t>Billing surprises: "$0.67/week" vs $35 to $60 charged</a:t>
            </a:r>
            <a:endParaRPr lang="en-US" sz="1700" dirty="0"/>
          </a:p>
        </p:txBody>
      </p:sp>
      <p:sp>
        <p:nvSpPr>
          <p:cNvPr id="21" name="Text 19"/>
          <p:cNvSpPr txBox="1"/>
          <p:nvPr/>
        </p:nvSpPr>
        <p:spPr>
          <a:xfrm>
            <a:off x="6995160" y="5440680"/>
            <a:ext cx="4480560" cy="640080"/>
          </a:xfrm>
          <a:prstGeom prst="rect">
            <a:avLst/>
          </a:prstGeom>
          <a:noFill/>
          <a:ln/>
        </p:spPr>
        <p:txBody>
          <a:bodyPr wrap="square" lIns="0" tIns="0" rIns="0" bIns="0" rtlCol="0" anchor="t"/>
          <a:lstStyle/>
          <a:p>
            <a:pPr indent="0" marL="0">
              <a:buNone/>
            </a:pPr>
            <a:r>
              <a:rPr lang="en-US" sz="1400" i="1" dirty="0">
                <a:solidFill>
                  <a:srgbClr val="6B6B6B"/>
                </a:solidFill>
                <a:latin typeface="Arial" pitchFamily="34" charset="0"/>
                <a:ea typeface="Arial" pitchFamily="34" charset="-122"/>
                <a:cs typeface="Arial" pitchFamily="34" charset="-120"/>
              </a:rPr>
              <a:t>"It said $0.67 per week but it really charged me $35."</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800" b="1" dirty="0">
                <a:solidFill>
                  <a:srgbClr val="141414"/>
                </a:solidFill>
                <a:latin typeface="Arial" pitchFamily="34" charset="0"/>
                <a:ea typeface="Arial" pitchFamily="34" charset="-122"/>
                <a:cs typeface="Arial" pitchFamily="34" charset="-120"/>
              </a:rPr>
              <a:t>Our one-line value proposition</a:t>
            </a:r>
            <a:endParaRPr lang="en-US" sz="3800" dirty="0"/>
          </a:p>
        </p:txBody>
      </p:sp>
      <p:sp>
        <p:nvSpPr>
          <p:cNvPr id="3" name="Shape 1"/>
          <p:cNvSpPr/>
          <p:nvPr/>
        </p:nvSpPr>
        <p:spPr>
          <a:xfrm>
            <a:off x="548640" y="1325880"/>
            <a:ext cx="7315200" cy="2331720"/>
          </a:xfrm>
          <a:prstGeom prst="roundRect">
            <a:avLst>
              <a:gd name="adj" fmla="val 4706"/>
            </a:avLst>
          </a:prstGeom>
          <a:solidFill>
            <a:srgbClr val="141414"/>
          </a:solidFill>
          <a:ln/>
        </p:spPr>
      </p:sp>
      <p:sp>
        <p:nvSpPr>
          <p:cNvPr id="4" name="Text 2"/>
          <p:cNvSpPr txBox="1"/>
          <p:nvPr/>
        </p:nvSpPr>
        <p:spPr>
          <a:xfrm>
            <a:off x="822960" y="1508760"/>
            <a:ext cx="6766560" cy="2011680"/>
          </a:xfrm>
          <a:prstGeom prst="rect">
            <a:avLst/>
          </a:prstGeom>
          <a:noFill/>
          <a:ln/>
        </p:spPr>
        <p:txBody>
          <a:bodyPr wrap="square" lIns="0" tIns="0" rIns="0" bIns="0" rtlCol="0" anchor="ctr"/>
          <a:lstStyle/>
          <a:p>
            <a:pPr indent="0" marL="0">
              <a:buNone/>
            </a:pPr>
            <a:r>
              <a:rPr lang="en-US" sz="1900" dirty="0">
                <a:solidFill>
                  <a:srgbClr val="F6F4EF"/>
                </a:solidFill>
                <a:latin typeface="Arial" pitchFamily="34" charset="0"/>
                <a:ea typeface="Arial" pitchFamily="34" charset="-122"/>
                <a:cs typeface="Arial" pitchFamily="34" charset="-120"/>
              </a:rPr>
              <a:t>For 13 to 17-year-olds who want to know how tall they will get but hate 30-question quizzes that end in a paywall, </a:t>
            </a:r>
            <a:pPr indent="0" marL="0">
              <a:buNone/>
            </a:pPr>
            <a:r>
              <a:rPr lang="en-US" sz="1900" b="1" dirty="0">
                <a:solidFill>
                  <a:srgbClr val="C6F25B"/>
                </a:solidFill>
                <a:latin typeface="Arial" pitchFamily="34" charset="0"/>
                <a:ea typeface="Arial" pitchFamily="34" charset="-122"/>
                <a:cs typeface="Arial" pitchFamily="34" charset="-120"/>
              </a:rPr>
              <a:t>Measured shows your honest height range in under a minute</a:t>
            </a:r>
            <a:pPr indent="0" marL="0">
              <a:buNone/>
            </a:pPr>
            <a:r>
              <a:rPr lang="en-US" sz="1900" dirty="0">
                <a:solidFill>
                  <a:srgbClr val="F6F4EF"/>
                </a:solidFill>
                <a:latin typeface="Arial" pitchFamily="34" charset="0"/>
                <a:ea typeface="Arial" pitchFamily="34" charset="-122"/>
                <a:cs typeface="Arial" pitchFamily="34" charset="-120"/>
              </a:rPr>
              <a:t>, unlike GoTall, because you see your result before any paywall and the price is never hidden.</a:t>
            </a:r>
            <a:endParaRPr lang="en-US" sz="1900" dirty="0"/>
          </a:p>
        </p:txBody>
      </p:sp>
      <p:sp>
        <p:nvSpPr>
          <p:cNvPr id="5" name="Shape 3"/>
          <p:cNvSpPr/>
          <p:nvPr/>
        </p:nvSpPr>
        <p:spPr>
          <a:xfrm>
            <a:off x="548640" y="3931920"/>
            <a:ext cx="2377440" cy="2286000"/>
          </a:xfrm>
          <a:prstGeom prst="roundRect">
            <a:avLst>
              <a:gd name="adj" fmla="val 4000"/>
            </a:avLst>
          </a:prstGeom>
          <a:solidFill>
            <a:srgbClr val="FFFFFF"/>
          </a:solidFill>
          <a:ln w="12700">
            <a:solidFill>
              <a:srgbClr val="E3E0D8"/>
            </a:solidFill>
            <a:prstDash val="solid"/>
          </a:ln>
        </p:spPr>
      </p:sp>
      <p:sp>
        <p:nvSpPr>
          <p:cNvPr id="6" name="Text 4"/>
          <p:cNvSpPr txBox="1"/>
          <p:nvPr/>
        </p:nvSpPr>
        <p:spPr>
          <a:xfrm>
            <a:off x="731520" y="4114800"/>
            <a:ext cx="2011680" cy="320040"/>
          </a:xfrm>
          <a:prstGeom prst="rect">
            <a:avLst/>
          </a:prstGeom>
          <a:noFill/>
          <a:ln/>
        </p:spPr>
        <p:txBody>
          <a:bodyPr wrap="square" lIns="0" tIns="0" rIns="0" bIns="0" rtlCol="0" anchor="t"/>
          <a:lstStyle/>
          <a:p>
            <a:pPr indent="0" marL="0">
              <a:buNone/>
            </a:pPr>
            <a:r>
              <a:rPr lang="en-US" sz="1400" b="1" dirty="0">
                <a:solidFill>
                  <a:srgbClr val="FF5A1F"/>
                </a:solidFill>
                <a:latin typeface="Arial" pitchFamily="34" charset="0"/>
                <a:ea typeface="Arial" pitchFamily="34" charset="-122"/>
                <a:cs typeface="Arial" pitchFamily="34" charset="-120"/>
              </a:rPr>
              <a:t>WHO</a:t>
            </a:r>
            <a:endParaRPr lang="en-US" sz="1400" dirty="0"/>
          </a:p>
        </p:txBody>
      </p:sp>
      <p:sp>
        <p:nvSpPr>
          <p:cNvPr id="7" name="Text 5"/>
          <p:cNvSpPr txBox="1"/>
          <p:nvPr/>
        </p:nvSpPr>
        <p:spPr>
          <a:xfrm>
            <a:off x="731520" y="4526280"/>
            <a:ext cx="2011680" cy="1554480"/>
          </a:xfrm>
          <a:prstGeom prst="rect">
            <a:avLst/>
          </a:prstGeom>
          <a:noFill/>
          <a:ln/>
        </p:spPr>
        <p:txBody>
          <a:bodyPr wrap="square" lIns="0" tIns="0" rIns="0" bIns="0" rtlCol="0" anchor="t"/>
          <a:lstStyle/>
          <a:p>
            <a:pPr indent="0" marL="0">
              <a:buNone/>
            </a:pPr>
            <a:r>
              <a:rPr lang="en-US" sz="1600" b="1" dirty="0">
                <a:solidFill>
                  <a:srgbClr val="141414"/>
                </a:solidFill>
                <a:latin typeface="Arial" pitchFamily="34" charset="0"/>
                <a:ea typeface="Arial" pitchFamily="34" charset="-122"/>
                <a:cs typeface="Arial" pitchFamily="34" charset="-120"/>
              </a:rPr>
              <a:t>Teens who wonder how tall they will get</a:t>
            </a:r>
            <a:endParaRPr lang="en-US" sz="1600" dirty="0"/>
          </a:p>
        </p:txBody>
      </p:sp>
      <p:sp>
        <p:nvSpPr>
          <p:cNvPr id="8" name="Shape 6"/>
          <p:cNvSpPr/>
          <p:nvPr/>
        </p:nvSpPr>
        <p:spPr>
          <a:xfrm>
            <a:off x="3017520" y="3931920"/>
            <a:ext cx="2377440" cy="2286000"/>
          </a:xfrm>
          <a:prstGeom prst="roundRect">
            <a:avLst>
              <a:gd name="adj" fmla="val 4000"/>
            </a:avLst>
          </a:prstGeom>
          <a:solidFill>
            <a:srgbClr val="FFFFFF"/>
          </a:solidFill>
          <a:ln w="12700">
            <a:solidFill>
              <a:srgbClr val="E3E0D8"/>
            </a:solidFill>
            <a:prstDash val="solid"/>
          </a:ln>
        </p:spPr>
      </p:sp>
      <p:sp>
        <p:nvSpPr>
          <p:cNvPr id="9" name="Text 7"/>
          <p:cNvSpPr txBox="1"/>
          <p:nvPr/>
        </p:nvSpPr>
        <p:spPr>
          <a:xfrm>
            <a:off x="3200400" y="4114800"/>
            <a:ext cx="2011680" cy="320040"/>
          </a:xfrm>
          <a:prstGeom prst="rect">
            <a:avLst/>
          </a:prstGeom>
          <a:noFill/>
          <a:ln/>
        </p:spPr>
        <p:txBody>
          <a:bodyPr wrap="square" lIns="0" tIns="0" rIns="0" bIns="0" rtlCol="0" anchor="t"/>
          <a:lstStyle/>
          <a:p>
            <a:pPr indent="0" marL="0">
              <a:buNone/>
            </a:pPr>
            <a:r>
              <a:rPr lang="en-US" sz="1400" b="1" dirty="0">
                <a:solidFill>
                  <a:srgbClr val="FF5A1F"/>
                </a:solidFill>
                <a:latin typeface="Arial" pitchFamily="34" charset="0"/>
                <a:ea typeface="Arial" pitchFamily="34" charset="-122"/>
                <a:cs typeface="Arial" pitchFamily="34" charset="-120"/>
              </a:rPr>
              <a:t>PAIN</a:t>
            </a:r>
            <a:endParaRPr lang="en-US" sz="1400" dirty="0"/>
          </a:p>
        </p:txBody>
      </p:sp>
      <p:sp>
        <p:nvSpPr>
          <p:cNvPr id="10" name="Text 8"/>
          <p:cNvSpPr txBox="1"/>
          <p:nvPr/>
        </p:nvSpPr>
        <p:spPr>
          <a:xfrm>
            <a:off x="3200400" y="4526280"/>
            <a:ext cx="2011680" cy="1554480"/>
          </a:xfrm>
          <a:prstGeom prst="rect">
            <a:avLst/>
          </a:prstGeom>
          <a:noFill/>
          <a:ln/>
        </p:spPr>
        <p:txBody>
          <a:bodyPr wrap="square" lIns="0" tIns="0" rIns="0" bIns="0" rtlCol="0" anchor="t"/>
          <a:lstStyle/>
          <a:p>
            <a:pPr indent="0" marL="0">
              <a:buNone/>
            </a:pPr>
            <a:r>
              <a:rPr lang="en-US" sz="1600" b="1" dirty="0">
                <a:solidFill>
                  <a:srgbClr val="141414"/>
                </a:solidFill>
                <a:latin typeface="Arial" pitchFamily="34" charset="0"/>
                <a:ea typeface="Arial" pitchFamily="34" charset="-122"/>
                <a:cs typeface="Arial" pitchFamily="34" charset="-120"/>
              </a:rPr>
              <a:t>"Answered 30 questions just to hit a paywall"</a:t>
            </a:r>
            <a:endParaRPr lang="en-US" sz="1600" dirty="0"/>
          </a:p>
        </p:txBody>
      </p:sp>
      <p:sp>
        <p:nvSpPr>
          <p:cNvPr id="11" name="Shape 9"/>
          <p:cNvSpPr/>
          <p:nvPr/>
        </p:nvSpPr>
        <p:spPr>
          <a:xfrm>
            <a:off x="5486400" y="3931920"/>
            <a:ext cx="2377440" cy="2286000"/>
          </a:xfrm>
          <a:prstGeom prst="roundRect">
            <a:avLst>
              <a:gd name="adj" fmla="val 4000"/>
            </a:avLst>
          </a:prstGeom>
          <a:solidFill>
            <a:srgbClr val="FFFFFF"/>
          </a:solidFill>
          <a:ln w="12700">
            <a:solidFill>
              <a:srgbClr val="E3E0D8"/>
            </a:solidFill>
            <a:prstDash val="solid"/>
          </a:ln>
        </p:spPr>
      </p:sp>
      <p:sp>
        <p:nvSpPr>
          <p:cNvPr id="12" name="Text 10"/>
          <p:cNvSpPr txBox="1"/>
          <p:nvPr/>
        </p:nvSpPr>
        <p:spPr>
          <a:xfrm>
            <a:off x="5669280" y="4114800"/>
            <a:ext cx="2011680" cy="320040"/>
          </a:xfrm>
          <a:prstGeom prst="rect">
            <a:avLst/>
          </a:prstGeom>
          <a:noFill/>
          <a:ln/>
        </p:spPr>
        <p:txBody>
          <a:bodyPr wrap="square" lIns="0" tIns="0" rIns="0" bIns="0" rtlCol="0" anchor="t"/>
          <a:lstStyle/>
          <a:p>
            <a:pPr indent="0" marL="0">
              <a:buNone/>
            </a:pPr>
            <a:r>
              <a:rPr lang="en-US" sz="1400" b="1" dirty="0">
                <a:solidFill>
                  <a:srgbClr val="FF5A1F"/>
                </a:solidFill>
                <a:latin typeface="Arial" pitchFamily="34" charset="0"/>
                <a:ea typeface="Arial" pitchFamily="34" charset="-122"/>
                <a:cs typeface="Arial" pitchFamily="34" charset="-120"/>
              </a:rPr>
              <a:t>PROMISE</a:t>
            </a:r>
            <a:endParaRPr lang="en-US" sz="1400" dirty="0"/>
          </a:p>
        </p:txBody>
      </p:sp>
      <p:sp>
        <p:nvSpPr>
          <p:cNvPr id="13" name="Text 11"/>
          <p:cNvSpPr txBox="1"/>
          <p:nvPr/>
        </p:nvSpPr>
        <p:spPr>
          <a:xfrm>
            <a:off x="5669280" y="4526280"/>
            <a:ext cx="2011680" cy="1554480"/>
          </a:xfrm>
          <a:prstGeom prst="rect">
            <a:avLst/>
          </a:prstGeom>
          <a:noFill/>
          <a:ln/>
        </p:spPr>
        <p:txBody>
          <a:bodyPr wrap="square" lIns="0" tIns="0" rIns="0" bIns="0" rtlCol="0" anchor="t"/>
          <a:lstStyle/>
          <a:p>
            <a:pPr indent="0" marL="0">
              <a:buNone/>
            </a:pPr>
            <a:r>
              <a:rPr lang="en-US" sz="1600" b="1" dirty="0">
                <a:solidFill>
                  <a:srgbClr val="141414"/>
                </a:solidFill>
                <a:latin typeface="Arial" pitchFamily="34" charset="0"/>
                <a:ea typeface="Arial" pitchFamily="34" charset="-122"/>
                <a:cs typeface="Arial" pitchFamily="34" charset="-120"/>
              </a:rPr>
              <a:t>Your honest adult height range in 60 seconds</a:t>
            </a:r>
            <a:endParaRPr lang="en-US" sz="1600" dirty="0"/>
          </a:p>
        </p:txBody>
      </p:sp>
      <p:sp>
        <p:nvSpPr>
          <p:cNvPr id="14" name="Shape 12"/>
          <p:cNvSpPr/>
          <p:nvPr/>
        </p:nvSpPr>
        <p:spPr>
          <a:xfrm>
            <a:off x="8723376" y="768096"/>
            <a:ext cx="2349141" cy="4956048"/>
          </a:xfrm>
          <a:prstGeom prst="roundRect">
            <a:avLst>
              <a:gd name="adj" fmla="val 4671"/>
            </a:avLst>
          </a:prstGeom>
          <a:solidFill>
            <a:srgbClr val="FFFFFF"/>
          </a:solidFill>
          <a:ln w="12700">
            <a:solidFill>
              <a:srgbClr val="D9D6CE"/>
            </a:solidFill>
            <a:prstDash val="solid"/>
          </a:ln>
        </p:spPr>
      </p:sp>
      <p:pic>
        <p:nvPicPr>
          <p:cNvPr id="15" name="Image 0" descr="C:\Users\aksuc\Desktop\proje_odev\design\export/screens/01-promise-light.png">    </p:cNvPr>
          <p:cNvPicPr>
            <a:picLocks noChangeAspect="1"/>
          </p:cNvPicPr>
          <p:nvPr/>
        </p:nvPicPr>
        <p:blipFill>
          <a:blip r:embed="rId1"/>
          <a:stretch>
            <a:fillRect/>
          </a:stretch>
        </p:blipFill>
        <p:spPr>
          <a:xfrm>
            <a:off x="8778240" y="822960"/>
            <a:ext cx="2239413" cy="48463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800" b="1" dirty="0">
                <a:solidFill>
                  <a:srgbClr val="141414"/>
                </a:solidFill>
                <a:latin typeface="Arial" pitchFamily="34" charset="0"/>
                <a:ea typeface="Arial" pitchFamily="34" charset="-122"/>
                <a:cs typeface="Arial" pitchFamily="34" charset="-120"/>
              </a:rPr>
              <a:t>Moodboard and style: Bold Measure</a:t>
            </a:r>
            <a:endParaRPr lang="en-US" sz="3800" dirty="0"/>
          </a:p>
        </p:txBody>
      </p:sp>
      <p:sp>
        <p:nvSpPr>
          <p:cNvPr id="3" name="Shape 1"/>
          <p:cNvSpPr/>
          <p:nvPr/>
        </p:nvSpPr>
        <p:spPr>
          <a:xfrm>
            <a:off x="548640" y="1463040"/>
            <a:ext cx="2194560" cy="1645920"/>
          </a:xfrm>
          <a:prstGeom prst="roundRect">
            <a:avLst>
              <a:gd name="adj" fmla="val 5556"/>
            </a:avLst>
          </a:prstGeom>
          <a:solidFill>
            <a:srgbClr val="F6F4EF"/>
          </a:solidFill>
          <a:ln w="12700">
            <a:solidFill>
              <a:srgbClr val="C9C5BB"/>
            </a:solidFill>
            <a:prstDash val="solid"/>
          </a:ln>
        </p:spPr>
      </p:sp>
      <p:sp>
        <p:nvSpPr>
          <p:cNvPr id="4" name="Text 2"/>
          <p:cNvSpPr txBox="1"/>
          <p:nvPr/>
        </p:nvSpPr>
        <p:spPr>
          <a:xfrm>
            <a:off x="731520" y="2377440"/>
            <a:ext cx="1828800" cy="320040"/>
          </a:xfrm>
          <a:prstGeom prst="rect">
            <a:avLst/>
          </a:prstGeom>
          <a:noFill/>
          <a:ln/>
        </p:spPr>
        <p:txBody>
          <a:bodyPr wrap="square" lIns="0" tIns="0" rIns="0" bIns="0" rtlCol="0" anchor="t"/>
          <a:lstStyle/>
          <a:p>
            <a:pPr indent="0" marL="0">
              <a:buNone/>
            </a:pPr>
            <a:r>
              <a:rPr lang="en-US" sz="1600" b="1" dirty="0">
                <a:solidFill>
                  <a:srgbClr val="141414"/>
                </a:solidFill>
                <a:latin typeface="Arial" pitchFamily="34" charset="0"/>
                <a:ea typeface="Arial" pitchFamily="34" charset="-122"/>
                <a:cs typeface="Arial" pitchFamily="34" charset="-120"/>
              </a:rPr>
              <a:t>Paper</a:t>
            </a:r>
            <a:endParaRPr lang="en-US" sz="1600" dirty="0"/>
          </a:p>
        </p:txBody>
      </p:sp>
      <p:sp>
        <p:nvSpPr>
          <p:cNvPr id="5" name="Text 3"/>
          <p:cNvSpPr txBox="1"/>
          <p:nvPr/>
        </p:nvSpPr>
        <p:spPr>
          <a:xfrm>
            <a:off x="731520" y="2724912"/>
            <a:ext cx="1828800" cy="274320"/>
          </a:xfrm>
          <a:prstGeom prst="rect">
            <a:avLst/>
          </a:prstGeom>
          <a:noFill/>
          <a:ln/>
        </p:spPr>
        <p:txBody>
          <a:bodyPr wrap="square" lIns="0" tIns="0" rIns="0" bIns="0" rtlCol="0" anchor="t"/>
          <a:lstStyle/>
          <a:p>
            <a:pPr indent="0" marL="0">
              <a:buNone/>
            </a:pPr>
            <a:r>
              <a:rPr lang="en-US" sz="1200" dirty="0">
                <a:solidFill>
                  <a:srgbClr val="141414"/>
                </a:solidFill>
                <a:latin typeface="Arial" pitchFamily="34" charset="0"/>
                <a:ea typeface="Arial" pitchFamily="34" charset="-122"/>
                <a:cs typeface="Arial" pitchFamily="34" charset="-120"/>
              </a:rPr>
              <a:t>#F6F4EF</a:t>
            </a:r>
            <a:endParaRPr lang="en-US" sz="1200" dirty="0"/>
          </a:p>
        </p:txBody>
      </p:sp>
      <p:sp>
        <p:nvSpPr>
          <p:cNvPr id="6" name="Shape 4"/>
          <p:cNvSpPr/>
          <p:nvPr/>
        </p:nvSpPr>
        <p:spPr>
          <a:xfrm>
            <a:off x="2926080" y="1463040"/>
            <a:ext cx="2194560" cy="1645920"/>
          </a:xfrm>
          <a:prstGeom prst="roundRect">
            <a:avLst>
              <a:gd name="adj" fmla="val 5556"/>
            </a:avLst>
          </a:prstGeom>
          <a:solidFill>
            <a:srgbClr val="141414"/>
          </a:solidFill>
          <a:ln w="12700">
            <a:solidFill>
              <a:srgbClr val="C9C5BB"/>
            </a:solidFill>
            <a:prstDash val="solid"/>
          </a:ln>
        </p:spPr>
      </p:sp>
      <p:sp>
        <p:nvSpPr>
          <p:cNvPr id="7" name="Text 5"/>
          <p:cNvSpPr txBox="1"/>
          <p:nvPr/>
        </p:nvSpPr>
        <p:spPr>
          <a:xfrm>
            <a:off x="3108960" y="2377440"/>
            <a:ext cx="1828800" cy="320040"/>
          </a:xfrm>
          <a:prstGeom prst="rect">
            <a:avLst/>
          </a:prstGeom>
          <a:noFill/>
          <a:ln/>
        </p:spPr>
        <p:txBody>
          <a:bodyPr wrap="square" lIns="0" tIns="0" rIns="0" bIns="0" rtlCol="0" anchor="t"/>
          <a:lstStyle/>
          <a:p>
            <a:pPr indent="0" marL="0">
              <a:buNone/>
            </a:pPr>
            <a:r>
              <a:rPr lang="en-US" sz="1600" b="1" dirty="0">
                <a:solidFill>
                  <a:srgbClr val="F6F4EF"/>
                </a:solidFill>
                <a:latin typeface="Arial" pitchFamily="34" charset="0"/>
                <a:ea typeface="Arial" pitchFamily="34" charset="-122"/>
                <a:cs typeface="Arial" pitchFamily="34" charset="-120"/>
              </a:rPr>
              <a:t>Ink</a:t>
            </a:r>
            <a:endParaRPr lang="en-US" sz="1600" dirty="0"/>
          </a:p>
        </p:txBody>
      </p:sp>
      <p:sp>
        <p:nvSpPr>
          <p:cNvPr id="8" name="Text 6"/>
          <p:cNvSpPr txBox="1"/>
          <p:nvPr/>
        </p:nvSpPr>
        <p:spPr>
          <a:xfrm>
            <a:off x="3108960" y="2724912"/>
            <a:ext cx="1828800" cy="274320"/>
          </a:xfrm>
          <a:prstGeom prst="rect">
            <a:avLst/>
          </a:prstGeom>
          <a:noFill/>
          <a:ln/>
        </p:spPr>
        <p:txBody>
          <a:bodyPr wrap="square" lIns="0" tIns="0" rIns="0" bIns="0" rtlCol="0" anchor="t"/>
          <a:lstStyle/>
          <a:p>
            <a:pPr indent="0" marL="0">
              <a:buNone/>
            </a:pPr>
            <a:r>
              <a:rPr lang="en-US" sz="1200" dirty="0">
                <a:solidFill>
                  <a:srgbClr val="F6F4EF"/>
                </a:solidFill>
                <a:latin typeface="Arial" pitchFamily="34" charset="0"/>
                <a:ea typeface="Arial" pitchFamily="34" charset="-122"/>
                <a:cs typeface="Arial" pitchFamily="34" charset="-120"/>
              </a:rPr>
              <a:t>#141414</a:t>
            </a:r>
            <a:endParaRPr lang="en-US" sz="1200" dirty="0"/>
          </a:p>
        </p:txBody>
      </p:sp>
      <p:sp>
        <p:nvSpPr>
          <p:cNvPr id="9" name="Shape 7"/>
          <p:cNvSpPr/>
          <p:nvPr/>
        </p:nvSpPr>
        <p:spPr>
          <a:xfrm>
            <a:off x="548640" y="3291840"/>
            <a:ext cx="2194560" cy="1645920"/>
          </a:xfrm>
          <a:prstGeom prst="roundRect">
            <a:avLst>
              <a:gd name="adj" fmla="val 5556"/>
            </a:avLst>
          </a:prstGeom>
          <a:solidFill>
            <a:srgbClr val="FF5A1F"/>
          </a:solidFill>
          <a:ln w="12700">
            <a:solidFill>
              <a:srgbClr val="C9C5BB"/>
            </a:solidFill>
            <a:prstDash val="solid"/>
          </a:ln>
        </p:spPr>
      </p:sp>
      <p:sp>
        <p:nvSpPr>
          <p:cNvPr id="10" name="Text 8"/>
          <p:cNvSpPr txBox="1"/>
          <p:nvPr/>
        </p:nvSpPr>
        <p:spPr>
          <a:xfrm>
            <a:off x="731520" y="4206240"/>
            <a:ext cx="1828800" cy="320040"/>
          </a:xfrm>
          <a:prstGeom prst="rect">
            <a:avLst/>
          </a:prstGeom>
          <a:noFill/>
          <a:ln/>
        </p:spPr>
        <p:txBody>
          <a:bodyPr wrap="square" lIns="0" tIns="0" rIns="0" bIns="0" rtlCol="0" anchor="t"/>
          <a:lstStyle/>
          <a:p>
            <a:pPr indent="0" marL="0">
              <a:buNone/>
            </a:pPr>
            <a:r>
              <a:rPr lang="en-US" sz="1600" b="1" dirty="0">
                <a:solidFill>
                  <a:srgbClr val="141414"/>
                </a:solidFill>
                <a:latin typeface="Arial" pitchFamily="34" charset="0"/>
                <a:ea typeface="Arial" pitchFamily="34" charset="-122"/>
                <a:cs typeface="Arial" pitchFamily="34" charset="-120"/>
              </a:rPr>
              <a:t>Tangerine</a:t>
            </a:r>
            <a:endParaRPr lang="en-US" sz="1600" dirty="0"/>
          </a:p>
        </p:txBody>
      </p:sp>
      <p:sp>
        <p:nvSpPr>
          <p:cNvPr id="11" name="Text 9"/>
          <p:cNvSpPr txBox="1"/>
          <p:nvPr/>
        </p:nvSpPr>
        <p:spPr>
          <a:xfrm>
            <a:off x="731520" y="4553712"/>
            <a:ext cx="1828800" cy="274320"/>
          </a:xfrm>
          <a:prstGeom prst="rect">
            <a:avLst/>
          </a:prstGeom>
          <a:noFill/>
          <a:ln/>
        </p:spPr>
        <p:txBody>
          <a:bodyPr wrap="square" lIns="0" tIns="0" rIns="0" bIns="0" rtlCol="0" anchor="t"/>
          <a:lstStyle/>
          <a:p>
            <a:pPr indent="0" marL="0">
              <a:buNone/>
            </a:pPr>
            <a:r>
              <a:rPr lang="en-US" sz="1200" dirty="0">
                <a:solidFill>
                  <a:srgbClr val="141414"/>
                </a:solidFill>
                <a:latin typeface="Arial" pitchFamily="34" charset="0"/>
                <a:ea typeface="Arial" pitchFamily="34" charset="-122"/>
                <a:cs typeface="Arial" pitchFamily="34" charset="-120"/>
              </a:rPr>
              <a:t>#FF5A1F</a:t>
            </a:r>
            <a:endParaRPr lang="en-US" sz="1200" dirty="0"/>
          </a:p>
        </p:txBody>
      </p:sp>
      <p:sp>
        <p:nvSpPr>
          <p:cNvPr id="12" name="Shape 10"/>
          <p:cNvSpPr/>
          <p:nvPr/>
        </p:nvSpPr>
        <p:spPr>
          <a:xfrm>
            <a:off x="2926080" y="3291840"/>
            <a:ext cx="2194560" cy="1645920"/>
          </a:xfrm>
          <a:prstGeom prst="roundRect">
            <a:avLst>
              <a:gd name="adj" fmla="val 5556"/>
            </a:avLst>
          </a:prstGeom>
          <a:solidFill>
            <a:srgbClr val="C6F25B"/>
          </a:solidFill>
          <a:ln w="12700">
            <a:solidFill>
              <a:srgbClr val="C9C5BB"/>
            </a:solidFill>
            <a:prstDash val="solid"/>
          </a:ln>
        </p:spPr>
      </p:sp>
      <p:sp>
        <p:nvSpPr>
          <p:cNvPr id="13" name="Text 11"/>
          <p:cNvSpPr txBox="1"/>
          <p:nvPr/>
        </p:nvSpPr>
        <p:spPr>
          <a:xfrm>
            <a:off x="3108960" y="4206240"/>
            <a:ext cx="1828800" cy="320040"/>
          </a:xfrm>
          <a:prstGeom prst="rect">
            <a:avLst/>
          </a:prstGeom>
          <a:noFill/>
          <a:ln/>
        </p:spPr>
        <p:txBody>
          <a:bodyPr wrap="square" lIns="0" tIns="0" rIns="0" bIns="0" rtlCol="0" anchor="t"/>
          <a:lstStyle/>
          <a:p>
            <a:pPr indent="0" marL="0">
              <a:buNone/>
            </a:pPr>
            <a:r>
              <a:rPr lang="en-US" sz="1600" b="1" dirty="0">
                <a:solidFill>
                  <a:srgbClr val="141414"/>
                </a:solidFill>
                <a:latin typeface="Arial" pitchFamily="34" charset="0"/>
                <a:ea typeface="Arial" pitchFamily="34" charset="-122"/>
                <a:cs typeface="Arial" pitchFamily="34" charset="-120"/>
              </a:rPr>
              <a:t>Lime</a:t>
            </a:r>
            <a:endParaRPr lang="en-US" sz="1600" dirty="0"/>
          </a:p>
        </p:txBody>
      </p:sp>
      <p:sp>
        <p:nvSpPr>
          <p:cNvPr id="14" name="Text 12"/>
          <p:cNvSpPr txBox="1"/>
          <p:nvPr/>
        </p:nvSpPr>
        <p:spPr>
          <a:xfrm>
            <a:off x="3108960" y="4553712"/>
            <a:ext cx="1828800" cy="274320"/>
          </a:xfrm>
          <a:prstGeom prst="rect">
            <a:avLst/>
          </a:prstGeom>
          <a:noFill/>
          <a:ln/>
        </p:spPr>
        <p:txBody>
          <a:bodyPr wrap="square" lIns="0" tIns="0" rIns="0" bIns="0" rtlCol="0" anchor="t"/>
          <a:lstStyle/>
          <a:p>
            <a:pPr indent="0" marL="0">
              <a:buNone/>
            </a:pPr>
            <a:r>
              <a:rPr lang="en-US" sz="1200" dirty="0">
                <a:solidFill>
                  <a:srgbClr val="141414"/>
                </a:solidFill>
                <a:latin typeface="Arial" pitchFamily="34" charset="0"/>
                <a:ea typeface="Arial" pitchFamily="34" charset="-122"/>
                <a:cs typeface="Arial" pitchFamily="34" charset="-120"/>
              </a:rPr>
              <a:t>#C6F25B</a:t>
            </a:r>
            <a:endParaRPr lang="en-US" sz="1200" dirty="0"/>
          </a:p>
        </p:txBody>
      </p:sp>
      <p:sp>
        <p:nvSpPr>
          <p:cNvPr id="15" name="Text 13"/>
          <p:cNvSpPr txBox="1"/>
          <p:nvPr/>
        </p:nvSpPr>
        <p:spPr>
          <a:xfrm>
            <a:off x="548640" y="5212080"/>
            <a:ext cx="4572000" cy="731520"/>
          </a:xfrm>
          <a:prstGeom prst="rect">
            <a:avLst/>
          </a:prstGeom>
          <a:noFill/>
          <a:ln/>
        </p:spPr>
        <p:txBody>
          <a:bodyPr wrap="square" lIns="0" tIns="0" rIns="0" bIns="0" rtlCol="0" anchor="t"/>
          <a:lstStyle/>
          <a:p>
            <a:pPr indent="0" marL="0">
              <a:buNone/>
            </a:pPr>
            <a:r>
              <a:rPr lang="en-US" sz="4000" b="1" dirty="0">
                <a:solidFill>
                  <a:srgbClr val="141414"/>
                </a:solidFill>
                <a:latin typeface="Arial" pitchFamily="34" charset="0"/>
                <a:ea typeface="Arial" pitchFamily="34" charset="-122"/>
                <a:cs typeface="Arial" pitchFamily="34" charset="-120"/>
              </a:rPr>
              <a:t>Aa 178 cm</a:t>
            </a:r>
            <a:endParaRPr lang="en-US" sz="4000" dirty="0"/>
          </a:p>
        </p:txBody>
      </p:sp>
      <p:sp>
        <p:nvSpPr>
          <p:cNvPr id="16" name="Text 14"/>
          <p:cNvSpPr txBox="1"/>
          <p:nvPr/>
        </p:nvSpPr>
        <p:spPr>
          <a:xfrm>
            <a:off x="548640" y="5943600"/>
            <a:ext cx="4572000" cy="54864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Clash Display headings, General Sans body. Rulers, silhouettes, big numbers.</a:t>
            </a:r>
            <a:endParaRPr lang="en-US" sz="1400" dirty="0"/>
          </a:p>
        </p:txBody>
      </p:sp>
      <p:pic>
        <p:nvPicPr>
          <p:cNvPr id="17" name="Image 0" descr="C:\Users\aksuc\Desktop\proje_odev\design\tools\deliverables\deck\img/style_crop.png">    </p:cNvPr>
          <p:cNvPicPr>
            <a:picLocks noChangeAspect="1"/>
          </p:cNvPicPr>
          <p:nvPr/>
        </p:nvPicPr>
        <p:blipFill>
          <a:blip r:embed="rId1"/>
          <a:srcRect l="0" r="0" t="0" b="0"/>
          <a:stretch/>
        </p:blipFill>
        <p:spPr>
          <a:xfrm>
            <a:off x="6583680" y="1325880"/>
            <a:ext cx="5120640" cy="51206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800" b="1" dirty="0">
                <a:solidFill>
                  <a:srgbClr val="141414"/>
                </a:solidFill>
                <a:latin typeface="Arial" pitchFamily="34" charset="0"/>
                <a:ea typeface="Arial" pitchFamily="34" charset="-122"/>
                <a:cs typeface="Arial" pitchFamily="34" charset="-120"/>
              </a:rPr>
              <a:t>The slice: 13 screens, one flow</a:t>
            </a:r>
            <a:endParaRPr lang="en-US" sz="3800" dirty="0"/>
          </a:p>
        </p:txBody>
      </p:sp>
      <p:pic>
        <p:nvPicPr>
          <p:cNvPr id="3" name="Image 0" descr="C:\Users\aksuc\Desktop\proje_odev\design\export/board-ours.png">    </p:cNvPr>
          <p:cNvPicPr>
            <a:picLocks noChangeAspect="1"/>
          </p:cNvPicPr>
          <p:nvPr/>
        </p:nvPicPr>
        <p:blipFill>
          <a:blip r:embed="rId1"/>
          <a:stretch>
            <a:fillRect/>
          </a:stretch>
        </p:blipFill>
        <p:spPr>
          <a:xfrm>
            <a:off x="365760" y="1325880"/>
            <a:ext cx="11457432" cy="2238018"/>
          </a:xfrm>
          <a:prstGeom prst="rect">
            <a:avLst/>
          </a:prstGeom>
        </p:spPr>
      </p:pic>
      <p:sp>
        <p:nvSpPr>
          <p:cNvPr id="4" name="Shape 1"/>
          <p:cNvSpPr/>
          <p:nvPr/>
        </p:nvSpPr>
        <p:spPr>
          <a:xfrm>
            <a:off x="548640" y="4023360"/>
            <a:ext cx="2560320" cy="1188720"/>
          </a:xfrm>
          <a:prstGeom prst="roundRect">
            <a:avLst>
              <a:gd name="adj" fmla="val 42308"/>
            </a:avLst>
          </a:prstGeom>
          <a:solidFill>
            <a:srgbClr val="141414"/>
          </a:solidFill>
          <a:ln/>
        </p:spPr>
      </p:sp>
      <p:sp>
        <p:nvSpPr>
          <p:cNvPr id="5" name="Text 2"/>
          <p:cNvSpPr txBox="1"/>
          <p:nvPr/>
        </p:nvSpPr>
        <p:spPr>
          <a:xfrm>
            <a:off x="548640" y="4023360"/>
            <a:ext cx="2560320" cy="1188720"/>
          </a:xfrm>
          <a:prstGeom prst="rect">
            <a:avLst/>
          </a:prstGeom>
          <a:noFill/>
          <a:ln/>
        </p:spPr>
        <p:txBody>
          <a:bodyPr wrap="square" lIns="0" tIns="0" rIns="0" bIns="0" rtlCol="0" anchor="ctr"/>
          <a:lstStyle/>
          <a:p>
            <a:pPr algn="ctr" indent="0" marL="0">
              <a:buNone/>
            </a:pPr>
            <a:r>
              <a:rPr lang="en-US" sz="2000" b="1" dirty="0">
                <a:solidFill>
                  <a:srgbClr val="F6F4EF"/>
                </a:solidFill>
                <a:latin typeface="Arial" pitchFamily="34" charset="0"/>
                <a:ea typeface="Arial" pitchFamily="34" charset="-122"/>
                <a:cs typeface="Arial" pitchFamily="34" charset="-120"/>
              </a:rPr>
              <a:t>4 questions</a:t>
            </a:r>
            <a:endParaRPr lang="en-US" sz="2000" dirty="0"/>
          </a:p>
        </p:txBody>
      </p:sp>
      <p:sp>
        <p:nvSpPr>
          <p:cNvPr id="6" name="Text 3"/>
          <p:cNvSpPr txBox="1"/>
          <p:nvPr/>
        </p:nvSpPr>
        <p:spPr>
          <a:xfrm>
            <a:off x="3108960" y="4023360"/>
            <a:ext cx="274320" cy="1188720"/>
          </a:xfrm>
          <a:prstGeom prst="rect">
            <a:avLst/>
          </a:prstGeom>
          <a:noFill/>
          <a:ln/>
        </p:spPr>
        <p:txBody>
          <a:bodyPr wrap="square" lIns="0" tIns="0" rIns="0" bIns="0" rtlCol="0" anchor="ctr"/>
          <a:lstStyle/>
          <a:p>
            <a:pPr algn="ctr" indent="0" marL="0">
              <a:buNone/>
            </a:pPr>
            <a:r>
              <a:rPr lang="en-US" sz="2400" b="1" dirty="0">
                <a:solidFill>
                  <a:srgbClr val="6B6B6B"/>
                </a:solidFill>
                <a:latin typeface="Arial" pitchFamily="34" charset="0"/>
                <a:ea typeface="Arial" pitchFamily="34" charset="-122"/>
                <a:cs typeface="Arial" pitchFamily="34" charset="-120"/>
              </a:rPr>
              <a:t>&gt;</a:t>
            </a:r>
            <a:endParaRPr lang="en-US" sz="2400" dirty="0"/>
          </a:p>
        </p:txBody>
      </p:sp>
      <p:sp>
        <p:nvSpPr>
          <p:cNvPr id="7" name="Shape 4"/>
          <p:cNvSpPr/>
          <p:nvPr/>
        </p:nvSpPr>
        <p:spPr>
          <a:xfrm>
            <a:off x="3383280" y="4023360"/>
            <a:ext cx="2560320" cy="1188720"/>
          </a:xfrm>
          <a:prstGeom prst="roundRect">
            <a:avLst>
              <a:gd name="adj" fmla="val 42308"/>
            </a:avLst>
          </a:prstGeom>
          <a:solidFill>
            <a:srgbClr val="C6F25B"/>
          </a:solidFill>
          <a:ln/>
        </p:spPr>
      </p:sp>
      <p:sp>
        <p:nvSpPr>
          <p:cNvPr id="8" name="Text 5"/>
          <p:cNvSpPr txBox="1"/>
          <p:nvPr/>
        </p:nvSpPr>
        <p:spPr>
          <a:xfrm>
            <a:off x="3383280" y="4023360"/>
            <a:ext cx="2560320" cy="1188720"/>
          </a:xfrm>
          <a:prstGeom prst="rect">
            <a:avLst/>
          </a:prstGeom>
          <a:noFill/>
          <a:ln/>
        </p:spPr>
        <p:txBody>
          <a:bodyPr wrap="square" lIns="0" tIns="0" rIns="0" bIns="0" rtlCol="0" anchor="ctr"/>
          <a:lstStyle/>
          <a:p>
            <a:pPr algn="ctr" indent="0" marL="0">
              <a:buNone/>
            </a:pPr>
            <a:r>
              <a:rPr lang="en-US" sz="2000" b="1" dirty="0">
                <a:solidFill>
                  <a:srgbClr val="141414"/>
                </a:solidFill>
                <a:latin typeface="Arial" pitchFamily="34" charset="0"/>
                <a:ea typeface="Arial" pitchFamily="34" charset="-122"/>
                <a:cs typeface="Arial" pitchFamily="34" charset="-120"/>
              </a:rPr>
              <a:t>Free result</a:t>
            </a:r>
            <a:endParaRPr lang="en-US" sz="2000" dirty="0"/>
          </a:p>
        </p:txBody>
      </p:sp>
      <p:sp>
        <p:nvSpPr>
          <p:cNvPr id="9" name="Text 6"/>
          <p:cNvSpPr txBox="1"/>
          <p:nvPr/>
        </p:nvSpPr>
        <p:spPr>
          <a:xfrm>
            <a:off x="5943600" y="4023360"/>
            <a:ext cx="274320" cy="1188720"/>
          </a:xfrm>
          <a:prstGeom prst="rect">
            <a:avLst/>
          </a:prstGeom>
          <a:noFill/>
          <a:ln/>
        </p:spPr>
        <p:txBody>
          <a:bodyPr wrap="square" lIns="0" tIns="0" rIns="0" bIns="0" rtlCol="0" anchor="ctr"/>
          <a:lstStyle/>
          <a:p>
            <a:pPr algn="ctr" indent="0" marL="0">
              <a:buNone/>
            </a:pPr>
            <a:r>
              <a:rPr lang="en-US" sz="2400" b="1" dirty="0">
                <a:solidFill>
                  <a:srgbClr val="6B6B6B"/>
                </a:solidFill>
                <a:latin typeface="Arial" pitchFamily="34" charset="0"/>
                <a:ea typeface="Arial" pitchFamily="34" charset="-122"/>
                <a:cs typeface="Arial" pitchFamily="34" charset="-120"/>
              </a:rPr>
              <a:t>&gt;</a:t>
            </a:r>
            <a:endParaRPr lang="en-US" sz="2400" dirty="0"/>
          </a:p>
        </p:txBody>
      </p:sp>
      <p:sp>
        <p:nvSpPr>
          <p:cNvPr id="10" name="Shape 7"/>
          <p:cNvSpPr/>
          <p:nvPr/>
        </p:nvSpPr>
        <p:spPr>
          <a:xfrm>
            <a:off x="6217920" y="4023360"/>
            <a:ext cx="2560320" cy="1188720"/>
          </a:xfrm>
          <a:prstGeom prst="roundRect">
            <a:avLst>
              <a:gd name="adj" fmla="val 42308"/>
            </a:avLst>
          </a:prstGeom>
          <a:solidFill>
            <a:srgbClr val="141414"/>
          </a:solidFill>
          <a:ln/>
        </p:spPr>
      </p:sp>
      <p:sp>
        <p:nvSpPr>
          <p:cNvPr id="11" name="Text 8"/>
          <p:cNvSpPr txBox="1"/>
          <p:nvPr/>
        </p:nvSpPr>
        <p:spPr>
          <a:xfrm>
            <a:off x="6217920" y="4023360"/>
            <a:ext cx="2560320" cy="1188720"/>
          </a:xfrm>
          <a:prstGeom prst="rect">
            <a:avLst/>
          </a:prstGeom>
          <a:noFill/>
          <a:ln/>
        </p:spPr>
        <p:txBody>
          <a:bodyPr wrap="square" lIns="0" tIns="0" rIns="0" bIns="0" rtlCol="0" anchor="ctr"/>
          <a:lstStyle/>
          <a:p>
            <a:pPr algn="ctr" indent="0" marL="0">
              <a:buNone/>
            </a:pPr>
            <a:r>
              <a:rPr lang="en-US" sz="2000" b="1" dirty="0">
                <a:solidFill>
                  <a:srgbClr val="F6F4EF"/>
                </a:solidFill>
                <a:latin typeface="Arial" pitchFamily="34" charset="0"/>
                <a:ea typeface="Arial" pitchFamily="34" charset="-122"/>
                <a:cs typeface="Arial" pitchFamily="34" charset="-120"/>
              </a:rPr>
              <a:t>Plan</a:t>
            </a:r>
            <a:endParaRPr lang="en-US" sz="2000" dirty="0"/>
          </a:p>
        </p:txBody>
      </p:sp>
      <p:sp>
        <p:nvSpPr>
          <p:cNvPr id="12" name="Text 9"/>
          <p:cNvSpPr txBox="1"/>
          <p:nvPr/>
        </p:nvSpPr>
        <p:spPr>
          <a:xfrm>
            <a:off x="8778240" y="4023360"/>
            <a:ext cx="274320" cy="1188720"/>
          </a:xfrm>
          <a:prstGeom prst="rect">
            <a:avLst/>
          </a:prstGeom>
          <a:noFill/>
          <a:ln/>
        </p:spPr>
        <p:txBody>
          <a:bodyPr wrap="square" lIns="0" tIns="0" rIns="0" bIns="0" rtlCol="0" anchor="ctr"/>
          <a:lstStyle/>
          <a:p>
            <a:pPr algn="ctr" indent="0" marL="0">
              <a:buNone/>
            </a:pPr>
            <a:r>
              <a:rPr lang="en-US" sz="2400" b="1" dirty="0">
                <a:solidFill>
                  <a:srgbClr val="6B6B6B"/>
                </a:solidFill>
                <a:latin typeface="Arial" pitchFamily="34" charset="0"/>
                <a:ea typeface="Arial" pitchFamily="34" charset="-122"/>
                <a:cs typeface="Arial" pitchFamily="34" charset="-120"/>
              </a:rPr>
              <a:t>&gt;</a:t>
            </a:r>
            <a:endParaRPr lang="en-US" sz="2400" dirty="0"/>
          </a:p>
        </p:txBody>
      </p:sp>
      <p:sp>
        <p:nvSpPr>
          <p:cNvPr id="13" name="Shape 10"/>
          <p:cNvSpPr/>
          <p:nvPr/>
        </p:nvSpPr>
        <p:spPr>
          <a:xfrm>
            <a:off x="9052560" y="4023360"/>
            <a:ext cx="2560320" cy="1188720"/>
          </a:xfrm>
          <a:prstGeom prst="roundRect">
            <a:avLst>
              <a:gd name="adj" fmla="val 42308"/>
            </a:avLst>
          </a:prstGeom>
          <a:solidFill>
            <a:srgbClr val="FF5A1F"/>
          </a:solidFill>
          <a:ln/>
        </p:spPr>
      </p:sp>
      <p:sp>
        <p:nvSpPr>
          <p:cNvPr id="14" name="Text 11"/>
          <p:cNvSpPr txBox="1"/>
          <p:nvPr/>
        </p:nvSpPr>
        <p:spPr>
          <a:xfrm>
            <a:off x="9052560" y="4023360"/>
            <a:ext cx="2560320" cy="1188720"/>
          </a:xfrm>
          <a:prstGeom prst="rect">
            <a:avLst/>
          </a:prstGeom>
          <a:noFill/>
          <a:ln/>
        </p:spPr>
        <p:txBody>
          <a:bodyPr wrap="square" lIns="0" tIns="0" rIns="0" bIns="0" rtlCol="0" anchor="ctr"/>
          <a:lstStyle/>
          <a:p>
            <a:pPr algn="ctr" indent="0" marL="0">
              <a:buNone/>
            </a:pPr>
            <a:r>
              <a:rPr lang="en-US" sz="2000" b="1" dirty="0">
                <a:solidFill>
                  <a:srgbClr val="141414"/>
                </a:solidFill>
                <a:latin typeface="Arial" pitchFamily="34" charset="0"/>
                <a:ea typeface="Arial" pitchFamily="34" charset="-122"/>
                <a:cs typeface="Arial" pitchFamily="34" charset="-120"/>
              </a:rPr>
              <a:t>Honest paywall</a:t>
            </a:r>
            <a:endParaRPr lang="en-US" sz="2000" dirty="0"/>
          </a:p>
        </p:txBody>
      </p:sp>
      <p:sp>
        <p:nvSpPr>
          <p:cNvPr id="15" name="Text 12"/>
          <p:cNvSpPr txBox="1"/>
          <p:nvPr/>
        </p:nvSpPr>
        <p:spPr>
          <a:xfrm>
            <a:off x="548640" y="5577840"/>
            <a:ext cx="10972800" cy="45720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Promise, goal, about, height, parents, building, reveal, habits, plan, priming, paywall, welcome, home.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731520" y="1645920"/>
            <a:ext cx="10698480" cy="1645920"/>
          </a:xfrm>
          <a:prstGeom prst="rect">
            <a:avLst/>
          </a:prstGeom>
          <a:noFill/>
          <a:ln/>
        </p:spPr>
        <p:txBody>
          <a:bodyPr wrap="square" lIns="0" tIns="0" rIns="0" bIns="0" rtlCol="0" anchor="t"/>
          <a:lstStyle/>
          <a:p>
            <a:pPr indent="0" marL="0">
              <a:buNone/>
            </a:pPr>
            <a:r>
              <a:rPr lang="en-US" sz="9600" b="1" dirty="0">
                <a:solidFill>
                  <a:srgbClr val="FF5A1F"/>
                </a:solidFill>
                <a:latin typeface="Arial" pitchFamily="34" charset="0"/>
                <a:ea typeface="Arial" pitchFamily="34" charset="-122"/>
                <a:cs typeface="Arial" pitchFamily="34" charset="-120"/>
              </a:rPr>
              <a:t>LIVE DEMO</a:t>
            </a:r>
            <a:endParaRPr lang="en-US" sz="9600" dirty="0"/>
          </a:p>
        </p:txBody>
      </p:sp>
      <p:sp>
        <p:nvSpPr>
          <p:cNvPr id="3" name="Text 1"/>
          <p:cNvSpPr txBox="1"/>
          <p:nvPr/>
        </p:nvSpPr>
        <p:spPr>
          <a:xfrm>
            <a:off x="731520" y="3657600"/>
            <a:ext cx="10698480" cy="1097280"/>
          </a:xfrm>
          <a:prstGeom prst="rect">
            <a:avLst/>
          </a:prstGeom>
          <a:noFill/>
          <a:ln/>
        </p:spPr>
        <p:txBody>
          <a:bodyPr wrap="square" lIns="0" tIns="0" rIns="0" bIns="0" rtlCol="0" anchor="t"/>
          <a:lstStyle/>
          <a:p>
            <a:pPr indent="0" marL="0">
              <a:buNone/>
            </a:pPr>
            <a:r>
              <a:rPr lang="en-US" sz="4400" b="1" dirty="0">
                <a:solidFill>
                  <a:srgbClr val="F6F4EF"/>
                </a:solidFill>
                <a:latin typeface="Arial" pitchFamily="34" charset="0"/>
                <a:ea typeface="Arial" pitchFamily="34" charset="-122"/>
                <a:cs typeface="Arial" pitchFamily="34" charset="-120"/>
              </a:rPr>
              <a:t>A classmate does the onboarding cold</a:t>
            </a:r>
            <a:endParaRPr lang="en-US" sz="4400" dirty="0"/>
          </a:p>
        </p:txBody>
      </p:sp>
      <p:sp>
        <p:nvSpPr>
          <p:cNvPr id="4" name="Shape 2"/>
          <p:cNvSpPr/>
          <p:nvPr/>
        </p:nvSpPr>
        <p:spPr>
          <a:xfrm>
            <a:off x="731520" y="5486400"/>
            <a:ext cx="10698480" cy="109728"/>
          </a:xfrm>
          <a:prstGeom prst="rect">
            <a:avLst/>
          </a:prstGeom>
          <a:solidFill>
            <a:srgbClr val="C6F25B"/>
          </a:solidFill>
          <a:ln/>
        </p:spPr>
      </p:sp>
      <p:sp>
        <p:nvSpPr>
          <p:cNvPr id="5" name="Shape 3"/>
          <p:cNvSpPr/>
          <p:nvPr/>
        </p:nvSpPr>
        <p:spPr>
          <a:xfrm>
            <a:off x="722376" y="5596128"/>
            <a:ext cx="18288" cy="365760"/>
          </a:xfrm>
          <a:prstGeom prst="rect">
            <a:avLst/>
          </a:prstGeom>
          <a:solidFill>
            <a:srgbClr val="C6F25B"/>
          </a:solidFill>
          <a:ln/>
        </p:spPr>
      </p:sp>
      <p:sp>
        <p:nvSpPr>
          <p:cNvPr id="6" name="Shape 4"/>
          <p:cNvSpPr/>
          <p:nvPr/>
        </p:nvSpPr>
        <p:spPr>
          <a:xfrm>
            <a:off x="989838" y="5596128"/>
            <a:ext cx="18288" cy="201168"/>
          </a:xfrm>
          <a:prstGeom prst="rect">
            <a:avLst/>
          </a:prstGeom>
          <a:solidFill>
            <a:srgbClr val="C6F25B"/>
          </a:solidFill>
          <a:ln/>
        </p:spPr>
      </p:sp>
      <p:sp>
        <p:nvSpPr>
          <p:cNvPr id="7" name="Shape 5"/>
          <p:cNvSpPr/>
          <p:nvPr/>
        </p:nvSpPr>
        <p:spPr>
          <a:xfrm>
            <a:off x="1257300" y="5596128"/>
            <a:ext cx="18288" cy="201168"/>
          </a:xfrm>
          <a:prstGeom prst="rect">
            <a:avLst/>
          </a:prstGeom>
          <a:solidFill>
            <a:srgbClr val="C6F25B"/>
          </a:solidFill>
          <a:ln/>
        </p:spPr>
      </p:sp>
      <p:sp>
        <p:nvSpPr>
          <p:cNvPr id="8" name="Shape 6"/>
          <p:cNvSpPr/>
          <p:nvPr/>
        </p:nvSpPr>
        <p:spPr>
          <a:xfrm>
            <a:off x="1524762" y="5596128"/>
            <a:ext cx="18288" cy="201168"/>
          </a:xfrm>
          <a:prstGeom prst="rect">
            <a:avLst/>
          </a:prstGeom>
          <a:solidFill>
            <a:srgbClr val="C6F25B"/>
          </a:solidFill>
          <a:ln/>
        </p:spPr>
      </p:sp>
      <p:sp>
        <p:nvSpPr>
          <p:cNvPr id="9" name="Shape 7"/>
          <p:cNvSpPr/>
          <p:nvPr/>
        </p:nvSpPr>
        <p:spPr>
          <a:xfrm>
            <a:off x="1792224" y="5596128"/>
            <a:ext cx="18288" cy="201168"/>
          </a:xfrm>
          <a:prstGeom prst="rect">
            <a:avLst/>
          </a:prstGeom>
          <a:solidFill>
            <a:srgbClr val="C6F25B"/>
          </a:solidFill>
          <a:ln/>
        </p:spPr>
      </p:sp>
      <p:sp>
        <p:nvSpPr>
          <p:cNvPr id="10" name="Shape 8"/>
          <p:cNvSpPr/>
          <p:nvPr/>
        </p:nvSpPr>
        <p:spPr>
          <a:xfrm>
            <a:off x="2059686" y="5596128"/>
            <a:ext cx="18288" cy="365760"/>
          </a:xfrm>
          <a:prstGeom prst="rect">
            <a:avLst/>
          </a:prstGeom>
          <a:solidFill>
            <a:srgbClr val="C6F25B"/>
          </a:solidFill>
          <a:ln/>
        </p:spPr>
      </p:sp>
      <p:sp>
        <p:nvSpPr>
          <p:cNvPr id="11" name="Shape 9"/>
          <p:cNvSpPr/>
          <p:nvPr/>
        </p:nvSpPr>
        <p:spPr>
          <a:xfrm>
            <a:off x="2327148" y="5596128"/>
            <a:ext cx="18288" cy="201168"/>
          </a:xfrm>
          <a:prstGeom prst="rect">
            <a:avLst/>
          </a:prstGeom>
          <a:solidFill>
            <a:srgbClr val="C6F25B"/>
          </a:solidFill>
          <a:ln/>
        </p:spPr>
      </p:sp>
      <p:sp>
        <p:nvSpPr>
          <p:cNvPr id="12" name="Shape 10"/>
          <p:cNvSpPr/>
          <p:nvPr/>
        </p:nvSpPr>
        <p:spPr>
          <a:xfrm>
            <a:off x="2594610" y="5596128"/>
            <a:ext cx="18288" cy="201168"/>
          </a:xfrm>
          <a:prstGeom prst="rect">
            <a:avLst/>
          </a:prstGeom>
          <a:solidFill>
            <a:srgbClr val="C6F25B"/>
          </a:solidFill>
          <a:ln/>
        </p:spPr>
      </p:sp>
      <p:sp>
        <p:nvSpPr>
          <p:cNvPr id="13" name="Shape 11"/>
          <p:cNvSpPr/>
          <p:nvPr/>
        </p:nvSpPr>
        <p:spPr>
          <a:xfrm>
            <a:off x="2862072" y="5596128"/>
            <a:ext cx="18288" cy="201168"/>
          </a:xfrm>
          <a:prstGeom prst="rect">
            <a:avLst/>
          </a:prstGeom>
          <a:solidFill>
            <a:srgbClr val="C6F25B"/>
          </a:solidFill>
          <a:ln/>
        </p:spPr>
      </p:sp>
      <p:sp>
        <p:nvSpPr>
          <p:cNvPr id="14" name="Shape 12"/>
          <p:cNvSpPr/>
          <p:nvPr/>
        </p:nvSpPr>
        <p:spPr>
          <a:xfrm>
            <a:off x="3129534" y="5596128"/>
            <a:ext cx="18288" cy="201168"/>
          </a:xfrm>
          <a:prstGeom prst="rect">
            <a:avLst/>
          </a:prstGeom>
          <a:solidFill>
            <a:srgbClr val="C6F25B"/>
          </a:solidFill>
          <a:ln/>
        </p:spPr>
      </p:sp>
      <p:sp>
        <p:nvSpPr>
          <p:cNvPr id="15" name="Shape 13"/>
          <p:cNvSpPr/>
          <p:nvPr/>
        </p:nvSpPr>
        <p:spPr>
          <a:xfrm>
            <a:off x="3396996" y="5596128"/>
            <a:ext cx="18288" cy="365760"/>
          </a:xfrm>
          <a:prstGeom prst="rect">
            <a:avLst/>
          </a:prstGeom>
          <a:solidFill>
            <a:srgbClr val="C6F25B"/>
          </a:solidFill>
          <a:ln/>
        </p:spPr>
      </p:sp>
      <p:sp>
        <p:nvSpPr>
          <p:cNvPr id="16" name="Shape 14"/>
          <p:cNvSpPr/>
          <p:nvPr/>
        </p:nvSpPr>
        <p:spPr>
          <a:xfrm>
            <a:off x="3664458" y="5596128"/>
            <a:ext cx="18288" cy="201168"/>
          </a:xfrm>
          <a:prstGeom prst="rect">
            <a:avLst/>
          </a:prstGeom>
          <a:solidFill>
            <a:srgbClr val="C6F25B"/>
          </a:solidFill>
          <a:ln/>
        </p:spPr>
      </p:sp>
      <p:sp>
        <p:nvSpPr>
          <p:cNvPr id="17" name="Shape 15"/>
          <p:cNvSpPr/>
          <p:nvPr/>
        </p:nvSpPr>
        <p:spPr>
          <a:xfrm>
            <a:off x="3931920" y="5596128"/>
            <a:ext cx="18288" cy="201168"/>
          </a:xfrm>
          <a:prstGeom prst="rect">
            <a:avLst/>
          </a:prstGeom>
          <a:solidFill>
            <a:srgbClr val="C6F25B"/>
          </a:solidFill>
          <a:ln/>
        </p:spPr>
      </p:sp>
      <p:sp>
        <p:nvSpPr>
          <p:cNvPr id="18" name="Shape 16"/>
          <p:cNvSpPr/>
          <p:nvPr/>
        </p:nvSpPr>
        <p:spPr>
          <a:xfrm>
            <a:off x="4199382" y="5596128"/>
            <a:ext cx="18288" cy="201168"/>
          </a:xfrm>
          <a:prstGeom prst="rect">
            <a:avLst/>
          </a:prstGeom>
          <a:solidFill>
            <a:srgbClr val="C6F25B"/>
          </a:solidFill>
          <a:ln/>
        </p:spPr>
      </p:sp>
      <p:sp>
        <p:nvSpPr>
          <p:cNvPr id="19" name="Shape 17"/>
          <p:cNvSpPr/>
          <p:nvPr/>
        </p:nvSpPr>
        <p:spPr>
          <a:xfrm>
            <a:off x="4466844" y="5596128"/>
            <a:ext cx="18288" cy="201168"/>
          </a:xfrm>
          <a:prstGeom prst="rect">
            <a:avLst/>
          </a:prstGeom>
          <a:solidFill>
            <a:srgbClr val="C6F25B"/>
          </a:solidFill>
          <a:ln/>
        </p:spPr>
      </p:sp>
      <p:sp>
        <p:nvSpPr>
          <p:cNvPr id="20" name="Shape 18"/>
          <p:cNvSpPr/>
          <p:nvPr/>
        </p:nvSpPr>
        <p:spPr>
          <a:xfrm>
            <a:off x="4734306" y="5596128"/>
            <a:ext cx="18288" cy="365760"/>
          </a:xfrm>
          <a:prstGeom prst="rect">
            <a:avLst/>
          </a:prstGeom>
          <a:solidFill>
            <a:srgbClr val="C6F25B"/>
          </a:solidFill>
          <a:ln/>
        </p:spPr>
      </p:sp>
      <p:sp>
        <p:nvSpPr>
          <p:cNvPr id="21" name="Shape 19"/>
          <p:cNvSpPr/>
          <p:nvPr/>
        </p:nvSpPr>
        <p:spPr>
          <a:xfrm>
            <a:off x="5001768" y="5596128"/>
            <a:ext cx="18288" cy="201168"/>
          </a:xfrm>
          <a:prstGeom prst="rect">
            <a:avLst/>
          </a:prstGeom>
          <a:solidFill>
            <a:srgbClr val="C6F25B"/>
          </a:solidFill>
          <a:ln/>
        </p:spPr>
      </p:sp>
      <p:sp>
        <p:nvSpPr>
          <p:cNvPr id="22" name="Shape 20"/>
          <p:cNvSpPr/>
          <p:nvPr/>
        </p:nvSpPr>
        <p:spPr>
          <a:xfrm>
            <a:off x="5269230" y="5596128"/>
            <a:ext cx="18288" cy="201168"/>
          </a:xfrm>
          <a:prstGeom prst="rect">
            <a:avLst/>
          </a:prstGeom>
          <a:solidFill>
            <a:srgbClr val="C6F25B"/>
          </a:solidFill>
          <a:ln/>
        </p:spPr>
      </p:sp>
      <p:sp>
        <p:nvSpPr>
          <p:cNvPr id="23" name="Shape 21"/>
          <p:cNvSpPr/>
          <p:nvPr/>
        </p:nvSpPr>
        <p:spPr>
          <a:xfrm>
            <a:off x="5536692" y="5596128"/>
            <a:ext cx="18288" cy="201168"/>
          </a:xfrm>
          <a:prstGeom prst="rect">
            <a:avLst/>
          </a:prstGeom>
          <a:solidFill>
            <a:srgbClr val="C6F25B"/>
          </a:solidFill>
          <a:ln/>
        </p:spPr>
      </p:sp>
      <p:sp>
        <p:nvSpPr>
          <p:cNvPr id="24" name="Shape 22"/>
          <p:cNvSpPr/>
          <p:nvPr/>
        </p:nvSpPr>
        <p:spPr>
          <a:xfrm>
            <a:off x="5804154" y="5596128"/>
            <a:ext cx="18288" cy="201168"/>
          </a:xfrm>
          <a:prstGeom prst="rect">
            <a:avLst/>
          </a:prstGeom>
          <a:solidFill>
            <a:srgbClr val="C6F25B"/>
          </a:solidFill>
          <a:ln/>
        </p:spPr>
      </p:sp>
      <p:sp>
        <p:nvSpPr>
          <p:cNvPr id="25" name="Shape 23"/>
          <p:cNvSpPr/>
          <p:nvPr/>
        </p:nvSpPr>
        <p:spPr>
          <a:xfrm>
            <a:off x="6071616" y="5596128"/>
            <a:ext cx="18288" cy="365760"/>
          </a:xfrm>
          <a:prstGeom prst="rect">
            <a:avLst/>
          </a:prstGeom>
          <a:solidFill>
            <a:srgbClr val="C6F25B"/>
          </a:solidFill>
          <a:ln/>
        </p:spPr>
      </p:sp>
      <p:sp>
        <p:nvSpPr>
          <p:cNvPr id="26" name="Shape 24"/>
          <p:cNvSpPr/>
          <p:nvPr/>
        </p:nvSpPr>
        <p:spPr>
          <a:xfrm>
            <a:off x="6339078" y="5596128"/>
            <a:ext cx="18288" cy="201168"/>
          </a:xfrm>
          <a:prstGeom prst="rect">
            <a:avLst/>
          </a:prstGeom>
          <a:solidFill>
            <a:srgbClr val="C6F25B"/>
          </a:solidFill>
          <a:ln/>
        </p:spPr>
      </p:sp>
      <p:sp>
        <p:nvSpPr>
          <p:cNvPr id="27" name="Shape 25"/>
          <p:cNvSpPr/>
          <p:nvPr/>
        </p:nvSpPr>
        <p:spPr>
          <a:xfrm>
            <a:off x="6606540" y="5596128"/>
            <a:ext cx="18288" cy="201168"/>
          </a:xfrm>
          <a:prstGeom prst="rect">
            <a:avLst/>
          </a:prstGeom>
          <a:solidFill>
            <a:srgbClr val="C6F25B"/>
          </a:solidFill>
          <a:ln/>
        </p:spPr>
      </p:sp>
      <p:sp>
        <p:nvSpPr>
          <p:cNvPr id="28" name="Shape 26"/>
          <p:cNvSpPr/>
          <p:nvPr/>
        </p:nvSpPr>
        <p:spPr>
          <a:xfrm>
            <a:off x="6874002" y="5596128"/>
            <a:ext cx="18288" cy="201168"/>
          </a:xfrm>
          <a:prstGeom prst="rect">
            <a:avLst/>
          </a:prstGeom>
          <a:solidFill>
            <a:srgbClr val="C6F25B"/>
          </a:solidFill>
          <a:ln/>
        </p:spPr>
      </p:sp>
      <p:sp>
        <p:nvSpPr>
          <p:cNvPr id="29" name="Shape 27"/>
          <p:cNvSpPr/>
          <p:nvPr/>
        </p:nvSpPr>
        <p:spPr>
          <a:xfrm>
            <a:off x="7141464" y="5596128"/>
            <a:ext cx="18288" cy="201168"/>
          </a:xfrm>
          <a:prstGeom prst="rect">
            <a:avLst/>
          </a:prstGeom>
          <a:solidFill>
            <a:srgbClr val="C6F25B"/>
          </a:solidFill>
          <a:ln/>
        </p:spPr>
      </p:sp>
      <p:sp>
        <p:nvSpPr>
          <p:cNvPr id="30" name="Shape 28"/>
          <p:cNvSpPr/>
          <p:nvPr/>
        </p:nvSpPr>
        <p:spPr>
          <a:xfrm>
            <a:off x="7408926" y="5596128"/>
            <a:ext cx="18288" cy="365760"/>
          </a:xfrm>
          <a:prstGeom prst="rect">
            <a:avLst/>
          </a:prstGeom>
          <a:solidFill>
            <a:srgbClr val="C6F25B"/>
          </a:solidFill>
          <a:ln/>
        </p:spPr>
      </p:sp>
      <p:sp>
        <p:nvSpPr>
          <p:cNvPr id="31" name="Shape 29"/>
          <p:cNvSpPr/>
          <p:nvPr/>
        </p:nvSpPr>
        <p:spPr>
          <a:xfrm>
            <a:off x="7676388" y="5596128"/>
            <a:ext cx="18288" cy="201168"/>
          </a:xfrm>
          <a:prstGeom prst="rect">
            <a:avLst/>
          </a:prstGeom>
          <a:solidFill>
            <a:srgbClr val="C6F25B"/>
          </a:solidFill>
          <a:ln/>
        </p:spPr>
      </p:sp>
      <p:sp>
        <p:nvSpPr>
          <p:cNvPr id="32" name="Shape 30"/>
          <p:cNvSpPr/>
          <p:nvPr/>
        </p:nvSpPr>
        <p:spPr>
          <a:xfrm>
            <a:off x="7943850" y="5596128"/>
            <a:ext cx="18288" cy="201168"/>
          </a:xfrm>
          <a:prstGeom prst="rect">
            <a:avLst/>
          </a:prstGeom>
          <a:solidFill>
            <a:srgbClr val="C6F25B"/>
          </a:solidFill>
          <a:ln/>
        </p:spPr>
      </p:sp>
      <p:sp>
        <p:nvSpPr>
          <p:cNvPr id="33" name="Shape 31"/>
          <p:cNvSpPr/>
          <p:nvPr/>
        </p:nvSpPr>
        <p:spPr>
          <a:xfrm>
            <a:off x="8211312" y="5596128"/>
            <a:ext cx="18288" cy="201168"/>
          </a:xfrm>
          <a:prstGeom prst="rect">
            <a:avLst/>
          </a:prstGeom>
          <a:solidFill>
            <a:srgbClr val="C6F25B"/>
          </a:solidFill>
          <a:ln/>
        </p:spPr>
      </p:sp>
      <p:sp>
        <p:nvSpPr>
          <p:cNvPr id="34" name="Shape 32"/>
          <p:cNvSpPr/>
          <p:nvPr/>
        </p:nvSpPr>
        <p:spPr>
          <a:xfrm>
            <a:off x="8478774" y="5596128"/>
            <a:ext cx="18288" cy="201168"/>
          </a:xfrm>
          <a:prstGeom prst="rect">
            <a:avLst/>
          </a:prstGeom>
          <a:solidFill>
            <a:srgbClr val="C6F25B"/>
          </a:solidFill>
          <a:ln/>
        </p:spPr>
      </p:sp>
      <p:sp>
        <p:nvSpPr>
          <p:cNvPr id="35" name="Shape 33"/>
          <p:cNvSpPr/>
          <p:nvPr/>
        </p:nvSpPr>
        <p:spPr>
          <a:xfrm>
            <a:off x="8746236" y="5596128"/>
            <a:ext cx="18288" cy="365760"/>
          </a:xfrm>
          <a:prstGeom prst="rect">
            <a:avLst/>
          </a:prstGeom>
          <a:solidFill>
            <a:srgbClr val="C6F25B"/>
          </a:solidFill>
          <a:ln/>
        </p:spPr>
      </p:sp>
      <p:sp>
        <p:nvSpPr>
          <p:cNvPr id="36" name="Shape 34"/>
          <p:cNvSpPr/>
          <p:nvPr/>
        </p:nvSpPr>
        <p:spPr>
          <a:xfrm>
            <a:off x="9013698" y="5596128"/>
            <a:ext cx="18288" cy="201168"/>
          </a:xfrm>
          <a:prstGeom prst="rect">
            <a:avLst/>
          </a:prstGeom>
          <a:solidFill>
            <a:srgbClr val="C6F25B"/>
          </a:solidFill>
          <a:ln/>
        </p:spPr>
      </p:sp>
      <p:sp>
        <p:nvSpPr>
          <p:cNvPr id="37" name="Shape 35"/>
          <p:cNvSpPr/>
          <p:nvPr/>
        </p:nvSpPr>
        <p:spPr>
          <a:xfrm>
            <a:off x="9281160" y="5596128"/>
            <a:ext cx="18288" cy="201168"/>
          </a:xfrm>
          <a:prstGeom prst="rect">
            <a:avLst/>
          </a:prstGeom>
          <a:solidFill>
            <a:srgbClr val="C6F25B"/>
          </a:solidFill>
          <a:ln/>
        </p:spPr>
      </p:sp>
      <p:sp>
        <p:nvSpPr>
          <p:cNvPr id="38" name="Shape 36"/>
          <p:cNvSpPr/>
          <p:nvPr/>
        </p:nvSpPr>
        <p:spPr>
          <a:xfrm>
            <a:off x="9548622" y="5596128"/>
            <a:ext cx="18288" cy="201168"/>
          </a:xfrm>
          <a:prstGeom prst="rect">
            <a:avLst/>
          </a:prstGeom>
          <a:solidFill>
            <a:srgbClr val="C6F25B"/>
          </a:solidFill>
          <a:ln/>
        </p:spPr>
      </p:sp>
      <p:sp>
        <p:nvSpPr>
          <p:cNvPr id="39" name="Shape 37"/>
          <p:cNvSpPr/>
          <p:nvPr/>
        </p:nvSpPr>
        <p:spPr>
          <a:xfrm>
            <a:off x="9816084" y="5596128"/>
            <a:ext cx="18288" cy="201168"/>
          </a:xfrm>
          <a:prstGeom prst="rect">
            <a:avLst/>
          </a:prstGeom>
          <a:solidFill>
            <a:srgbClr val="C6F25B"/>
          </a:solidFill>
          <a:ln/>
        </p:spPr>
      </p:sp>
      <p:sp>
        <p:nvSpPr>
          <p:cNvPr id="40" name="Shape 38"/>
          <p:cNvSpPr/>
          <p:nvPr/>
        </p:nvSpPr>
        <p:spPr>
          <a:xfrm>
            <a:off x="10083546" y="5596128"/>
            <a:ext cx="18288" cy="365760"/>
          </a:xfrm>
          <a:prstGeom prst="rect">
            <a:avLst/>
          </a:prstGeom>
          <a:solidFill>
            <a:srgbClr val="C6F25B"/>
          </a:solidFill>
          <a:ln/>
        </p:spPr>
      </p:sp>
      <p:sp>
        <p:nvSpPr>
          <p:cNvPr id="41" name="Shape 39"/>
          <p:cNvSpPr/>
          <p:nvPr/>
        </p:nvSpPr>
        <p:spPr>
          <a:xfrm>
            <a:off x="10351008" y="5596128"/>
            <a:ext cx="18288" cy="201168"/>
          </a:xfrm>
          <a:prstGeom prst="rect">
            <a:avLst/>
          </a:prstGeom>
          <a:solidFill>
            <a:srgbClr val="C6F25B"/>
          </a:solidFill>
          <a:ln/>
        </p:spPr>
      </p:sp>
      <p:sp>
        <p:nvSpPr>
          <p:cNvPr id="42" name="Shape 40"/>
          <p:cNvSpPr/>
          <p:nvPr/>
        </p:nvSpPr>
        <p:spPr>
          <a:xfrm>
            <a:off x="10618470" y="5596128"/>
            <a:ext cx="18288" cy="201168"/>
          </a:xfrm>
          <a:prstGeom prst="rect">
            <a:avLst/>
          </a:prstGeom>
          <a:solidFill>
            <a:srgbClr val="C6F25B"/>
          </a:solidFill>
          <a:ln/>
        </p:spPr>
      </p:sp>
      <p:sp>
        <p:nvSpPr>
          <p:cNvPr id="43" name="Shape 41"/>
          <p:cNvSpPr/>
          <p:nvPr/>
        </p:nvSpPr>
        <p:spPr>
          <a:xfrm>
            <a:off x="10885932" y="5596128"/>
            <a:ext cx="18288" cy="201168"/>
          </a:xfrm>
          <a:prstGeom prst="rect">
            <a:avLst/>
          </a:prstGeom>
          <a:solidFill>
            <a:srgbClr val="C6F25B"/>
          </a:solidFill>
          <a:ln/>
        </p:spPr>
      </p:sp>
      <p:sp>
        <p:nvSpPr>
          <p:cNvPr id="44" name="Shape 42"/>
          <p:cNvSpPr/>
          <p:nvPr/>
        </p:nvSpPr>
        <p:spPr>
          <a:xfrm>
            <a:off x="11153394" y="5596128"/>
            <a:ext cx="18288" cy="201168"/>
          </a:xfrm>
          <a:prstGeom prst="rect">
            <a:avLst/>
          </a:prstGeom>
          <a:solidFill>
            <a:srgbClr val="C6F25B"/>
          </a:solidFill>
          <a:ln/>
        </p:spPr>
      </p:sp>
      <p:sp>
        <p:nvSpPr>
          <p:cNvPr id="45" name="Shape 43"/>
          <p:cNvSpPr/>
          <p:nvPr/>
        </p:nvSpPr>
        <p:spPr>
          <a:xfrm>
            <a:off x="11420856" y="5596128"/>
            <a:ext cx="18288" cy="365760"/>
          </a:xfrm>
          <a:prstGeom prst="rect">
            <a:avLst/>
          </a:prstGeom>
          <a:solidFill>
            <a:srgbClr val="C6F25B"/>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800" b="1" dirty="0">
                <a:solidFill>
                  <a:srgbClr val="141414"/>
                </a:solidFill>
                <a:latin typeface="Arial" pitchFamily="34" charset="0"/>
                <a:ea typeface="Arial" pitchFamily="34" charset="-122"/>
                <a:cs typeface="Arial" pitchFamily="34" charset="-120"/>
              </a:rPr>
              <a:t>Every answer changes a later screen</a:t>
            </a:r>
            <a:endParaRPr lang="en-US" sz="3800" dirty="0"/>
          </a:p>
        </p:txBody>
      </p:sp>
      <p:sp>
        <p:nvSpPr>
          <p:cNvPr id="3" name="Shape 1"/>
          <p:cNvSpPr/>
          <p:nvPr/>
        </p:nvSpPr>
        <p:spPr>
          <a:xfrm>
            <a:off x="548640" y="1463040"/>
            <a:ext cx="4937760" cy="1051560"/>
          </a:xfrm>
          <a:prstGeom prst="roundRect">
            <a:avLst>
              <a:gd name="adj" fmla="val 8696"/>
            </a:avLst>
          </a:prstGeom>
          <a:solidFill>
            <a:srgbClr val="FFFFFF"/>
          </a:solidFill>
          <a:ln w="12700">
            <a:solidFill>
              <a:srgbClr val="E3E0D8"/>
            </a:solidFill>
            <a:prstDash val="solid"/>
          </a:ln>
        </p:spPr>
      </p:sp>
      <p:sp>
        <p:nvSpPr>
          <p:cNvPr id="4" name="Text 2"/>
          <p:cNvSpPr txBox="1"/>
          <p:nvPr/>
        </p:nvSpPr>
        <p:spPr>
          <a:xfrm>
            <a:off x="777240" y="1600200"/>
            <a:ext cx="4480560" cy="365760"/>
          </a:xfrm>
          <a:prstGeom prst="rect">
            <a:avLst/>
          </a:prstGeom>
          <a:noFill/>
          <a:ln/>
        </p:spPr>
        <p:txBody>
          <a:bodyPr wrap="square" lIns="0" tIns="0" rIns="0" bIns="0" rtlCol="0" anchor="t"/>
          <a:lstStyle/>
          <a:p>
            <a:pPr indent="0" marL="0">
              <a:buNone/>
            </a:pPr>
            <a:r>
              <a:rPr lang="en-US" sz="2000" b="1" dirty="0">
                <a:solidFill>
                  <a:srgbClr val="141414"/>
                </a:solidFill>
                <a:latin typeface="Arial" pitchFamily="34" charset="0"/>
                <a:ea typeface="Arial" pitchFamily="34" charset="-122"/>
                <a:cs typeface="Arial" pitchFamily="34" charset="-120"/>
              </a:rPr>
              <a:t>Goal</a:t>
            </a:r>
            <a:endParaRPr lang="en-US" sz="2000" dirty="0"/>
          </a:p>
        </p:txBody>
      </p:sp>
      <p:sp>
        <p:nvSpPr>
          <p:cNvPr id="5" name="Text 3"/>
          <p:cNvSpPr txBox="1"/>
          <p:nvPr/>
        </p:nvSpPr>
        <p:spPr>
          <a:xfrm>
            <a:off x="777240" y="2011680"/>
            <a:ext cx="4480560" cy="411480"/>
          </a:xfrm>
          <a:prstGeom prst="rect">
            <a:avLst/>
          </a:prstGeom>
          <a:noFill/>
          <a:ln/>
        </p:spPr>
        <p:txBody>
          <a:bodyPr wrap="square" lIns="0" tIns="0" rIns="0" bIns="0" rtlCol="0" anchor="t"/>
          <a:lstStyle/>
          <a:p>
            <a:pPr indent="0" marL="0">
              <a:buNone/>
            </a:pPr>
            <a:r>
              <a:rPr lang="en-US" sz="1400" dirty="0">
                <a:solidFill>
                  <a:srgbClr val="141414"/>
                </a:solidFill>
                <a:latin typeface="Arial" pitchFamily="34" charset="0"/>
                <a:ea typeface="Arial" pitchFamily="34" charset="-122"/>
                <a:cs typeface="Arial" pitchFamily="34" charset="-120"/>
              </a:rPr>
              <a:t>Copy changes: "your child", plan and paywall titles</a:t>
            </a:r>
            <a:endParaRPr lang="en-US" sz="1400" dirty="0"/>
          </a:p>
        </p:txBody>
      </p:sp>
      <p:sp>
        <p:nvSpPr>
          <p:cNvPr id="6" name="Shape 4"/>
          <p:cNvSpPr/>
          <p:nvPr/>
        </p:nvSpPr>
        <p:spPr>
          <a:xfrm>
            <a:off x="548640" y="2697480"/>
            <a:ext cx="4937760" cy="1051560"/>
          </a:xfrm>
          <a:prstGeom prst="roundRect">
            <a:avLst>
              <a:gd name="adj" fmla="val 8696"/>
            </a:avLst>
          </a:prstGeom>
          <a:solidFill>
            <a:srgbClr val="FFFFFF"/>
          </a:solidFill>
          <a:ln w="12700">
            <a:solidFill>
              <a:srgbClr val="E3E0D8"/>
            </a:solidFill>
            <a:prstDash val="solid"/>
          </a:ln>
        </p:spPr>
      </p:sp>
      <p:sp>
        <p:nvSpPr>
          <p:cNvPr id="7" name="Text 5"/>
          <p:cNvSpPr txBox="1"/>
          <p:nvPr/>
        </p:nvSpPr>
        <p:spPr>
          <a:xfrm>
            <a:off x="777240" y="2834640"/>
            <a:ext cx="4480560" cy="365760"/>
          </a:xfrm>
          <a:prstGeom prst="rect">
            <a:avLst/>
          </a:prstGeom>
          <a:noFill/>
          <a:ln/>
        </p:spPr>
        <p:txBody>
          <a:bodyPr wrap="square" lIns="0" tIns="0" rIns="0" bIns="0" rtlCol="0" anchor="t"/>
          <a:lstStyle/>
          <a:p>
            <a:pPr indent="0" marL="0">
              <a:buNone/>
            </a:pPr>
            <a:r>
              <a:rPr lang="en-US" sz="2000" b="1" dirty="0">
                <a:solidFill>
                  <a:srgbClr val="141414"/>
                </a:solidFill>
                <a:latin typeface="Arial" pitchFamily="34" charset="0"/>
                <a:ea typeface="Arial" pitchFamily="34" charset="-122"/>
                <a:cs typeface="Arial" pitchFamily="34" charset="-120"/>
              </a:rPr>
              <a:t>Parents</a:t>
            </a:r>
            <a:endParaRPr lang="en-US" sz="2000" dirty="0"/>
          </a:p>
        </p:txBody>
      </p:sp>
      <p:sp>
        <p:nvSpPr>
          <p:cNvPr id="8" name="Text 6"/>
          <p:cNvSpPr txBox="1"/>
          <p:nvPr/>
        </p:nvSpPr>
        <p:spPr>
          <a:xfrm>
            <a:off x="777240" y="3246120"/>
            <a:ext cx="4480560" cy="411480"/>
          </a:xfrm>
          <a:prstGeom prst="rect">
            <a:avLst/>
          </a:prstGeom>
          <a:noFill/>
          <a:ln/>
        </p:spPr>
        <p:txBody>
          <a:bodyPr wrap="square" lIns="0" tIns="0" rIns="0" bIns="0" rtlCol="0" anchor="t"/>
          <a:lstStyle/>
          <a:p>
            <a:pPr indent="0" marL="0">
              <a:buNone/>
            </a:pPr>
            <a:r>
              <a:rPr lang="en-US" sz="1400" dirty="0">
                <a:solidFill>
                  <a:srgbClr val="141414"/>
                </a:solidFill>
                <a:latin typeface="Arial" pitchFamily="34" charset="0"/>
                <a:ea typeface="Arial" pitchFamily="34" charset="-122"/>
                <a:cs typeface="Arial" pitchFamily="34" charset="-120"/>
              </a:rPr>
              <a:t>Silhouettes and range on the result</a:t>
            </a:r>
            <a:endParaRPr lang="en-US" sz="1400" dirty="0"/>
          </a:p>
        </p:txBody>
      </p:sp>
      <p:sp>
        <p:nvSpPr>
          <p:cNvPr id="9" name="Shape 7"/>
          <p:cNvSpPr/>
          <p:nvPr/>
        </p:nvSpPr>
        <p:spPr>
          <a:xfrm>
            <a:off x="548640" y="3931920"/>
            <a:ext cx="4937760" cy="1051560"/>
          </a:xfrm>
          <a:prstGeom prst="roundRect">
            <a:avLst>
              <a:gd name="adj" fmla="val 8696"/>
            </a:avLst>
          </a:prstGeom>
          <a:solidFill>
            <a:srgbClr val="C6F25B"/>
          </a:solidFill>
          <a:ln w="12700">
            <a:solidFill>
              <a:srgbClr val="E3E0D8"/>
            </a:solidFill>
            <a:prstDash val="solid"/>
          </a:ln>
        </p:spPr>
      </p:sp>
      <p:sp>
        <p:nvSpPr>
          <p:cNvPr id="10" name="Text 8"/>
          <p:cNvSpPr txBox="1"/>
          <p:nvPr/>
        </p:nvSpPr>
        <p:spPr>
          <a:xfrm>
            <a:off x="777240" y="4069080"/>
            <a:ext cx="4480560" cy="365760"/>
          </a:xfrm>
          <a:prstGeom prst="rect">
            <a:avLst/>
          </a:prstGeom>
          <a:noFill/>
          <a:ln/>
        </p:spPr>
        <p:txBody>
          <a:bodyPr wrap="square" lIns="0" tIns="0" rIns="0" bIns="0" rtlCol="0" anchor="t"/>
          <a:lstStyle/>
          <a:p>
            <a:pPr indent="0" marL="0">
              <a:buNone/>
            </a:pPr>
            <a:r>
              <a:rPr lang="en-US" sz="2000" b="1" dirty="0">
                <a:solidFill>
                  <a:srgbClr val="141414"/>
                </a:solidFill>
                <a:latin typeface="Arial" pitchFamily="34" charset="0"/>
                <a:ea typeface="Arial" pitchFamily="34" charset="-122"/>
                <a:cs typeface="Arial" pitchFamily="34" charset="-120"/>
              </a:rPr>
              <a:t>Unknown parent</a:t>
            </a:r>
            <a:endParaRPr lang="en-US" sz="2000" dirty="0"/>
          </a:p>
        </p:txBody>
      </p:sp>
      <p:sp>
        <p:nvSpPr>
          <p:cNvPr id="11" name="Text 9"/>
          <p:cNvSpPr txBox="1"/>
          <p:nvPr/>
        </p:nvSpPr>
        <p:spPr>
          <a:xfrm>
            <a:off x="777240" y="4480560"/>
            <a:ext cx="4480560" cy="411480"/>
          </a:xfrm>
          <a:prstGeom prst="rect">
            <a:avLst/>
          </a:prstGeom>
          <a:noFill/>
          <a:ln/>
        </p:spPr>
        <p:txBody>
          <a:bodyPr wrap="square" lIns="0" tIns="0" rIns="0" bIns="0" rtlCol="0" anchor="t"/>
          <a:lstStyle/>
          <a:p>
            <a:pPr indent="0" marL="0">
              <a:buNone/>
            </a:pPr>
            <a:r>
              <a:rPr lang="en-US" sz="1400" dirty="0">
                <a:solidFill>
                  <a:srgbClr val="141414"/>
                </a:solidFill>
                <a:latin typeface="Arial" pitchFamily="34" charset="0"/>
                <a:ea typeface="Arial" pitchFamily="34" charset="-122"/>
                <a:cs typeface="Arial" pitchFamily="34" charset="-120"/>
              </a:rPr>
              <a:t>Range widens, and the app says so</a:t>
            </a:r>
            <a:endParaRPr lang="en-US" sz="1400" dirty="0"/>
          </a:p>
        </p:txBody>
      </p:sp>
      <p:sp>
        <p:nvSpPr>
          <p:cNvPr id="12" name="Shape 10"/>
          <p:cNvSpPr/>
          <p:nvPr/>
        </p:nvSpPr>
        <p:spPr>
          <a:xfrm>
            <a:off x="548640" y="5166360"/>
            <a:ext cx="4937760" cy="1051560"/>
          </a:xfrm>
          <a:prstGeom prst="roundRect">
            <a:avLst>
              <a:gd name="adj" fmla="val 8696"/>
            </a:avLst>
          </a:prstGeom>
          <a:solidFill>
            <a:srgbClr val="FFFFFF"/>
          </a:solidFill>
          <a:ln w="12700">
            <a:solidFill>
              <a:srgbClr val="E3E0D8"/>
            </a:solidFill>
            <a:prstDash val="solid"/>
          </a:ln>
        </p:spPr>
      </p:sp>
      <p:sp>
        <p:nvSpPr>
          <p:cNvPr id="13" name="Text 11"/>
          <p:cNvSpPr txBox="1"/>
          <p:nvPr/>
        </p:nvSpPr>
        <p:spPr>
          <a:xfrm>
            <a:off x="777240" y="5303520"/>
            <a:ext cx="4480560" cy="365760"/>
          </a:xfrm>
          <a:prstGeom prst="rect">
            <a:avLst/>
          </a:prstGeom>
          <a:noFill/>
          <a:ln/>
        </p:spPr>
        <p:txBody>
          <a:bodyPr wrap="square" lIns="0" tIns="0" rIns="0" bIns="0" rtlCol="0" anchor="t"/>
          <a:lstStyle/>
          <a:p>
            <a:pPr indent="0" marL="0">
              <a:buNone/>
            </a:pPr>
            <a:r>
              <a:rPr lang="en-US" sz="2000" b="1" dirty="0">
                <a:solidFill>
                  <a:srgbClr val="141414"/>
                </a:solidFill>
                <a:latin typeface="Arial" pitchFamily="34" charset="0"/>
                <a:ea typeface="Arial" pitchFamily="34" charset="-122"/>
                <a:cs typeface="Arial" pitchFamily="34" charset="-120"/>
              </a:rPr>
              <a:t>Habits</a:t>
            </a:r>
            <a:endParaRPr lang="en-US" sz="2000" dirty="0"/>
          </a:p>
        </p:txBody>
      </p:sp>
      <p:sp>
        <p:nvSpPr>
          <p:cNvPr id="14" name="Text 12"/>
          <p:cNvSpPr txBox="1"/>
          <p:nvPr/>
        </p:nvSpPr>
        <p:spPr>
          <a:xfrm>
            <a:off x="777240" y="5715000"/>
            <a:ext cx="4480560" cy="411480"/>
          </a:xfrm>
          <a:prstGeom prst="rect">
            <a:avLst/>
          </a:prstGeom>
          <a:noFill/>
          <a:ln/>
        </p:spPr>
        <p:txBody>
          <a:bodyPr wrap="square" lIns="0" tIns="0" rIns="0" bIns="0" rtlCol="0" anchor="t"/>
          <a:lstStyle/>
          <a:p>
            <a:pPr indent="0" marL="0">
              <a:buNone/>
            </a:pPr>
            <a:r>
              <a:rPr lang="en-US" sz="1400" dirty="0">
                <a:solidFill>
                  <a:srgbClr val="141414"/>
                </a:solidFill>
                <a:latin typeface="Arial" pitchFamily="34" charset="0"/>
                <a:ea typeface="Arial" pitchFamily="34" charset="-122"/>
                <a:cs typeface="Arial" pitchFamily="34" charset="-120"/>
              </a:rPr>
              <a:t>Plan order and week one</a:t>
            </a:r>
            <a:endParaRPr lang="en-US" sz="1400" dirty="0"/>
          </a:p>
        </p:txBody>
      </p:sp>
      <p:sp>
        <p:nvSpPr>
          <p:cNvPr id="15" name="Shape 13"/>
          <p:cNvSpPr/>
          <p:nvPr/>
        </p:nvSpPr>
        <p:spPr>
          <a:xfrm>
            <a:off x="5888736" y="1316736"/>
            <a:ext cx="1757598" cy="3675888"/>
          </a:xfrm>
          <a:prstGeom prst="roundRect">
            <a:avLst>
              <a:gd name="adj" fmla="val 6243"/>
            </a:avLst>
          </a:prstGeom>
          <a:solidFill>
            <a:srgbClr val="FFFFFF"/>
          </a:solidFill>
          <a:ln w="12700">
            <a:solidFill>
              <a:srgbClr val="D9D6CE"/>
            </a:solidFill>
            <a:prstDash val="solid"/>
          </a:ln>
        </p:spPr>
      </p:sp>
      <p:pic>
        <p:nvPicPr>
          <p:cNvPr id="16" name="Image 0" descr="C:\Users\aksuc\Desktop\proje_odev\design\export/screens/05-parents-light.png">    </p:cNvPr>
          <p:cNvPicPr>
            <a:picLocks noChangeAspect="1"/>
          </p:cNvPicPr>
          <p:nvPr/>
        </p:nvPicPr>
        <p:blipFill>
          <a:blip r:embed="rId1"/>
          <a:stretch>
            <a:fillRect/>
          </a:stretch>
        </p:blipFill>
        <p:spPr>
          <a:xfrm>
            <a:off x="5943600" y="1371600"/>
            <a:ext cx="1647870" cy="3566160"/>
          </a:xfrm>
          <a:prstGeom prst="rect">
            <a:avLst/>
          </a:prstGeom>
        </p:spPr>
      </p:pic>
      <p:sp>
        <p:nvSpPr>
          <p:cNvPr id="17" name="Text 14"/>
          <p:cNvSpPr txBox="1"/>
          <p:nvPr/>
        </p:nvSpPr>
        <p:spPr>
          <a:xfrm>
            <a:off x="5852160" y="5166360"/>
            <a:ext cx="1920240" cy="640080"/>
          </a:xfrm>
          <a:prstGeom prst="rect">
            <a:avLst/>
          </a:prstGeom>
          <a:noFill/>
          <a:ln/>
        </p:spPr>
        <p:txBody>
          <a:bodyPr wrap="square" lIns="0" tIns="0" rIns="0" bIns="0" rtlCol="0" anchor="t"/>
          <a:lstStyle/>
          <a:p>
            <a:pPr algn="ctr" indent="0" marL="0">
              <a:buNone/>
            </a:pPr>
            <a:r>
              <a:rPr lang="en-US" sz="1400" b="1" dirty="0">
                <a:solidFill>
                  <a:srgbClr val="141414"/>
                </a:solidFill>
                <a:latin typeface="Arial" pitchFamily="34" charset="0"/>
                <a:ea typeface="Arial" pitchFamily="34" charset="-122"/>
                <a:cs typeface="Arial" pitchFamily="34" charset="-120"/>
              </a:rPr>
              <a:t>Parents in</a:t>
            </a:r>
            <a:endParaRPr lang="en-US" sz="1400" dirty="0"/>
          </a:p>
        </p:txBody>
      </p:sp>
      <p:sp>
        <p:nvSpPr>
          <p:cNvPr id="18" name="Shape 15"/>
          <p:cNvSpPr/>
          <p:nvPr/>
        </p:nvSpPr>
        <p:spPr>
          <a:xfrm>
            <a:off x="7900416" y="1316736"/>
            <a:ext cx="1757598" cy="3675888"/>
          </a:xfrm>
          <a:prstGeom prst="roundRect">
            <a:avLst>
              <a:gd name="adj" fmla="val 6243"/>
            </a:avLst>
          </a:prstGeom>
          <a:solidFill>
            <a:srgbClr val="FFFFFF"/>
          </a:solidFill>
          <a:ln w="12700">
            <a:solidFill>
              <a:srgbClr val="D9D6CE"/>
            </a:solidFill>
            <a:prstDash val="solid"/>
          </a:ln>
        </p:spPr>
      </p:sp>
      <p:pic>
        <p:nvPicPr>
          <p:cNvPr id="19" name="Image 1" descr="C:\Users\aksuc\Desktop\proje_odev\design\export/screens/07-reveal-light.png">    </p:cNvPr>
          <p:cNvPicPr>
            <a:picLocks noChangeAspect="1"/>
          </p:cNvPicPr>
          <p:nvPr/>
        </p:nvPicPr>
        <p:blipFill>
          <a:blip r:embed="rId2"/>
          <a:stretch>
            <a:fillRect/>
          </a:stretch>
        </p:blipFill>
        <p:spPr>
          <a:xfrm>
            <a:off x="7955280" y="1371600"/>
            <a:ext cx="1647870" cy="3566160"/>
          </a:xfrm>
          <a:prstGeom prst="rect">
            <a:avLst/>
          </a:prstGeom>
        </p:spPr>
      </p:pic>
      <p:sp>
        <p:nvSpPr>
          <p:cNvPr id="20" name="Text 16"/>
          <p:cNvSpPr txBox="1"/>
          <p:nvPr/>
        </p:nvSpPr>
        <p:spPr>
          <a:xfrm>
            <a:off x="7863840" y="5166360"/>
            <a:ext cx="1920240" cy="640080"/>
          </a:xfrm>
          <a:prstGeom prst="rect">
            <a:avLst/>
          </a:prstGeom>
          <a:noFill/>
          <a:ln/>
        </p:spPr>
        <p:txBody>
          <a:bodyPr wrap="square" lIns="0" tIns="0" rIns="0" bIns="0" rtlCol="0" anchor="t"/>
          <a:lstStyle/>
          <a:p>
            <a:pPr algn="ctr" indent="0" marL="0">
              <a:buNone/>
            </a:pPr>
            <a:r>
              <a:rPr lang="en-US" sz="1400" b="1" dirty="0">
                <a:solidFill>
                  <a:srgbClr val="141414"/>
                </a:solidFill>
                <a:latin typeface="Arial" pitchFamily="34" charset="0"/>
                <a:ea typeface="Arial" pitchFamily="34" charset="-122"/>
                <a:cs typeface="Arial" pitchFamily="34" charset="-120"/>
              </a:rPr>
              <a:t>Silhouettes and range out</a:t>
            </a:r>
            <a:endParaRPr lang="en-US" sz="1400" dirty="0"/>
          </a:p>
        </p:txBody>
      </p:sp>
      <p:sp>
        <p:nvSpPr>
          <p:cNvPr id="21" name="Shape 17"/>
          <p:cNvSpPr/>
          <p:nvPr/>
        </p:nvSpPr>
        <p:spPr>
          <a:xfrm>
            <a:off x="9912096" y="1316736"/>
            <a:ext cx="1757598" cy="3675888"/>
          </a:xfrm>
          <a:prstGeom prst="roundRect">
            <a:avLst>
              <a:gd name="adj" fmla="val 6243"/>
            </a:avLst>
          </a:prstGeom>
          <a:solidFill>
            <a:srgbClr val="FFFFFF"/>
          </a:solidFill>
          <a:ln w="12700">
            <a:solidFill>
              <a:srgbClr val="D9D6CE"/>
            </a:solidFill>
            <a:prstDash val="solid"/>
          </a:ln>
        </p:spPr>
      </p:sp>
      <p:pic>
        <p:nvPicPr>
          <p:cNvPr id="22" name="Image 2" descr="C:\Users\aksuc\Desktop\proje_odev\design\export/screens/09-plan-light.png">    </p:cNvPr>
          <p:cNvPicPr>
            <a:picLocks noChangeAspect="1"/>
          </p:cNvPicPr>
          <p:nvPr/>
        </p:nvPicPr>
        <p:blipFill>
          <a:blip r:embed="rId3"/>
          <a:stretch>
            <a:fillRect/>
          </a:stretch>
        </p:blipFill>
        <p:spPr>
          <a:xfrm>
            <a:off x="9966960" y="1371600"/>
            <a:ext cx="1647870" cy="3566160"/>
          </a:xfrm>
          <a:prstGeom prst="rect">
            <a:avLst/>
          </a:prstGeom>
        </p:spPr>
      </p:pic>
      <p:sp>
        <p:nvSpPr>
          <p:cNvPr id="23" name="Text 18"/>
          <p:cNvSpPr txBox="1"/>
          <p:nvPr/>
        </p:nvSpPr>
        <p:spPr>
          <a:xfrm>
            <a:off x="9875520" y="5166360"/>
            <a:ext cx="1920240" cy="640080"/>
          </a:xfrm>
          <a:prstGeom prst="rect">
            <a:avLst/>
          </a:prstGeom>
          <a:noFill/>
          <a:ln/>
        </p:spPr>
        <p:txBody>
          <a:bodyPr wrap="square" lIns="0" tIns="0" rIns="0" bIns="0" rtlCol="0" anchor="t"/>
          <a:lstStyle/>
          <a:p>
            <a:pPr algn="ctr" indent="0" marL="0">
              <a:buNone/>
            </a:pPr>
            <a:r>
              <a:rPr lang="en-US" sz="1400" b="1" dirty="0">
                <a:solidFill>
                  <a:srgbClr val="141414"/>
                </a:solidFill>
                <a:latin typeface="Arial" pitchFamily="34" charset="0"/>
                <a:ea typeface="Arial" pitchFamily="34" charset="-122"/>
                <a:cs typeface="Arial" pitchFamily="34" charset="-120"/>
              </a:rPr>
              <a:t>Plan shaped by habits</a:t>
            </a:r>
            <a:endParaRPr lang="en-US" sz="1400" dirty="0"/>
          </a:p>
        </p:txBody>
      </p:sp>
      <p:sp>
        <p:nvSpPr>
          <p:cNvPr id="24" name="Text 19"/>
          <p:cNvSpPr txBox="1"/>
          <p:nvPr/>
        </p:nvSpPr>
        <p:spPr>
          <a:xfrm>
            <a:off x="548640" y="6309360"/>
            <a:ext cx="731520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Unit (cm or ft) stays the same on every screen once chosen.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3291840" y="411480"/>
            <a:ext cx="8412480" cy="822960"/>
          </a:xfrm>
          <a:prstGeom prst="rect">
            <a:avLst/>
          </a:prstGeom>
          <a:noFill/>
          <a:ln/>
        </p:spPr>
        <p:txBody>
          <a:bodyPr wrap="square" lIns="0" tIns="0" rIns="0" bIns="0" rtlCol="0" anchor="t"/>
          <a:lstStyle/>
          <a:p>
            <a:pPr indent="0" marL="0">
              <a:buNone/>
            </a:pPr>
            <a:r>
              <a:rPr lang="en-US" sz="3800" b="1" dirty="0">
                <a:solidFill>
                  <a:srgbClr val="141414"/>
                </a:solidFill>
                <a:latin typeface="Arial" pitchFamily="34" charset="0"/>
                <a:ea typeface="Arial" pitchFamily="34" charset="-122"/>
                <a:cs typeface="Arial" pitchFamily="34" charset="-120"/>
              </a:rPr>
              <a:t>Honest by design</a:t>
            </a:r>
            <a:endParaRPr lang="en-US" sz="3800" dirty="0"/>
          </a:p>
        </p:txBody>
      </p:sp>
      <p:sp>
        <p:nvSpPr>
          <p:cNvPr id="3" name="Shape 1"/>
          <p:cNvSpPr/>
          <p:nvPr/>
        </p:nvSpPr>
        <p:spPr>
          <a:xfrm>
            <a:off x="585216" y="676656"/>
            <a:ext cx="2602660" cy="5504688"/>
          </a:xfrm>
          <a:prstGeom prst="roundRect">
            <a:avLst>
              <a:gd name="adj" fmla="val 4216"/>
            </a:avLst>
          </a:prstGeom>
          <a:solidFill>
            <a:srgbClr val="FFFFFF"/>
          </a:solidFill>
          <a:ln w="12700">
            <a:solidFill>
              <a:srgbClr val="D9D6CE"/>
            </a:solidFill>
            <a:prstDash val="solid"/>
          </a:ln>
        </p:spPr>
      </p:sp>
      <p:pic>
        <p:nvPicPr>
          <p:cNvPr id="4" name="Image 0" descr="C:\Users\aksuc\Desktop\proje_odev\design\export/screens/11-paywall-light.png">    </p:cNvPr>
          <p:cNvPicPr>
            <a:picLocks noChangeAspect="1"/>
          </p:cNvPicPr>
          <p:nvPr/>
        </p:nvPicPr>
        <p:blipFill>
          <a:blip r:embed="rId1"/>
          <a:stretch>
            <a:fillRect/>
          </a:stretch>
        </p:blipFill>
        <p:spPr>
          <a:xfrm>
            <a:off x="640080" y="731520"/>
            <a:ext cx="2492932" cy="5394960"/>
          </a:xfrm>
          <a:prstGeom prst="rect">
            <a:avLst/>
          </a:prstGeom>
        </p:spPr>
      </p:pic>
      <p:sp>
        <p:nvSpPr>
          <p:cNvPr id="5" name="Shape 2"/>
          <p:cNvSpPr/>
          <p:nvPr/>
        </p:nvSpPr>
        <p:spPr>
          <a:xfrm>
            <a:off x="3291840" y="1417320"/>
            <a:ext cx="457200" cy="457200"/>
          </a:xfrm>
          <a:prstGeom prst="ellipse">
            <a:avLst/>
          </a:prstGeom>
          <a:solidFill>
            <a:srgbClr val="C6F25B"/>
          </a:solidFill>
          <a:ln/>
        </p:spPr>
      </p:sp>
      <p:sp>
        <p:nvSpPr>
          <p:cNvPr id="6" name="Text 3"/>
          <p:cNvSpPr txBox="1"/>
          <p:nvPr/>
        </p:nvSpPr>
        <p:spPr>
          <a:xfrm>
            <a:off x="3291840" y="1417320"/>
            <a:ext cx="457200" cy="457200"/>
          </a:xfrm>
          <a:prstGeom prst="rect">
            <a:avLst/>
          </a:prstGeom>
          <a:noFill/>
          <a:ln/>
        </p:spPr>
        <p:txBody>
          <a:bodyPr wrap="square" lIns="0" tIns="0" rIns="0" bIns="0" rtlCol="0" anchor="ctr"/>
          <a:lstStyle/>
          <a:p>
            <a:pPr algn="ctr" indent="0" marL="0">
              <a:buNone/>
            </a:pPr>
            <a:r>
              <a:rPr lang="en-US" sz="1600" b="1" dirty="0">
                <a:solidFill>
                  <a:srgbClr val="141414"/>
                </a:solidFill>
                <a:latin typeface="Arial" pitchFamily="34" charset="0"/>
                <a:ea typeface="Arial" pitchFamily="34" charset="-122"/>
                <a:cs typeface="Arial" pitchFamily="34" charset="-120"/>
              </a:rPr>
              <a:t>1</a:t>
            </a:r>
            <a:endParaRPr lang="en-US" sz="1600" dirty="0"/>
          </a:p>
        </p:txBody>
      </p:sp>
      <p:sp>
        <p:nvSpPr>
          <p:cNvPr id="7" name="Text 4"/>
          <p:cNvSpPr txBox="1"/>
          <p:nvPr/>
        </p:nvSpPr>
        <p:spPr>
          <a:xfrm>
            <a:off x="3931920" y="1417320"/>
            <a:ext cx="3840480" cy="45720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Full billed price, biggest text</a:t>
            </a:r>
            <a:endParaRPr lang="en-US" sz="1700" dirty="0"/>
          </a:p>
        </p:txBody>
      </p:sp>
      <p:sp>
        <p:nvSpPr>
          <p:cNvPr id="8" name="Shape 5"/>
          <p:cNvSpPr/>
          <p:nvPr/>
        </p:nvSpPr>
        <p:spPr>
          <a:xfrm>
            <a:off x="3291840" y="2240280"/>
            <a:ext cx="457200" cy="457200"/>
          </a:xfrm>
          <a:prstGeom prst="ellipse">
            <a:avLst/>
          </a:prstGeom>
          <a:solidFill>
            <a:srgbClr val="C6F25B"/>
          </a:solidFill>
          <a:ln/>
        </p:spPr>
      </p:sp>
      <p:sp>
        <p:nvSpPr>
          <p:cNvPr id="9" name="Text 6"/>
          <p:cNvSpPr txBox="1"/>
          <p:nvPr/>
        </p:nvSpPr>
        <p:spPr>
          <a:xfrm>
            <a:off x="3291840" y="2240280"/>
            <a:ext cx="457200" cy="457200"/>
          </a:xfrm>
          <a:prstGeom prst="rect">
            <a:avLst/>
          </a:prstGeom>
          <a:noFill/>
          <a:ln/>
        </p:spPr>
        <p:txBody>
          <a:bodyPr wrap="square" lIns="0" tIns="0" rIns="0" bIns="0" rtlCol="0" anchor="ctr"/>
          <a:lstStyle/>
          <a:p>
            <a:pPr algn="ctr" indent="0" marL="0">
              <a:buNone/>
            </a:pPr>
            <a:r>
              <a:rPr lang="en-US" sz="1600" b="1" dirty="0">
                <a:solidFill>
                  <a:srgbClr val="141414"/>
                </a:solidFill>
                <a:latin typeface="Arial" pitchFamily="34" charset="0"/>
                <a:ea typeface="Arial" pitchFamily="34" charset="-122"/>
                <a:cs typeface="Arial" pitchFamily="34" charset="-120"/>
              </a:rPr>
              <a:t>2</a:t>
            </a:r>
            <a:endParaRPr lang="en-US" sz="1600" dirty="0"/>
          </a:p>
        </p:txBody>
      </p:sp>
      <p:sp>
        <p:nvSpPr>
          <p:cNvPr id="10" name="Text 7"/>
          <p:cNvSpPr txBox="1"/>
          <p:nvPr/>
        </p:nvSpPr>
        <p:spPr>
          <a:xfrm>
            <a:off x="3931920" y="2240280"/>
            <a:ext cx="3840480" cy="45720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Trial end date shown</a:t>
            </a:r>
            <a:endParaRPr lang="en-US" sz="1700" dirty="0"/>
          </a:p>
        </p:txBody>
      </p:sp>
      <p:sp>
        <p:nvSpPr>
          <p:cNvPr id="11" name="Shape 8"/>
          <p:cNvSpPr/>
          <p:nvPr/>
        </p:nvSpPr>
        <p:spPr>
          <a:xfrm>
            <a:off x="3291840" y="3063240"/>
            <a:ext cx="457200" cy="457200"/>
          </a:xfrm>
          <a:prstGeom prst="ellipse">
            <a:avLst/>
          </a:prstGeom>
          <a:solidFill>
            <a:srgbClr val="C6F25B"/>
          </a:solidFill>
          <a:ln/>
        </p:spPr>
      </p:sp>
      <p:sp>
        <p:nvSpPr>
          <p:cNvPr id="12" name="Text 9"/>
          <p:cNvSpPr txBox="1"/>
          <p:nvPr/>
        </p:nvSpPr>
        <p:spPr>
          <a:xfrm>
            <a:off x="3291840" y="3063240"/>
            <a:ext cx="457200" cy="457200"/>
          </a:xfrm>
          <a:prstGeom prst="rect">
            <a:avLst/>
          </a:prstGeom>
          <a:noFill/>
          <a:ln/>
        </p:spPr>
        <p:txBody>
          <a:bodyPr wrap="square" lIns="0" tIns="0" rIns="0" bIns="0" rtlCol="0" anchor="ctr"/>
          <a:lstStyle/>
          <a:p>
            <a:pPr algn="ctr" indent="0" marL="0">
              <a:buNone/>
            </a:pPr>
            <a:r>
              <a:rPr lang="en-US" sz="1600" b="1" dirty="0">
                <a:solidFill>
                  <a:srgbClr val="141414"/>
                </a:solidFill>
                <a:latin typeface="Arial" pitchFamily="34" charset="0"/>
                <a:ea typeface="Arial" pitchFamily="34" charset="-122"/>
                <a:cs typeface="Arial" pitchFamily="34" charset="-120"/>
              </a:rPr>
              <a:t>3</a:t>
            </a:r>
            <a:endParaRPr lang="en-US" sz="1600" dirty="0"/>
          </a:p>
        </p:txBody>
      </p:sp>
      <p:sp>
        <p:nvSpPr>
          <p:cNvPr id="13" name="Text 10"/>
          <p:cNvSpPr txBox="1"/>
          <p:nvPr/>
        </p:nvSpPr>
        <p:spPr>
          <a:xfrm>
            <a:off x="3931920" y="3063240"/>
            <a:ext cx="3840480" cy="45720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Cancel path written out</a:t>
            </a:r>
            <a:endParaRPr lang="en-US" sz="1700" dirty="0"/>
          </a:p>
        </p:txBody>
      </p:sp>
      <p:sp>
        <p:nvSpPr>
          <p:cNvPr id="14" name="Shape 11"/>
          <p:cNvSpPr/>
          <p:nvPr/>
        </p:nvSpPr>
        <p:spPr>
          <a:xfrm>
            <a:off x="3291840" y="3886200"/>
            <a:ext cx="457200" cy="457200"/>
          </a:xfrm>
          <a:prstGeom prst="ellipse">
            <a:avLst/>
          </a:prstGeom>
          <a:solidFill>
            <a:srgbClr val="C6F25B"/>
          </a:solidFill>
          <a:ln/>
        </p:spPr>
      </p:sp>
      <p:sp>
        <p:nvSpPr>
          <p:cNvPr id="15" name="Text 12"/>
          <p:cNvSpPr txBox="1"/>
          <p:nvPr/>
        </p:nvSpPr>
        <p:spPr>
          <a:xfrm>
            <a:off x="3291840" y="3886200"/>
            <a:ext cx="457200" cy="457200"/>
          </a:xfrm>
          <a:prstGeom prst="rect">
            <a:avLst/>
          </a:prstGeom>
          <a:noFill/>
          <a:ln/>
        </p:spPr>
        <p:txBody>
          <a:bodyPr wrap="square" lIns="0" tIns="0" rIns="0" bIns="0" rtlCol="0" anchor="ctr"/>
          <a:lstStyle/>
          <a:p>
            <a:pPr algn="ctr" indent="0" marL="0">
              <a:buNone/>
            </a:pPr>
            <a:r>
              <a:rPr lang="en-US" sz="1600" b="1" dirty="0">
                <a:solidFill>
                  <a:srgbClr val="141414"/>
                </a:solidFill>
                <a:latin typeface="Arial" pitchFamily="34" charset="0"/>
                <a:ea typeface="Arial" pitchFamily="34" charset="-122"/>
                <a:cs typeface="Arial" pitchFamily="34" charset="-120"/>
              </a:rPr>
              <a:t>4</a:t>
            </a:r>
            <a:endParaRPr lang="en-US" sz="1600" dirty="0"/>
          </a:p>
        </p:txBody>
      </p:sp>
      <p:sp>
        <p:nvSpPr>
          <p:cNvPr id="16" name="Text 13"/>
          <p:cNvSpPr txBox="1"/>
          <p:nvPr/>
        </p:nvSpPr>
        <p:spPr>
          <a:xfrm>
            <a:off x="3931920" y="3886200"/>
            <a:ext cx="3840480" cy="45720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Visible X, top left</a:t>
            </a:r>
            <a:endParaRPr lang="en-US" sz="1700" dirty="0"/>
          </a:p>
        </p:txBody>
      </p:sp>
      <p:sp>
        <p:nvSpPr>
          <p:cNvPr id="17" name="Shape 14"/>
          <p:cNvSpPr/>
          <p:nvPr/>
        </p:nvSpPr>
        <p:spPr>
          <a:xfrm>
            <a:off x="3291840" y="4709160"/>
            <a:ext cx="457200" cy="457200"/>
          </a:xfrm>
          <a:prstGeom prst="ellipse">
            <a:avLst/>
          </a:prstGeom>
          <a:solidFill>
            <a:srgbClr val="C6F25B"/>
          </a:solidFill>
          <a:ln/>
        </p:spPr>
      </p:sp>
      <p:sp>
        <p:nvSpPr>
          <p:cNvPr id="18" name="Text 15"/>
          <p:cNvSpPr txBox="1"/>
          <p:nvPr/>
        </p:nvSpPr>
        <p:spPr>
          <a:xfrm>
            <a:off x="3291840" y="4709160"/>
            <a:ext cx="457200" cy="457200"/>
          </a:xfrm>
          <a:prstGeom prst="rect">
            <a:avLst/>
          </a:prstGeom>
          <a:noFill/>
          <a:ln/>
        </p:spPr>
        <p:txBody>
          <a:bodyPr wrap="square" lIns="0" tIns="0" rIns="0" bIns="0" rtlCol="0" anchor="ctr"/>
          <a:lstStyle/>
          <a:p>
            <a:pPr algn="ctr" indent="0" marL="0">
              <a:buNone/>
            </a:pPr>
            <a:r>
              <a:rPr lang="en-US" sz="1600" b="1" dirty="0">
                <a:solidFill>
                  <a:srgbClr val="141414"/>
                </a:solidFill>
                <a:latin typeface="Arial" pitchFamily="34" charset="0"/>
                <a:ea typeface="Arial" pitchFamily="34" charset="-122"/>
                <a:cs typeface="Arial" pitchFamily="34" charset="-120"/>
              </a:rPr>
              <a:t>5</a:t>
            </a:r>
            <a:endParaRPr lang="en-US" sz="1600" dirty="0"/>
          </a:p>
        </p:txBody>
      </p:sp>
      <p:sp>
        <p:nvSpPr>
          <p:cNvPr id="19" name="Text 16"/>
          <p:cNvSpPr txBox="1"/>
          <p:nvPr/>
        </p:nvSpPr>
        <p:spPr>
          <a:xfrm>
            <a:off x="3931920" y="4709160"/>
            <a:ext cx="3840480" cy="45720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No countdown timer</a:t>
            </a:r>
            <a:endParaRPr lang="en-US" sz="1700" dirty="0"/>
          </a:p>
        </p:txBody>
      </p:sp>
      <p:sp>
        <p:nvSpPr>
          <p:cNvPr id="20" name="Shape 17"/>
          <p:cNvSpPr/>
          <p:nvPr/>
        </p:nvSpPr>
        <p:spPr>
          <a:xfrm>
            <a:off x="3291840" y="5532120"/>
            <a:ext cx="457200" cy="457200"/>
          </a:xfrm>
          <a:prstGeom prst="ellipse">
            <a:avLst/>
          </a:prstGeom>
          <a:solidFill>
            <a:srgbClr val="C6F25B"/>
          </a:solidFill>
          <a:ln/>
        </p:spPr>
      </p:sp>
      <p:sp>
        <p:nvSpPr>
          <p:cNvPr id="21" name="Text 18"/>
          <p:cNvSpPr txBox="1"/>
          <p:nvPr/>
        </p:nvSpPr>
        <p:spPr>
          <a:xfrm>
            <a:off x="3291840" y="5532120"/>
            <a:ext cx="457200" cy="457200"/>
          </a:xfrm>
          <a:prstGeom prst="rect">
            <a:avLst/>
          </a:prstGeom>
          <a:noFill/>
          <a:ln/>
        </p:spPr>
        <p:txBody>
          <a:bodyPr wrap="square" lIns="0" tIns="0" rIns="0" bIns="0" rtlCol="0" anchor="ctr"/>
          <a:lstStyle/>
          <a:p>
            <a:pPr algn="ctr" indent="0" marL="0">
              <a:buNone/>
            </a:pPr>
            <a:r>
              <a:rPr lang="en-US" sz="1600" b="1" dirty="0">
                <a:solidFill>
                  <a:srgbClr val="141414"/>
                </a:solidFill>
                <a:latin typeface="Arial" pitchFamily="34" charset="0"/>
                <a:ea typeface="Arial" pitchFamily="34" charset="-122"/>
                <a:cs typeface="Arial" pitchFamily="34" charset="-120"/>
              </a:rPr>
              <a:t>6</a:t>
            </a:r>
            <a:endParaRPr lang="en-US" sz="1600" dirty="0"/>
          </a:p>
        </p:txBody>
      </p:sp>
      <p:sp>
        <p:nvSpPr>
          <p:cNvPr id="22" name="Text 19"/>
          <p:cNvSpPr txBox="1"/>
          <p:nvPr/>
        </p:nvSpPr>
        <p:spPr>
          <a:xfrm>
            <a:off x="3931920" y="5532120"/>
            <a:ext cx="3840480" cy="45720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No fake reviews or ratings</a:t>
            </a:r>
            <a:endParaRPr lang="en-US" sz="1700" dirty="0"/>
          </a:p>
        </p:txBody>
      </p:sp>
      <p:sp>
        <p:nvSpPr>
          <p:cNvPr id="23" name="Shape 20"/>
          <p:cNvSpPr/>
          <p:nvPr/>
        </p:nvSpPr>
        <p:spPr>
          <a:xfrm>
            <a:off x="8046720" y="1371600"/>
            <a:ext cx="3657600" cy="4846320"/>
          </a:xfrm>
          <a:prstGeom prst="roundRect">
            <a:avLst>
              <a:gd name="adj" fmla="val 3000"/>
            </a:avLst>
          </a:prstGeom>
          <a:solidFill>
            <a:srgbClr val="141414"/>
          </a:solidFill>
          <a:ln/>
        </p:spPr>
      </p:sp>
      <p:sp>
        <p:nvSpPr>
          <p:cNvPr id="24" name="Text 21"/>
          <p:cNvSpPr txBox="1"/>
          <p:nvPr/>
        </p:nvSpPr>
        <p:spPr>
          <a:xfrm>
            <a:off x="8321040" y="1600200"/>
            <a:ext cx="3200400" cy="365760"/>
          </a:xfrm>
          <a:prstGeom prst="rect">
            <a:avLst/>
          </a:prstGeom>
          <a:noFill/>
          <a:ln/>
        </p:spPr>
        <p:txBody>
          <a:bodyPr wrap="square" lIns="0" tIns="0" rIns="0" bIns="0" rtlCol="0" anchor="t"/>
          <a:lstStyle/>
          <a:p>
            <a:pPr indent="0" marL="0">
              <a:buNone/>
            </a:pPr>
            <a:r>
              <a:rPr lang="en-US" sz="2000" b="1" dirty="0">
                <a:solidFill>
                  <a:srgbClr val="FF5A1F"/>
                </a:solidFill>
                <a:latin typeface="Arial" pitchFamily="34" charset="0"/>
                <a:ea typeface="Arial" pitchFamily="34" charset="-122"/>
                <a:cs typeface="Arial" pitchFamily="34" charset="-120"/>
              </a:rPr>
              <a:t>GoTall instead</a:t>
            </a:r>
            <a:endParaRPr lang="en-US" sz="2000" dirty="0"/>
          </a:p>
        </p:txBody>
      </p:sp>
      <p:sp>
        <p:nvSpPr>
          <p:cNvPr id="25" name="Text 22"/>
          <p:cNvSpPr txBox="1"/>
          <p:nvPr/>
        </p:nvSpPr>
        <p:spPr>
          <a:xfrm>
            <a:off x="8321040" y="2194560"/>
            <a:ext cx="3200400" cy="365760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6F4EF"/>
                </a:solidFill>
                <a:latin typeface="Arial" pitchFamily="34" charset="0"/>
                <a:ea typeface="Arial" pitchFamily="34" charset="-122"/>
                <a:cs typeface="Arial" pitchFamily="34" charset="-120"/>
              </a:rPr>
              <a:t>"$0.67/week" framing for a yearly plan</a:t>
            </a:r>
            <a:endParaRPr lang="en-US" sz="1600" dirty="0"/>
          </a:p>
          <a:p>
            <a:pPr marL="342900" indent="-342900">
              <a:spcAft>
                <a:spcPts val="1200"/>
              </a:spcAft>
              <a:buSzPct val="100000"/>
              <a:buChar char="•"/>
            </a:pPr>
            <a:r>
              <a:rPr lang="en-US" sz="1600" dirty="0">
                <a:solidFill>
                  <a:srgbClr val="F6F4EF"/>
                </a:solidFill>
                <a:latin typeface="Arial" pitchFamily="34" charset="0"/>
                <a:ea typeface="Arial" pitchFamily="34" charset="-122"/>
                <a:cs typeface="Arial" pitchFamily="34" charset="-120"/>
              </a:rPr>
              <a:t>"Special offer" countdown (2:59:59)</a:t>
            </a:r>
            <a:endParaRPr lang="en-US" sz="1600" dirty="0"/>
          </a:p>
          <a:p>
            <a:pPr marL="342900" indent="-342900">
              <a:spcAft>
                <a:spcPts val="1200"/>
              </a:spcAft>
              <a:buSzPct val="100000"/>
              <a:buChar char="•"/>
            </a:pPr>
            <a:r>
              <a:rPr lang="en-US" sz="1600" dirty="0">
                <a:solidFill>
                  <a:srgbClr val="F6F4EF"/>
                </a:solidFill>
                <a:latin typeface="Arial" pitchFamily="34" charset="0"/>
                <a:ea typeface="Arial" pitchFamily="34" charset="-122"/>
                <a:cs typeface="Arial" pitchFamily="34" charset="-120"/>
              </a:rPr>
              <a:t>Paywall before the result</a:t>
            </a:r>
            <a:endParaRPr lang="en-US" sz="1600" dirty="0"/>
          </a:p>
          <a:p>
            <a:pPr marL="342900" indent="-342900">
              <a:spcAft>
                <a:spcPts val="1200"/>
              </a:spcAft>
              <a:buSzPct val="100000"/>
              <a:buChar char="•"/>
            </a:pPr>
            <a:r>
              <a:rPr lang="en-US" sz="1600" dirty="0">
                <a:solidFill>
                  <a:srgbClr val="F6F4EF"/>
                </a:solidFill>
                <a:latin typeface="Arial" pitchFamily="34" charset="0"/>
                <a:ea typeface="Arial" pitchFamily="34" charset="-122"/>
                <a:cs typeface="Arial" pitchFamily="34" charset="-120"/>
              </a:rPr>
              <a:t>Charges of $35 to $60 reported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800" b="1" dirty="0">
                <a:solidFill>
                  <a:srgbClr val="141414"/>
                </a:solidFill>
                <a:latin typeface="Arial" pitchFamily="34" charset="0"/>
                <a:ea typeface="Arial" pitchFamily="34" charset="-122"/>
                <a:cs typeface="Arial" pitchFamily="34" charset="-120"/>
              </a:rPr>
              <a:t>Evidence: GoTall vs Measured</a:t>
            </a:r>
            <a:endParaRPr lang="en-US" sz="3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589520" cy="914400"/>
        </p:xfrm>
        <a:graphic>
          <a:graphicData uri="http://schemas.openxmlformats.org/drawingml/2006/table">
            <a:tbl>
              <a:tblPr/>
              <a:tblGrid>
                <a:gridCol w="3383280"/>
                <a:gridCol w="2011680"/>
                <a:gridCol w="2194560"/>
              </a:tblGrid>
              <a:tr h="548640">
                <a:tc>
                  <a:txBody>
                    <a:bodyPr/>
                    <a:lstStyle/>
                    <a:p>
                      <a:pPr indent="0" marL="0">
                        <a:buNone/>
                      </a:pPr>
                      <a:r>
                        <a:rPr lang="en-US" sz="1600" b="1" dirty="0">
                          <a:solidFill>
                            <a:srgbClr val="F6F4EF"/>
                          </a:solidFill>
                          <a:latin typeface="Arial" pitchFamily="34" charset="0"/>
                          <a:ea typeface="Arial" pitchFamily="34" charset="-122"/>
                          <a:cs typeface="Arial" pitchFamily="34" charset="-120"/>
                        </a:rPr>
                        <a:t>Metric</a:t>
                      </a:r>
                      <a:endParaRPr lang="en-US" sz="16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141414"/>
                    </a:solidFill>
                  </a:tcPr>
                </a:tc>
                <a:tc>
                  <a:txBody>
                    <a:bodyPr/>
                    <a:lstStyle/>
                    <a:p>
                      <a:pPr indent="0" marL="0">
                        <a:buNone/>
                      </a:pPr>
                      <a:r>
                        <a:rPr lang="en-US" sz="1600" b="1" dirty="0">
                          <a:solidFill>
                            <a:srgbClr val="F6F4EF"/>
                          </a:solidFill>
                          <a:latin typeface="Arial" pitchFamily="34" charset="0"/>
                          <a:ea typeface="Arial" pitchFamily="34" charset="-122"/>
                          <a:cs typeface="Arial" pitchFamily="34" charset="-120"/>
                        </a:rPr>
                        <a:t>GoTall</a:t>
                      </a:r>
                      <a:endParaRPr lang="en-US" sz="16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141414"/>
                    </a:solidFill>
                  </a:tcPr>
                </a:tc>
                <a:tc>
                  <a:txBody>
                    <a:bodyPr/>
                    <a:lstStyle/>
                    <a:p>
                      <a:pPr indent="0" marL="0">
                        <a:buNone/>
                      </a:pPr>
                      <a:r>
                        <a:rPr lang="en-US" sz="1600" b="1" dirty="0">
                          <a:solidFill>
                            <a:srgbClr val="F6F4EF"/>
                          </a:solidFill>
                          <a:latin typeface="Arial" pitchFamily="34" charset="0"/>
                          <a:ea typeface="Arial" pitchFamily="34" charset="-122"/>
                          <a:cs typeface="Arial" pitchFamily="34" charset="-120"/>
                        </a:rPr>
                        <a:t>Measured</a:t>
                      </a:r>
                      <a:endParaRPr lang="en-US" sz="16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141414"/>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Screens before the paywall</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33</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11</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Questions before the result</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25+ (then locked)</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4</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Seconds to result (est.)</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Locked</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~45</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Seconds to paywall (est.)</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~150</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~75</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Taps to result</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n/a (locked)</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7</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Result before paywall</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No</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141414"/>
                          </a:solidFill>
                          <a:latin typeface="Arial" pitchFamily="34" charset="0"/>
                          <a:ea typeface="Arial" pitchFamily="34" charset="-122"/>
                          <a:cs typeface="Arial" pitchFamily="34" charset="-120"/>
                        </a:rPr>
                        <a:t>Yes</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r h="548640">
                <a:tc>
                  <a:txBody>
                    <a:bodyPr/>
                    <a:lstStyle/>
                    <a:p>
                      <a:pPr indent="0" marL="0">
                        <a:buNone/>
                      </a:pPr>
                      <a:r>
                        <a:rPr lang="en-US" sz="2000" dirty="0">
                          <a:solidFill>
                            <a:srgbClr val="141414"/>
                          </a:solidFill>
                          <a:latin typeface="Arial" pitchFamily="34" charset="0"/>
                          <a:ea typeface="Arial" pitchFamily="34" charset="-122"/>
                          <a:cs typeface="Arial" pitchFamily="34" charset="-120"/>
                        </a:rPr>
                        <a:t>Clarity test (out of 5)</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FF5A1F"/>
                          </a:solidFill>
                          <a:latin typeface="Arial" pitchFamily="34" charset="0"/>
                          <a:ea typeface="Arial" pitchFamily="34" charset="-122"/>
                          <a:cs typeface="Arial" pitchFamily="34" charset="-120"/>
                        </a:rPr>
                        <a:t>[x/5]</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FFFFFF"/>
                    </a:solidFill>
                  </a:tcPr>
                </a:tc>
                <a:tc>
                  <a:txBody>
                    <a:bodyPr/>
                    <a:lstStyle/>
                    <a:p>
                      <a:pPr indent="0" marL="0">
                        <a:buNone/>
                      </a:pPr>
                      <a:r>
                        <a:rPr lang="en-US" sz="2000" b="1" dirty="0">
                          <a:solidFill>
                            <a:srgbClr val="FF5A1F"/>
                          </a:solidFill>
                          <a:latin typeface="Arial" pitchFamily="34" charset="0"/>
                          <a:ea typeface="Arial" pitchFamily="34" charset="-122"/>
                          <a:cs typeface="Arial" pitchFamily="34" charset="-120"/>
                        </a:rPr>
                        <a:t>[x/5]</a:t>
                      </a:r>
                      <a:endParaRPr lang="en-US" sz="2000" dirty="0">
                        <a:latin typeface="Arial" charset="0"/>
                        <a:ea typeface="Arial" charset="0"/>
                        <a:cs typeface="Arial" charset="0"/>
                      </a:endParaRPr>
                    </a:p>
                  </a:txBody>
                  <a:tcPr marL="137160" marR="137160" marT="0" marB="0" anchor="ctr">
                    <a:lnL w="12700" cap="flat" cmpd="sng" algn="ctr">
                      <a:solidFill>
                        <a:srgbClr val="E3E0D8"/>
                      </a:solidFill>
                      <a:prstDash val="solid"/>
                      <a:round/>
                      <a:headEnd type="none" w="med" len="med"/>
                      <a:tailEnd type="none" w="med" len="med"/>
                    </a:lnL>
                    <a:lnR w="12700" cap="flat" cmpd="sng" algn="ctr">
                      <a:solidFill>
                        <a:srgbClr val="E3E0D8"/>
                      </a:solidFill>
                      <a:prstDash val="solid"/>
                      <a:round/>
                      <a:headEnd type="none" w="med" len="med"/>
                      <a:tailEnd type="none" w="med" len="med"/>
                    </a:lnR>
                    <a:lnT w="12700" cap="flat" cmpd="sng" algn="ctr">
                      <a:solidFill>
                        <a:srgbClr val="E3E0D8"/>
                      </a:solidFill>
                      <a:prstDash val="solid"/>
                      <a:round/>
                      <a:headEnd type="none" w="med" len="med"/>
                      <a:tailEnd type="none" w="med" len="med"/>
                    </a:lnT>
                    <a:lnB w="12700" cap="flat" cmpd="sng" algn="ctr">
                      <a:solidFill>
                        <a:srgbClr val="E3E0D8"/>
                      </a:solidFill>
                      <a:prstDash val="solid"/>
                      <a:round/>
                      <a:headEnd type="none" w="med" len="med"/>
                      <a:tailEnd type="none" w="med" len="med"/>
                    </a:lnB>
                    <a:solidFill>
                      <a:srgbClr val="EAF8C2"/>
                    </a:solidFill>
                  </a:tcPr>
                </a:tc>
              </a:tr>
            </a:tbl>
          </a:graphicData>
        </a:graphic>
      </p:graphicFrame>
      <p:sp>
        <p:nvSpPr>
          <p:cNvPr id="4" name="Text 1"/>
          <p:cNvSpPr txBox="1"/>
          <p:nvPr/>
        </p:nvSpPr>
        <p:spPr>
          <a:xfrm>
            <a:off x="548640" y="5897880"/>
            <a:ext cx="7589520" cy="320040"/>
          </a:xfrm>
          <a:prstGeom prst="rect">
            <a:avLst/>
          </a:prstGeom>
          <a:noFill/>
          <a:ln/>
        </p:spPr>
        <p:txBody>
          <a:bodyPr wrap="square" lIns="0" tIns="0" rIns="0" bIns="0" rtlCol="0" anchor="t"/>
          <a:lstStyle/>
          <a:p>
            <a:pPr indent="0" marL="0">
              <a:buNone/>
            </a:pPr>
            <a:r>
              <a:rPr lang="en-US" sz="1300" b="1" dirty="0">
                <a:solidFill>
                  <a:srgbClr val="FF5A1F"/>
                </a:solidFill>
                <a:latin typeface="Arial" pitchFamily="34" charset="0"/>
                <a:ea typeface="Arial" pitchFamily="34" charset="-122"/>
                <a:cs typeface="Arial" pitchFamily="34" charset="-120"/>
              </a:rPr>
              <a:t>est. = estimated from the screen count at ~4.5 s per screen. Orange = still to test.</a:t>
            </a:r>
            <a:endParaRPr lang="en-US" sz="1300" dirty="0"/>
          </a:p>
        </p:txBody>
      </p:sp>
      <p:sp>
        <p:nvSpPr>
          <p:cNvPr id="5" name="Text 2"/>
          <p:cNvSpPr txBox="1"/>
          <p:nvPr/>
        </p:nvSpPr>
        <p:spPr>
          <a:xfrm>
            <a:off x="8595360" y="1371600"/>
            <a:ext cx="3108960" cy="1280160"/>
          </a:xfrm>
          <a:prstGeom prst="rect">
            <a:avLst/>
          </a:prstGeom>
          <a:noFill/>
          <a:ln/>
        </p:spPr>
        <p:txBody>
          <a:bodyPr wrap="square" lIns="0" tIns="0" rIns="0" bIns="0" rtlCol="0" anchor="t"/>
          <a:lstStyle/>
          <a:p>
            <a:pPr indent="0" marL="0">
              <a:buNone/>
            </a:pPr>
            <a:r>
              <a:rPr lang="en-US" sz="7200" b="1" dirty="0">
                <a:solidFill>
                  <a:srgbClr val="FF5A1F"/>
                </a:solidFill>
                <a:latin typeface="Arial" pitchFamily="34" charset="0"/>
                <a:ea typeface="Arial" pitchFamily="34" charset="-122"/>
                <a:cs typeface="Arial" pitchFamily="34" charset="-120"/>
              </a:rPr>
              <a:t>33 vs 7</a:t>
            </a:r>
            <a:endParaRPr lang="en-US" sz="7200" dirty="0"/>
          </a:p>
        </p:txBody>
      </p:sp>
      <p:sp>
        <p:nvSpPr>
          <p:cNvPr id="6" name="Text 3"/>
          <p:cNvSpPr txBox="1"/>
          <p:nvPr/>
        </p:nvSpPr>
        <p:spPr>
          <a:xfrm>
            <a:off x="8595360" y="2651760"/>
            <a:ext cx="3108960" cy="731520"/>
          </a:xfrm>
          <a:prstGeom prst="rect">
            <a:avLst/>
          </a:prstGeom>
          <a:noFill/>
          <a:ln/>
        </p:spPr>
        <p:txBody>
          <a:bodyPr wrap="square" lIns="0" tIns="0" rIns="0" bIns="0" rtlCol="0" anchor="t"/>
          <a:lstStyle/>
          <a:p>
            <a:pPr indent="0" marL="0">
              <a:buNone/>
            </a:pPr>
            <a:r>
              <a:rPr lang="en-US" sz="1800" b="1" dirty="0">
                <a:solidFill>
                  <a:srgbClr val="141414"/>
                </a:solidFill>
                <a:latin typeface="Arial" pitchFamily="34" charset="0"/>
                <a:ea typeface="Arial" pitchFamily="34" charset="-122"/>
                <a:cs typeface="Arial" pitchFamily="34" charset="-120"/>
              </a:rPr>
              <a:t>screens before you see a result (GoTall: still locked)</a:t>
            </a:r>
            <a:endParaRPr lang="en-US" sz="1800" dirty="0"/>
          </a:p>
        </p:txBody>
      </p:sp>
      <p:sp>
        <p:nvSpPr>
          <p:cNvPr id="7" name="Shape 4"/>
          <p:cNvSpPr/>
          <p:nvPr/>
        </p:nvSpPr>
        <p:spPr>
          <a:xfrm>
            <a:off x="8595360" y="3840480"/>
            <a:ext cx="3108960" cy="2103120"/>
          </a:xfrm>
          <a:prstGeom prst="roundRect">
            <a:avLst>
              <a:gd name="adj" fmla="val 4348"/>
            </a:avLst>
          </a:prstGeom>
          <a:solidFill>
            <a:srgbClr val="141414"/>
          </a:solidFill>
          <a:ln/>
        </p:spPr>
      </p:sp>
      <p:sp>
        <p:nvSpPr>
          <p:cNvPr id="8" name="Text 5"/>
          <p:cNvSpPr txBox="1"/>
          <p:nvPr/>
        </p:nvSpPr>
        <p:spPr>
          <a:xfrm>
            <a:off x="8823960" y="4023360"/>
            <a:ext cx="2743200" cy="320040"/>
          </a:xfrm>
          <a:prstGeom prst="rect">
            <a:avLst/>
          </a:prstGeom>
          <a:noFill/>
          <a:ln/>
        </p:spPr>
        <p:txBody>
          <a:bodyPr wrap="square" lIns="0" tIns="0" rIns="0" bIns="0" rtlCol="0" anchor="t"/>
          <a:lstStyle/>
          <a:p>
            <a:pPr indent="0" marL="0">
              <a:buNone/>
            </a:pPr>
            <a:r>
              <a:rPr lang="en-US" sz="1400" b="1" dirty="0">
                <a:solidFill>
                  <a:srgbClr val="C6F25B"/>
                </a:solidFill>
                <a:latin typeface="Arial" pitchFamily="34" charset="0"/>
                <a:ea typeface="Arial" pitchFamily="34" charset="-122"/>
                <a:cs typeface="Arial" pitchFamily="34" charset="-120"/>
              </a:rPr>
              <a:t>What we tested</a:t>
            </a:r>
            <a:endParaRPr lang="en-US" sz="1400" dirty="0"/>
          </a:p>
        </p:txBody>
      </p:sp>
      <p:sp>
        <p:nvSpPr>
          <p:cNvPr id="9" name="Text 6"/>
          <p:cNvSpPr txBox="1"/>
          <p:nvPr/>
        </p:nvSpPr>
        <p:spPr>
          <a:xfrm>
            <a:off x="8823960" y="4434840"/>
            <a:ext cx="2697480" cy="1417320"/>
          </a:xfrm>
          <a:prstGeom prst="rect">
            <a:avLst/>
          </a:prstGeom>
          <a:noFill/>
          <a:ln/>
        </p:spPr>
        <p:txBody>
          <a:bodyPr wrap="square" lIns="0" tIns="0" rIns="0" bIns="0" rtlCol="0" anchor="t"/>
          <a:lstStyle/>
          <a:p>
            <a:pPr indent="0" marL="0">
              <a:buNone/>
            </a:pPr>
            <a:r>
              <a:rPr lang="en-US" sz="1400" dirty="0">
                <a:solidFill>
                  <a:srgbClr val="F6F4EF"/>
                </a:solidFill>
                <a:latin typeface="Arial" pitchFamily="34" charset="0"/>
                <a:ea typeface="Arial" pitchFamily="34" charset="-122"/>
                <a:cs typeface="Arial" pitchFamily="34" charset="-120"/>
              </a:rPr>
              <a:t>Internal QA audit, 22 Oct: every path reaches Home, and the personalisation map was checked screen by screen.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640080" y="731520"/>
            <a:ext cx="6766560" cy="2194560"/>
          </a:xfrm>
          <a:prstGeom prst="rect">
            <a:avLst/>
          </a:prstGeom>
          <a:noFill/>
          <a:ln/>
        </p:spPr>
        <p:txBody>
          <a:bodyPr wrap="square" lIns="0" tIns="0" rIns="0" bIns="0" rtlCol="0" anchor="t"/>
          <a:lstStyle/>
          <a:p>
            <a:pPr indent="0" marL="0">
              <a:buNone/>
            </a:pPr>
            <a:r>
              <a:rPr lang="en-US" sz="3600" b="1" dirty="0">
                <a:solidFill>
                  <a:srgbClr val="F6F4EF"/>
                </a:solidFill>
                <a:latin typeface="Arial" pitchFamily="34" charset="0"/>
                <a:ea typeface="Arial" pitchFamily="34" charset="-122"/>
                <a:cs typeface="Arial" pitchFamily="34" charset="-120"/>
              </a:rPr>
              <a:t>If we fund this, will people understand it, feel the value and pay?</a:t>
            </a:r>
            <a:endParaRPr lang="en-US" sz="3600" dirty="0"/>
          </a:p>
        </p:txBody>
      </p:sp>
      <p:sp>
        <p:nvSpPr>
          <p:cNvPr id="3" name="Text 1"/>
          <p:cNvSpPr txBox="1"/>
          <p:nvPr/>
        </p:nvSpPr>
        <p:spPr>
          <a:xfrm>
            <a:off x="640080" y="3200400"/>
            <a:ext cx="6766560" cy="1828800"/>
          </a:xfrm>
          <a:prstGeom prst="rect">
            <a:avLst/>
          </a:prstGeom>
          <a:noFill/>
          <a:ln/>
        </p:spPr>
        <p:txBody>
          <a:bodyPr wrap="square" lIns="0" tIns="0" rIns="0" bIns="0" rtlCol="0" anchor="t"/>
          <a:lstStyle/>
          <a:p>
            <a:pPr indent="0" marL="0">
              <a:spcAft>
                <a:spcPts val="1000"/>
              </a:spcAft>
              <a:buNone/>
            </a:pPr>
            <a:r>
              <a:rPr lang="en-US" sz="2200" b="1" dirty="0">
                <a:solidFill>
                  <a:srgbClr val="C6F25B"/>
                </a:solidFill>
                <a:latin typeface="Arial" pitchFamily="34" charset="0"/>
                <a:ea typeface="Arial" pitchFamily="34" charset="-122"/>
                <a:cs typeface="Arial" pitchFamily="34" charset="-120"/>
              </a:rPr>
              <a:t>Understand: </a:t>
            </a:r>
            <a:pPr indent="0" marL="0">
              <a:spcAft>
                <a:spcPts val="1000"/>
              </a:spcAft>
              <a:buNone/>
            </a:pPr>
            <a:r>
              <a:rPr lang="en-US" sz="2200" dirty="0">
                <a:solidFill>
                  <a:srgbClr val="F6F4EF"/>
                </a:solidFill>
                <a:latin typeface="Arial" pitchFamily="34" charset="0"/>
                <a:ea typeface="Arial" pitchFamily="34" charset="-122"/>
                <a:cs typeface="Arial" pitchFamily="34" charset="-120"/>
              </a:rPr>
              <a:t>4 questions, one clear promise.</a:t>
            </a:r>
            <a:endParaRPr lang="en-US" sz="2200" dirty="0"/>
          </a:p>
          <a:p>
            <a:pPr indent="0" marL="0">
              <a:spcAft>
                <a:spcPts val="1000"/>
              </a:spcAft>
              <a:buNone/>
            </a:pPr>
            <a:r>
              <a:rPr lang="en-US" sz="2200" b="1" dirty="0">
                <a:solidFill>
                  <a:srgbClr val="C6F25B"/>
                </a:solidFill>
                <a:latin typeface="Arial" pitchFamily="34" charset="0"/>
                <a:ea typeface="Arial" pitchFamily="34" charset="-122"/>
                <a:cs typeface="Arial" pitchFamily="34" charset="-120"/>
              </a:rPr>
              <a:t>Feel the value: </a:t>
            </a:r>
            <a:pPr indent="0" marL="0">
              <a:spcAft>
                <a:spcPts val="1000"/>
              </a:spcAft>
              <a:buNone/>
            </a:pPr>
            <a:r>
              <a:rPr lang="en-US" sz="2200" dirty="0">
                <a:solidFill>
                  <a:srgbClr val="F6F4EF"/>
                </a:solidFill>
                <a:latin typeface="Arial" pitchFamily="34" charset="0"/>
                <a:ea typeface="Arial" pitchFamily="34" charset="-122"/>
                <a:cs typeface="Arial" pitchFamily="34" charset="-120"/>
              </a:rPr>
              <a:t>a free range before any paywall.</a:t>
            </a:r>
            <a:endParaRPr lang="en-US" sz="2200" dirty="0"/>
          </a:p>
          <a:p>
            <a:pPr indent="0" marL="0">
              <a:spcAft>
                <a:spcPts val="1000"/>
              </a:spcAft>
              <a:buNone/>
            </a:pPr>
            <a:r>
              <a:rPr lang="en-US" sz="2200" b="1" dirty="0">
                <a:solidFill>
                  <a:srgbClr val="C6F25B"/>
                </a:solidFill>
                <a:latin typeface="Arial" pitchFamily="34" charset="0"/>
                <a:ea typeface="Arial" pitchFamily="34" charset="-122"/>
                <a:cs typeface="Arial" pitchFamily="34" charset="-120"/>
              </a:rPr>
              <a:t>Pay: </a:t>
            </a:r>
            <a:pPr indent="0" marL="0">
              <a:spcAft>
                <a:spcPts val="1000"/>
              </a:spcAft>
              <a:buNone/>
            </a:pPr>
            <a:r>
              <a:rPr lang="en-US" sz="2200" dirty="0">
                <a:solidFill>
                  <a:srgbClr val="F6F4EF"/>
                </a:solidFill>
                <a:latin typeface="Arial" pitchFamily="34" charset="0"/>
                <a:ea typeface="Arial" pitchFamily="34" charset="-122"/>
                <a:cs typeface="Arial" pitchFamily="34" charset="-120"/>
              </a:rPr>
              <a:t>because the price is honest.</a:t>
            </a:r>
            <a:endParaRPr lang="en-US" sz="2200" dirty="0"/>
          </a:p>
        </p:txBody>
      </p:sp>
      <p:sp>
        <p:nvSpPr>
          <p:cNvPr id="4" name="Text 2"/>
          <p:cNvSpPr txBox="1"/>
          <p:nvPr/>
        </p:nvSpPr>
        <p:spPr>
          <a:xfrm>
            <a:off x="640080" y="5577840"/>
            <a:ext cx="5486400" cy="731520"/>
          </a:xfrm>
          <a:prstGeom prst="rect">
            <a:avLst/>
          </a:prstGeom>
          <a:noFill/>
          <a:ln/>
        </p:spPr>
        <p:txBody>
          <a:bodyPr wrap="square" lIns="0" tIns="0" rIns="0" bIns="0" rtlCol="0" anchor="t"/>
          <a:lstStyle/>
          <a:p>
            <a:pPr indent="0" marL="0">
              <a:buNone/>
            </a:pPr>
            <a:r>
              <a:rPr lang="en-US" sz="4000" b="1" dirty="0">
                <a:solidFill>
                  <a:srgbClr val="FF5A1F"/>
                </a:solidFill>
                <a:latin typeface="Arial" pitchFamily="34" charset="0"/>
                <a:ea typeface="Arial" pitchFamily="34" charset="-122"/>
                <a:cs typeface="Arial" pitchFamily="34" charset="-120"/>
              </a:rPr>
              <a:t>Thank you</a:t>
            </a:r>
            <a:endParaRPr lang="en-US" sz="4000" dirty="0"/>
          </a:p>
        </p:txBody>
      </p:sp>
      <p:sp>
        <p:nvSpPr>
          <p:cNvPr id="5" name="Shape 3"/>
          <p:cNvSpPr/>
          <p:nvPr/>
        </p:nvSpPr>
        <p:spPr>
          <a:xfrm>
            <a:off x="7443216" y="768096"/>
            <a:ext cx="2433647" cy="5138928"/>
          </a:xfrm>
          <a:prstGeom prst="roundRect">
            <a:avLst>
              <a:gd name="adj" fmla="val 4509"/>
            </a:avLst>
          </a:prstGeom>
          <a:solidFill>
            <a:srgbClr val="2A2A2A"/>
          </a:solidFill>
          <a:ln w="12700">
            <a:solidFill>
              <a:srgbClr val="3A3A3A"/>
            </a:solidFill>
            <a:prstDash val="solid"/>
          </a:ln>
        </p:spPr>
      </p:sp>
      <p:pic>
        <p:nvPicPr>
          <p:cNvPr id="6" name="Image 0" descr="C:\Users\aksuc\Desktop\proje_odev\design\export/screens/13-home-light.png">    </p:cNvPr>
          <p:cNvPicPr>
            <a:picLocks noChangeAspect="1"/>
          </p:cNvPicPr>
          <p:nvPr/>
        </p:nvPicPr>
        <p:blipFill>
          <a:blip r:embed="rId1"/>
          <a:stretch>
            <a:fillRect/>
          </a:stretch>
        </p:blipFill>
        <p:spPr>
          <a:xfrm>
            <a:off x="7498080" y="822960"/>
            <a:ext cx="2323919" cy="5029200"/>
          </a:xfrm>
          <a:prstGeom prst="rect">
            <a:avLst/>
          </a:prstGeom>
        </p:spPr>
      </p:pic>
      <p:sp>
        <p:nvSpPr>
          <p:cNvPr id="7" name="Shape 4"/>
          <p:cNvSpPr/>
          <p:nvPr/>
        </p:nvSpPr>
        <p:spPr>
          <a:xfrm>
            <a:off x="9729216" y="1316736"/>
            <a:ext cx="2222382" cy="4681728"/>
          </a:xfrm>
          <a:prstGeom prst="roundRect">
            <a:avLst>
              <a:gd name="adj" fmla="val 4937"/>
            </a:avLst>
          </a:prstGeom>
          <a:solidFill>
            <a:srgbClr val="2A2A2A"/>
          </a:solidFill>
          <a:ln w="12700">
            <a:solidFill>
              <a:srgbClr val="3A3A3A"/>
            </a:solidFill>
            <a:prstDash val="solid"/>
          </a:ln>
        </p:spPr>
      </p:sp>
      <p:pic>
        <p:nvPicPr>
          <p:cNvPr id="8" name="Image 1" descr="C:\Users\aksuc\Desktop\proje_odev\design\export/screens/11-paywall-light.png">    </p:cNvPr>
          <p:cNvPicPr>
            <a:picLocks noChangeAspect="1"/>
          </p:cNvPicPr>
          <p:nvPr/>
        </p:nvPicPr>
        <p:blipFill>
          <a:blip r:embed="rId2"/>
          <a:stretch>
            <a:fillRect/>
          </a:stretch>
        </p:blipFill>
        <p:spPr>
          <a:xfrm>
            <a:off x="9784080" y="1371600"/>
            <a:ext cx="2112654" cy="4572000"/>
          </a:xfrm>
          <a:prstGeom prst="rect">
            <a:avLst/>
          </a:prstGeom>
        </p:spPr>
      </p:pic>
    </p:spTree>
  </p:cSld>
  <p:clrMapOvr>
    <a:masterClrMapping/>
  </p:clrMapOvr>
</p:sld>
</file>

<file path=ppt/theme/theme1.xml><?xml version="1.0" encoding="utf-8"?>
<a:theme xmlns:a="http://schemas.openxmlformats.org/drawingml/2006/main" name="Measured">
  <a:themeElements>
    <a:clrScheme name="Measured">
      <a:dk1>
        <a:srgbClr val="141414"/>
      </a:dk1>
      <a:lt1>
        <a:srgbClr val="FFFFFF"/>
      </a:lt1>
      <a:dk2>
        <a:srgbClr val="141414"/>
      </a:dk2>
      <a:lt2>
        <a:srgbClr val="F6F4EF"/>
      </a:lt2>
      <a:accent1>
        <a:srgbClr val="FF5A1F"/>
      </a:accent1>
      <a:accent2>
        <a:srgbClr val="C6F25B"/>
      </a:accent2>
      <a:accent3>
        <a:srgbClr val="6B6B6B"/>
      </a:accent3>
      <a:accent4>
        <a:srgbClr val="E3E0D8"/>
      </a:accent4>
      <a:accent5>
        <a:srgbClr val="E5484D"/>
      </a:accent5>
      <a:accent6>
        <a:srgbClr val="1E1E1E"/>
      </a:accent6>
      <a:hlink>
        <a:srgbClr val="FF5A1F"/>
      </a:hlink>
      <a:folHlink>
        <a:srgbClr val="6B6B6B"/>
      </a:folHlink>
    </a:clrScheme>
    <a:fontScheme name="Measure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Measured demo day</dc:title>
  <dc:subject>PptxGenJS Presentation</dc:subject>
  <dc:creator>PptxGenJS</dc:creator>
  <cp:lastModifiedBy>PptxGenJS</cp:lastModifiedBy>
  <cp:revision>1</cp:revision>
  <dcterms:created xsi:type="dcterms:W3CDTF">2026-10-22T20:56:57Z</dcterms:created>
  <dcterms:modified xsi:type="dcterms:W3CDTF">2026-10-22T20:56:57Z</dcterms:modified>
</cp:coreProperties>
</file>